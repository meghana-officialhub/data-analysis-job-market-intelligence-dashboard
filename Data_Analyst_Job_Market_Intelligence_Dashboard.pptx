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4" Type="http://schemas.openxmlformats.org/officeDocument/2006/relationships/custom-properties" Target="docProps/custom.xml" 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Quattrocento Sans" charset="-122" pitchFamily="34"/>
      <p:regular r:id="rId17"/>
    </p:embeddedFont>
    <p:embeddedFont>
      <p:font typeface="Hedvig Letters Sans" charset="-122" pitchFamily="34"/>
      <p:regular r:id="rId18"/>
    </p:embeddedFont>
    <p:embeddedFont>
      <p:font typeface="Liter" charset="-122" pitchFamily="34"/>
      <p:regular r:id="rId19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png.pngtree.com/d2e1636ff51efc089120319a49aa728c6bf81e34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rcRect l="5556" r="5556" t="0" b="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1A1D21">
                  <a:alpha val="95000"/>
                </a:srgbClr>
              </a:gs>
              <a:gs pos="50000">
                <a:srgbClr val="3A5F7A">
                  <a:alpha val="40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384482" y="925205"/>
            <a:ext cx="2512264" cy="388189"/>
          </a:xfrm>
          <a:custGeom>
            <a:avLst/>
            <a:gdLst/>
            <a:ahLst/>
            <a:cxnLst/>
            <a:rect l="l" t="t" r="r" b="b"/>
            <a:pathLst>
              <a:path w="2512264" h="388189">
                <a:moveTo>
                  <a:pt x="38101" y="0"/>
                </a:moveTo>
                <a:lnTo>
                  <a:pt x="2474163" y="0"/>
                </a:lnTo>
                <a:cubicBezTo>
                  <a:pt x="2495205" y="0"/>
                  <a:pt x="2512264" y="17058"/>
                  <a:pt x="2512264" y="38101"/>
                </a:cubicBezTo>
                <a:lnTo>
                  <a:pt x="2512264" y="350088"/>
                </a:lnTo>
                <a:cubicBezTo>
                  <a:pt x="2512264" y="371130"/>
                  <a:pt x="2495205" y="388189"/>
                  <a:pt x="2474163" y="388189"/>
                </a:cubicBezTo>
                <a:lnTo>
                  <a:pt x="38101" y="388189"/>
                </a:lnTo>
                <a:cubicBezTo>
                  <a:pt x="17058" y="388189"/>
                  <a:pt x="0" y="371130"/>
                  <a:pt x="0" y="350088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B89A6A">
              <a:alpha val="20000"/>
            </a:srgbClr>
          </a:solidFill>
          <a:ln w="9585">
            <a:solidFill>
              <a:srgbClr val="B89A6A">
                <a:alpha val="50196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0386" y="1004955"/>
            <a:ext cx="2276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120" kern="0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JOB MARKET INTELLIGENCE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0888" y="1545454"/>
            <a:ext cx="1177290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0E2E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Data Analyst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B89A6A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Job Market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0E2E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Intelligence Dashboard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0888" y="4345781"/>
            <a:ext cx="74295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Analyzing Hiring Trends, Skill Demand, and Salary Insights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0888" y="547900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3A5F7A">
              <a:alpha val="30196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526121" y="5612337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66688" y="76572"/>
                </a:moveTo>
                <a:cubicBezTo>
                  <a:pt x="161181" y="80218"/>
                  <a:pt x="154856" y="83158"/>
                  <a:pt x="148270" y="85502"/>
                </a:cubicBezTo>
                <a:cubicBezTo>
                  <a:pt x="130783" y="91753"/>
                  <a:pt x="107826" y="95250"/>
                  <a:pt x="83344" y="95250"/>
                </a:cubicBezTo>
                <a:cubicBezTo>
                  <a:pt x="58862" y="95250"/>
                  <a:pt x="35868" y="91715"/>
                  <a:pt x="18417" y="85502"/>
                </a:cubicBezTo>
                <a:cubicBezTo>
                  <a:pt x="11869" y="83158"/>
                  <a:pt x="5507" y="80218"/>
                  <a:pt x="0" y="76572"/>
                </a:cubicBezTo>
                <a:lnTo>
                  <a:pt x="0" y="107156"/>
                </a:lnTo>
                <a:cubicBezTo>
                  <a:pt x="0" y="123602"/>
                  <a:pt x="37319" y="136922"/>
                  <a:pt x="83344" y="136922"/>
                </a:cubicBezTo>
                <a:cubicBezTo>
                  <a:pt x="129369" y="136922"/>
                  <a:pt x="166688" y="123602"/>
                  <a:pt x="166688" y="107156"/>
                </a:cubicBezTo>
                <a:lnTo>
                  <a:pt x="166688" y="76572"/>
                </a:lnTo>
                <a:close/>
                <a:moveTo>
                  <a:pt x="166688" y="47625"/>
                </a:moveTo>
                <a:lnTo>
                  <a:pt x="166688" y="29766"/>
                </a:lnTo>
                <a:cubicBezTo>
                  <a:pt x="166688" y="13320"/>
                  <a:pt x="129369" y="0"/>
                  <a:pt x="83344" y="0"/>
                </a:cubicBezTo>
                <a:cubicBezTo>
                  <a:pt x="37319" y="0"/>
                  <a:pt x="0" y="13320"/>
                  <a:pt x="0" y="29766"/>
                </a:cubicBezTo>
                <a:lnTo>
                  <a:pt x="0" y="47625"/>
                </a:lnTo>
                <a:cubicBezTo>
                  <a:pt x="0" y="64071"/>
                  <a:pt x="37319" y="77391"/>
                  <a:pt x="83344" y="77391"/>
                </a:cubicBezTo>
                <a:cubicBezTo>
                  <a:pt x="129369" y="77391"/>
                  <a:pt x="166688" y="64071"/>
                  <a:pt x="166688" y="47625"/>
                </a:cubicBezTo>
                <a:close/>
                <a:moveTo>
                  <a:pt x="148270" y="145033"/>
                </a:moveTo>
                <a:cubicBezTo>
                  <a:pt x="130820" y="151247"/>
                  <a:pt x="107863" y="154781"/>
                  <a:pt x="83344" y="154781"/>
                </a:cubicBezTo>
                <a:cubicBezTo>
                  <a:pt x="58824" y="154781"/>
                  <a:pt x="35868" y="151247"/>
                  <a:pt x="18417" y="145033"/>
                </a:cubicBezTo>
                <a:cubicBezTo>
                  <a:pt x="11869" y="142689"/>
                  <a:pt x="5507" y="139750"/>
                  <a:pt x="0" y="136103"/>
                </a:cubicBezTo>
                <a:lnTo>
                  <a:pt x="0" y="160734"/>
                </a:lnTo>
                <a:cubicBezTo>
                  <a:pt x="0" y="177180"/>
                  <a:pt x="37319" y="190500"/>
                  <a:pt x="83344" y="190500"/>
                </a:cubicBezTo>
                <a:cubicBezTo>
                  <a:pt x="129369" y="190500"/>
                  <a:pt x="166688" y="177180"/>
                  <a:pt x="166688" y="160734"/>
                </a:cubicBezTo>
                <a:lnTo>
                  <a:pt x="166688" y="136103"/>
                </a:lnTo>
                <a:cubicBezTo>
                  <a:pt x="161181" y="139750"/>
                  <a:pt x="154856" y="142689"/>
                  <a:pt x="148270" y="145033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0" name="Text 7"/>
          <p:cNvSpPr/>
          <p:nvPr/>
        </p:nvSpPr>
        <p:spPr>
          <a:xfrm>
            <a:off x="952275" y="5479009"/>
            <a:ext cx="10763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Dataset Size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52275" y="5669397"/>
            <a:ext cx="11049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2,000+ Jobs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264434" y="547900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3A5F7A">
              <a:alpha val="30196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2397761" y="5612337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23812" y="23812"/>
                </a:moveTo>
                <a:cubicBezTo>
                  <a:pt x="23812" y="17227"/>
                  <a:pt x="18492" y="11906"/>
                  <a:pt x="11906" y="11906"/>
                </a:cubicBezTo>
                <a:cubicBezTo>
                  <a:pt x="5321" y="11906"/>
                  <a:pt x="0" y="17227"/>
                  <a:pt x="0" y="23812"/>
                </a:cubicBezTo>
                <a:lnTo>
                  <a:pt x="0" y="148828"/>
                </a:lnTo>
                <a:cubicBezTo>
                  <a:pt x="0" y="165274"/>
                  <a:pt x="13320" y="178594"/>
                  <a:pt x="29766" y="178594"/>
                </a:cubicBezTo>
                <a:lnTo>
                  <a:pt x="178594" y="178594"/>
                </a:lnTo>
                <a:cubicBezTo>
                  <a:pt x="185179" y="178594"/>
                  <a:pt x="190500" y="173273"/>
                  <a:pt x="190500" y="166688"/>
                </a:cubicBezTo>
                <a:cubicBezTo>
                  <a:pt x="190500" y="160102"/>
                  <a:pt x="185179" y="154781"/>
                  <a:pt x="178594" y="154781"/>
                </a:cubicBezTo>
                <a:lnTo>
                  <a:pt x="29766" y="154781"/>
                </a:lnTo>
                <a:cubicBezTo>
                  <a:pt x="26491" y="154781"/>
                  <a:pt x="23812" y="152102"/>
                  <a:pt x="23812" y="148828"/>
                </a:cubicBezTo>
                <a:lnTo>
                  <a:pt x="23812" y="23812"/>
                </a:lnTo>
                <a:close/>
                <a:moveTo>
                  <a:pt x="175096" y="56034"/>
                </a:moveTo>
                <a:cubicBezTo>
                  <a:pt x="179747" y="51383"/>
                  <a:pt x="179747" y="43830"/>
                  <a:pt x="175096" y="39179"/>
                </a:cubicBezTo>
                <a:cubicBezTo>
                  <a:pt x="170445" y="34528"/>
                  <a:pt x="162892" y="34528"/>
                  <a:pt x="158242" y="39179"/>
                </a:cubicBezTo>
                <a:lnTo>
                  <a:pt x="119063" y="78395"/>
                </a:lnTo>
                <a:lnTo>
                  <a:pt x="97706" y="57076"/>
                </a:lnTo>
                <a:cubicBezTo>
                  <a:pt x="93055" y="52425"/>
                  <a:pt x="85502" y="52425"/>
                  <a:pt x="80851" y="57076"/>
                </a:cubicBezTo>
                <a:lnTo>
                  <a:pt x="45132" y="92794"/>
                </a:lnTo>
                <a:cubicBezTo>
                  <a:pt x="40481" y="97445"/>
                  <a:pt x="40481" y="104998"/>
                  <a:pt x="45132" y="109649"/>
                </a:cubicBezTo>
                <a:cubicBezTo>
                  <a:pt x="49783" y="114300"/>
                  <a:pt x="57336" y="114300"/>
                  <a:pt x="61987" y="109649"/>
                </a:cubicBezTo>
                <a:lnTo>
                  <a:pt x="89297" y="82339"/>
                </a:lnTo>
                <a:lnTo>
                  <a:pt x="110654" y="103696"/>
                </a:lnTo>
                <a:cubicBezTo>
                  <a:pt x="115305" y="108347"/>
                  <a:pt x="122858" y="108347"/>
                  <a:pt x="127508" y="103696"/>
                </a:cubicBezTo>
                <a:lnTo>
                  <a:pt x="175133" y="56071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4" name="Text 11"/>
          <p:cNvSpPr/>
          <p:nvPr/>
        </p:nvSpPr>
        <p:spPr>
          <a:xfrm>
            <a:off x="2835822" y="5479009"/>
            <a:ext cx="1847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Analysis Tools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835822" y="5669397"/>
            <a:ext cx="1876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Snowflake + Power BI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0888" y="380888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spc="53" kern="0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PROJECT OVERVIEW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0888" y="64743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0E2E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Understanding the Data Analyst Job Market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98859" y="1333163"/>
            <a:ext cx="5580572" cy="1219200"/>
          </a:xfrm>
          <a:custGeom>
            <a:avLst/>
            <a:gdLst/>
            <a:ahLst/>
            <a:cxnLst/>
            <a:rect l="l" t="t" r="r" b="b"/>
            <a:pathLst>
              <a:path w="5580572" h="1219200">
                <a:moveTo>
                  <a:pt x="0" y="0"/>
                </a:moveTo>
                <a:lnTo>
                  <a:pt x="5542472" y="0"/>
                </a:lnTo>
                <a:cubicBezTo>
                  <a:pt x="5563500" y="0"/>
                  <a:pt x="5580572" y="17072"/>
                  <a:pt x="5580572" y="38100"/>
                </a:cubicBezTo>
                <a:lnTo>
                  <a:pt x="5580572" y="1181100"/>
                </a:lnTo>
                <a:cubicBezTo>
                  <a:pt x="5580572" y="1202128"/>
                  <a:pt x="5563500" y="1219200"/>
                  <a:pt x="5542472" y="1219200"/>
                </a:cubicBez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3A5F7A">
              <a:alpha val="14902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98859" y="1333163"/>
            <a:ext cx="35943" cy="1219200"/>
          </a:xfrm>
          <a:custGeom>
            <a:avLst/>
            <a:gdLst/>
            <a:ahLst/>
            <a:cxnLst/>
            <a:rect l="l" t="t" r="r" b="b"/>
            <a:pathLst>
              <a:path w="35943" h="1219200">
                <a:moveTo>
                  <a:pt x="0" y="0"/>
                </a:moveTo>
                <a:lnTo>
                  <a:pt x="35943" y="0"/>
                </a:lnTo>
                <a:lnTo>
                  <a:pt x="35943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6" name="Shape 4"/>
          <p:cNvSpPr/>
          <p:nvPr/>
        </p:nvSpPr>
        <p:spPr>
          <a:xfrm>
            <a:off x="607219" y="1523551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B89A6A">
              <a:alpha val="2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40546" y="165687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66688" y="95250"/>
                </a:moveTo>
                <a:cubicBezTo>
                  <a:pt x="166688" y="55823"/>
                  <a:pt x="134677" y="23812"/>
                  <a:pt x="95250" y="23812"/>
                </a:cubicBezTo>
                <a:cubicBezTo>
                  <a:pt x="55823" y="23812"/>
                  <a:pt x="23813" y="55823"/>
                  <a:pt x="23812" y="95250"/>
                </a:cubicBezTo>
                <a:cubicBezTo>
                  <a:pt x="23812" y="134677"/>
                  <a:pt x="55823" y="166688"/>
                  <a:pt x="95250" y="166688"/>
                </a:cubicBezTo>
                <a:cubicBezTo>
                  <a:pt x="134677" y="166688"/>
                  <a:pt x="166688" y="134677"/>
                  <a:pt x="166688" y="95250"/>
                </a:cubicBezTo>
                <a:close/>
                <a:moveTo>
                  <a:pt x="0" y="95250"/>
                </a:moveTo>
                <a:cubicBezTo>
                  <a:pt x="0" y="42680"/>
                  <a:pt x="42680" y="0"/>
                  <a:pt x="95250" y="0"/>
                </a:cubicBez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lose/>
                <a:moveTo>
                  <a:pt x="95250" y="125016"/>
                </a:moveTo>
                <a:cubicBezTo>
                  <a:pt x="111678" y="125016"/>
                  <a:pt x="125016" y="111678"/>
                  <a:pt x="125016" y="95250"/>
                </a:cubicBezTo>
                <a:cubicBezTo>
                  <a:pt x="125016" y="78822"/>
                  <a:pt x="111678" y="65484"/>
                  <a:pt x="95250" y="65484"/>
                </a:cubicBezTo>
                <a:cubicBezTo>
                  <a:pt x="78822" y="65484"/>
                  <a:pt x="65484" y="78822"/>
                  <a:pt x="65484" y="95250"/>
                </a:cubicBezTo>
                <a:cubicBezTo>
                  <a:pt x="65484" y="111678"/>
                  <a:pt x="78822" y="125016"/>
                  <a:pt x="95250" y="125016"/>
                </a:cubicBezTo>
                <a:close/>
                <a:moveTo>
                  <a:pt x="95250" y="41672"/>
                </a:moveTo>
                <a:cubicBezTo>
                  <a:pt x="124821" y="41672"/>
                  <a:pt x="148828" y="65679"/>
                  <a:pt x="148828" y="95250"/>
                </a:cubicBezTo>
                <a:cubicBezTo>
                  <a:pt x="148828" y="124821"/>
                  <a:pt x="124821" y="148828"/>
                  <a:pt x="95250" y="148828"/>
                </a:cubicBezTo>
                <a:cubicBezTo>
                  <a:pt x="65679" y="148828"/>
                  <a:pt x="41672" y="124821"/>
                  <a:pt x="41672" y="95250"/>
                </a:cubicBezTo>
                <a:cubicBezTo>
                  <a:pt x="41672" y="65679"/>
                  <a:pt x="65679" y="41672"/>
                  <a:pt x="95250" y="41672"/>
                </a:cubicBezTo>
                <a:close/>
                <a:moveTo>
                  <a:pt x="83344" y="95250"/>
                </a:moveTo>
                <a:cubicBezTo>
                  <a:pt x="83344" y="88679"/>
                  <a:pt x="88679" y="83344"/>
                  <a:pt x="95250" y="83344"/>
                </a:cubicBezTo>
                <a:cubicBezTo>
                  <a:pt x="101821" y="83344"/>
                  <a:pt x="107156" y="88679"/>
                  <a:pt x="107156" y="95250"/>
                </a:cubicBezTo>
                <a:cubicBezTo>
                  <a:pt x="107156" y="101821"/>
                  <a:pt x="101821" y="107156"/>
                  <a:pt x="95250" y="107156"/>
                </a:cubicBezTo>
                <a:cubicBezTo>
                  <a:pt x="88679" y="107156"/>
                  <a:pt x="83344" y="101821"/>
                  <a:pt x="83344" y="95250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8" name="Text 6"/>
          <p:cNvSpPr/>
          <p:nvPr/>
        </p:nvSpPr>
        <p:spPr>
          <a:xfrm>
            <a:off x="1216684" y="1523551"/>
            <a:ext cx="4667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Objectives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16684" y="1866361"/>
            <a:ext cx="46482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 raw job market data into actionable intelligence for career planning and workforce strategy development.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0888" y="2704404"/>
            <a:ext cx="5600700" cy="3771900"/>
          </a:xfrm>
          <a:custGeom>
            <a:avLst/>
            <a:gdLst/>
            <a:ahLst/>
            <a:cxnLst/>
            <a:rect l="l" t="t" r="r" b="b"/>
            <a:pathLst>
              <a:path w="5600700" h="3771900">
                <a:moveTo>
                  <a:pt x="38096" y="0"/>
                </a:moveTo>
                <a:lnTo>
                  <a:pt x="5562604" y="0"/>
                </a:lnTo>
                <a:cubicBezTo>
                  <a:pt x="5583644" y="0"/>
                  <a:pt x="5600700" y="17056"/>
                  <a:pt x="5600700" y="38096"/>
                </a:cubicBezTo>
                <a:lnTo>
                  <a:pt x="5600700" y="3733804"/>
                </a:lnTo>
                <a:cubicBezTo>
                  <a:pt x="5600700" y="3754844"/>
                  <a:pt x="5583644" y="3771900"/>
                  <a:pt x="5562604" y="3771900"/>
                </a:cubicBezTo>
                <a:lnTo>
                  <a:pt x="38096" y="3771900"/>
                </a:lnTo>
                <a:cubicBezTo>
                  <a:pt x="17056" y="3771900"/>
                  <a:pt x="0" y="3754844"/>
                  <a:pt x="0" y="3733804"/>
                </a:cubicBezTo>
                <a:lnTo>
                  <a:pt x="0" y="38096"/>
                </a:lnTo>
                <a:cubicBezTo>
                  <a:pt x="0" y="17070"/>
                  <a:pt x="17070" y="0"/>
                  <a:pt x="38096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95088" y="293286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49783" y="13506"/>
                </a:moveTo>
                <a:cubicBezTo>
                  <a:pt x="53839" y="16334"/>
                  <a:pt x="54806" y="21915"/>
                  <a:pt x="51978" y="25933"/>
                </a:cubicBezTo>
                <a:lnTo>
                  <a:pt x="31142" y="55699"/>
                </a:lnTo>
                <a:cubicBezTo>
                  <a:pt x="29617" y="57857"/>
                  <a:pt x="27236" y="59234"/>
                  <a:pt x="24594" y="59457"/>
                </a:cubicBezTo>
                <a:cubicBezTo>
                  <a:pt x="21952" y="59680"/>
                  <a:pt x="19348" y="58787"/>
                  <a:pt x="17487" y="56927"/>
                </a:cubicBezTo>
                <a:lnTo>
                  <a:pt x="2604" y="42044"/>
                </a:lnTo>
                <a:cubicBezTo>
                  <a:pt x="-856" y="38546"/>
                  <a:pt x="-856" y="32891"/>
                  <a:pt x="2604" y="29394"/>
                </a:cubicBezTo>
                <a:cubicBezTo>
                  <a:pt x="6065" y="25896"/>
                  <a:pt x="11757" y="25933"/>
                  <a:pt x="15255" y="29394"/>
                </a:cubicBezTo>
                <a:lnTo>
                  <a:pt x="22622" y="36761"/>
                </a:lnTo>
                <a:lnTo>
                  <a:pt x="37356" y="15701"/>
                </a:lnTo>
                <a:cubicBezTo>
                  <a:pt x="40184" y="11646"/>
                  <a:pt x="45765" y="10678"/>
                  <a:pt x="49783" y="13506"/>
                </a:cubicBezTo>
                <a:close/>
                <a:moveTo>
                  <a:pt x="49783" y="73037"/>
                </a:moveTo>
                <a:cubicBezTo>
                  <a:pt x="53839" y="75865"/>
                  <a:pt x="54806" y="81446"/>
                  <a:pt x="51978" y="85465"/>
                </a:cubicBezTo>
                <a:lnTo>
                  <a:pt x="31142" y="115230"/>
                </a:lnTo>
                <a:cubicBezTo>
                  <a:pt x="29617" y="117388"/>
                  <a:pt x="27236" y="118765"/>
                  <a:pt x="24594" y="118988"/>
                </a:cubicBezTo>
                <a:cubicBezTo>
                  <a:pt x="21952" y="119211"/>
                  <a:pt x="19348" y="118318"/>
                  <a:pt x="17487" y="116458"/>
                </a:cubicBezTo>
                <a:lnTo>
                  <a:pt x="2604" y="101575"/>
                </a:lnTo>
                <a:cubicBezTo>
                  <a:pt x="-893" y="98078"/>
                  <a:pt x="-893" y="92422"/>
                  <a:pt x="2604" y="88962"/>
                </a:cubicBezTo>
                <a:cubicBezTo>
                  <a:pt x="6102" y="85502"/>
                  <a:pt x="11757" y="85465"/>
                  <a:pt x="15218" y="88962"/>
                </a:cubicBezTo>
                <a:lnTo>
                  <a:pt x="22585" y="96329"/>
                </a:lnTo>
                <a:lnTo>
                  <a:pt x="37319" y="75270"/>
                </a:lnTo>
                <a:cubicBezTo>
                  <a:pt x="40146" y="71214"/>
                  <a:pt x="45727" y="70247"/>
                  <a:pt x="49746" y="73075"/>
                </a:cubicBezTo>
                <a:close/>
                <a:moveTo>
                  <a:pt x="83344" y="35719"/>
                </a:moveTo>
                <a:cubicBezTo>
                  <a:pt x="83344" y="29133"/>
                  <a:pt x="88664" y="23812"/>
                  <a:pt x="95250" y="23812"/>
                </a:cubicBezTo>
                <a:lnTo>
                  <a:pt x="178594" y="23812"/>
                </a:lnTo>
                <a:cubicBezTo>
                  <a:pt x="185179" y="23812"/>
                  <a:pt x="190500" y="29133"/>
                  <a:pt x="190500" y="35719"/>
                </a:cubicBezTo>
                <a:cubicBezTo>
                  <a:pt x="190500" y="42304"/>
                  <a:pt x="185179" y="47625"/>
                  <a:pt x="178594" y="47625"/>
                </a:cubicBezTo>
                <a:lnTo>
                  <a:pt x="95250" y="47625"/>
                </a:lnTo>
                <a:cubicBezTo>
                  <a:pt x="88664" y="47625"/>
                  <a:pt x="83344" y="42304"/>
                  <a:pt x="83344" y="35719"/>
                </a:cubicBezTo>
                <a:close/>
                <a:moveTo>
                  <a:pt x="83344" y="95250"/>
                </a:moveTo>
                <a:cubicBezTo>
                  <a:pt x="83344" y="88664"/>
                  <a:pt x="88664" y="83344"/>
                  <a:pt x="95250" y="83344"/>
                </a:cubicBezTo>
                <a:lnTo>
                  <a:pt x="178594" y="83344"/>
                </a:lnTo>
                <a:cubicBezTo>
                  <a:pt x="185179" y="83344"/>
                  <a:pt x="190500" y="88664"/>
                  <a:pt x="190500" y="95250"/>
                </a:cubicBezTo>
                <a:cubicBezTo>
                  <a:pt x="190500" y="101836"/>
                  <a:pt x="185179" y="107156"/>
                  <a:pt x="178594" y="107156"/>
                </a:cubicBezTo>
                <a:lnTo>
                  <a:pt x="95250" y="107156"/>
                </a:lnTo>
                <a:cubicBezTo>
                  <a:pt x="88664" y="107156"/>
                  <a:pt x="83344" y="101836"/>
                  <a:pt x="83344" y="95250"/>
                </a:cubicBezTo>
                <a:close/>
                <a:moveTo>
                  <a:pt x="59531" y="154781"/>
                </a:moveTo>
                <a:cubicBezTo>
                  <a:pt x="59531" y="148196"/>
                  <a:pt x="64852" y="142875"/>
                  <a:pt x="71438" y="142875"/>
                </a:cubicBezTo>
                <a:lnTo>
                  <a:pt x="178594" y="142875"/>
                </a:lnTo>
                <a:cubicBezTo>
                  <a:pt x="185179" y="142875"/>
                  <a:pt x="190500" y="148196"/>
                  <a:pt x="190500" y="154781"/>
                </a:cubicBezTo>
                <a:cubicBezTo>
                  <a:pt x="190500" y="161367"/>
                  <a:pt x="185179" y="166688"/>
                  <a:pt x="178594" y="166688"/>
                </a:cubicBezTo>
                <a:lnTo>
                  <a:pt x="71438" y="166688"/>
                </a:lnTo>
                <a:cubicBezTo>
                  <a:pt x="64852" y="166688"/>
                  <a:pt x="59531" y="161367"/>
                  <a:pt x="59531" y="154781"/>
                </a:cubicBezTo>
                <a:close/>
                <a:moveTo>
                  <a:pt x="23812" y="139898"/>
                </a:moveTo>
                <a:cubicBezTo>
                  <a:pt x="32027" y="139898"/>
                  <a:pt x="38695" y="146567"/>
                  <a:pt x="38695" y="154781"/>
                </a:cubicBezTo>
                <a:cubicBezTo>
                  <a:pt x="38695" y="162995"/>
                  <a:pt x="32027" y="169664"/>
                  <a:pt x="23812" y="169664"/>
                </a:cubicBezTo>
                <a:cubicBezTo>
                  <a:pt x="15598" y="169664"/>
                  <a:pt x="8930" y="162995"/>
                  <a:pt x="8930" y="154781"/>
                </a:cubicBezTo>
                <a:cubicBezTo>
                  <a:pt x="8930" y="146567"/>
                  <a:pt x="15598" y="139898"/>
                  <a:pt x="23812" y="139898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2" name="Text 10"/>
          <p:cNvSpPr/>
          <p:nvPr/>
        </p:nvSpPr>
        <p:spPr>
          <a:xfrm>
            <a:off x="809400" y="2894791"/>
            <a:ext cx="5076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Goals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71275" y="333274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lnTo>
                  <a:pt x="114300" y="0"/>
                </a:lnTo>
                <a:cubicBezTo>
                  <a:pt x="177384" y="0"/>
                  <a:pt x="228600" y="51216"/>
                  <a:pt x="228600" y="114300"/>
                </a:cubicBezTo>
                <a:lnTo>
                  <a:pt x="228600" y="114300"/>
                </a:lnTo>
                <a:cubicBezTo>
                  <a:pt x="228600" y="177384"/>
                  <a:pt x="177384" y="228600"/>
                  <a:pt x="114300" y="228600"/>
                </a:cubicBezTo>
                <a:lnTo>
                  <a:pt x="114300" y="228600"/>
                </a:lnTo>
                <a:cubicBezTo>
                  <a:pt x="51216" y="228600"/>
                  <a:pt x="0" y="177384"/>
                  <a:pt x="0" y="114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B89A6A">
              <a:alpha val="30196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664391" y="3351834"/>
            <a:ext cx="104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085" y="3313756"/>
            <a:ext cx="4162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Analyze hiring patterns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for Data Analyst roles across industries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71275" y="369453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lnTo>
                  <a:pt x="114300" y="0"/>
                </a:lnTo>
                <a:cubicBezTo>
                  <a:pt x="177384" y="0"/>
                  <a:pt x="228600" y="51216"/>
                  <a:pt x="228600" y="114300"/>
                </a:cubicBezTo>
                <a:lnTo>
                  <a:pt x="228600" y="114300"/>
                </a:lnTo>
                <a:cubicBezTo>
                  <a:pt x="228600" y="177384"/>
                  <a:pt x="177384" y="228600"/>
                  <a:pt x="114300" y="228600"/>
                </a:cubicBezTo>
                <a:lnTo>
                  <a:pt x="114300" y="228600"/>
                </a:lnTo>
                <a:cubicBezTo>
                  <a:pt x="51216" y="228600"/>
                  <a:pt x="0" y="177384"/>
                  <a:pt x="0" y="114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B89A6A">
              <a:alpha val="30196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51586" y="3713627"/>
            <a:ext cx="133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085" y="3675549"/>
            <a:ext cx="3914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Identify most demanded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technical skills and competencies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71275" y="405632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lnTo>
                  <a:pt x="114300" y="0"/>
                </a:lnTo>
                <a:cubicBezTo>
                  <a:pt x="177384" y="0"/>
                  <a:pt x="228600" y="51216"/>
                  <a:pt x="228600" y="114300"/>
                </a:cubicBezTo>
                <a:lnTo>
                  <a:pt x="228600" y="114300"/>
                </a:lnTo>
                <a:cubicBezTo>
                  <a:pt x="228600" y="177384"/>
                  <a:pt x="177384" y="228600"/>
                  <a:pt x="114300" y="228600"/>
                </a:cubicBezTo>
                <a:lnTo>
                  <a:pt x="114300" y="228600"/>
                </a:lnTo>
                <a:cubicBezTo>
                  <a:pt x="51216" y="228600"/>
                  <a:pt x="0" y="177384"/>
                  <a:pt x="0" y="114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B89A6A">
              <a:alpha val="30196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49902" y="4075420"/>
            <a:ext cx="133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4085" y="4037342"/>
            <a:ext cx="3781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Understand salary trends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across locations and industries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71275" y="441811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lnTo>
                  <a:pt x="114300" y="0"/>
                </a:lnTo>
                <a:cubicBezTo>
                  <a:pt x="177384" y="0"/>
                  <a:pt x="228600" y="51216"/>
                  <a:pt x="228600" y="114300"/>
                </a:cubicBezTo>
                <a:lnTo>
                  <a:pt x="228600" y="114300"/>
                </a:lnTo>
                <a:cubicBezTo>
                  <a:pt x="228600" y="177384"/>
                  <a:pt x="177384" y="228600"/>
                  <a:pt x="114300" y="228600"/>
                </a:cubicBezTo>
                <a:lnTo>
                  <a:pt x="114300" y="228600"/>
                </a:lnTo>
                <a:cubicBezTo>
                  <a:pt x="51216" y="228600"/>
                  <a:pt x="0" y="177384"/>
                  <a:pt x="0" y="114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B89A6A">
              <a:alpha val="30196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51699" y="4437212"/>
            <a:ext cx="133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4085" y="4399135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Discover actively hiring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companies and their preferences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10233" y="1333163"/>
            <a:ext cx="5600700" cy="2457450"/>
          </a:xfrm>
          <a:custGeom>
            <a:avLst/>
            <a:gdLst/>
            <a:ahLst/>
            <a:cxnLst/>
            <a:rect l="l" t="t" r="r" b="b"/>
            <a:pathLst>
              <a:path w="5600700" h="2457450">
                <a:moveTo>
                  <a:pt x="38090" y="0"/>
                </a:moveTo>
                <a:lnTo>
                  <a:pt x="5562610" y="0"/>
                </a:lnTo>
                <a:cubicBezTo>
                  <a:pt x="5583646" y="0"/>
                  <a:pt x="5600700" y="17054"/>
                  <a:pt x="5600700" y="38090"/>
                </a:cubicBezTo>
                <a:lnTo>
                  <a:pt x="5600700" y="2419360"/>
                </a:lnTo>
                <a:cubicBezTo>
                  <a:pt x="5600700" y="2440396"/>
                  <a:pt x="5583646" y="2457450"/>
                  <a:pt x="5562610" y="2457450"/>
                </a:cubicBezTo>
                <a:lnTo>
                  <a:pt x="38090" y="2457450"/>
                </a:lnTo>
                <a:cubicBezTo>
                  <a:pt x="17054" y="2457450"/>
                  <a:pt x="0" y="2440396"/>
                  <a:pt x="0" y="2419360"/>
                </a:cubicBezTo>
                <a:lnTo>
                  <a:pt x="0" y="38090"/>
                </a:lnTo>
                <a:cubicBezTo>
                  <a:pt x="0" y="17068"/>
                  <a:pt x="17068" y="0"/>
                  <a:pt x="38090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424433" y="156162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1906" y="11906"/>
                </a:moveTo>
                <a:cubicBezTo>
                  <a:pt x="5321" y="11906"/>
                  <a:pt x="0" y="17227"/>
                  <a:pt x="0" y="23812"/>
                </a:cubicBezTo>
                <a:lnTo>
                  <a:pt x="0" y="160734"/>
                </a:lnTo>
                <a:cubicBezTo>
                  <a:pt x="0" y="170594"/>
                  <a:pt x="8000" y="178594"/>
                  <a:pt x="17859" y="178594"/>
                </a:cubicBezTo>
                <a:lnTo>
                  <a:pt x="172641" y="178594"/>
                </a:lnTo>
                <a:cubicBezTo>
                  <a:pt x="182500" y="178594"/>
                  <a:pt x="190500" y="170594"/>
                  <a:pt x="190500" y="160734"/>
                </a:cubicBezTo>
                <a:lnTo>
                  <a:pt x="190500" y="56629"/>
                </a:lnTo>
                <a:cubicBezTo>
                  <a:pt x="190500" y="49857"/>
                  <a:pt x="183282" y="45579"/>
                  <a:pt x="177329" y="48778"/>
                </a:cubicBezTo>
                <a:lnTo>
                  <a:pt x="119063" y="80144"/>
                </a:lnTo>
                <a:lnTo>
                  <a:pt x="119063" y="56629"/>
                </a:lnTo>
                <a:cubicBezTo>
                  <a:pt x="119063" y="49857"/>
                  <a:pt x="111844" y="45579"/>
                  <a:pt x="105891" y="48778"/>
                </a:cubicBezTo>
                <a:lnTo>
                  <a:pt x="47625" y="80144"/>
                </a:lnTo>
                <a:lnTo>
                  <a:pt x="47625" y="23812"/>
                </a:lnTo>
                <a:cubicBezTo>
                  <a:pt x="47625" y="17227"/>
                  <a:pt x="42304" y="11906"/>
                  <a:pt x="35719" y="11906"/>
                </a:cubicBezTo>
                <a:lnTo>
                  <a:pt x="11906" y="11906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27" name="Text 25"/>
          <p:cNvSpPr/>
          <p:nvPr/>
        </p:nvSpPr>
        <p:spPr>
          <a:xfrm>
            <a:off x="6638745" y="1523551"/>
            <a:ext cx="5076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Market Context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400620" y="1942516"/>
            <a:ext cx="52959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 the modern digital economy, organizations increasingly rely on data to drive decision-making. As a result, the demand for data analytics professionals has grown significantly across industries.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00620" y="2837843"/>
            <a:ext cx="2552700" cy="762000"/>
          </a:xfrm>
          <a:custGeom>
            <a:avLst/>
            <a:gdLst/>
            <a:ahLst/>
            <a:cxnLst/>
            <a:rect l="l" t="t" r="r" b="b"/>
            <a:pathLst>
              <a:path w="2552700" h="762000">
                <a:moveTo>
                  <a:pt x="38100" y="0"/>
                </a:moveTo>
                <a:lnTo>
                  <a:pt x="2514600" y="0"/>
                </a:lnTo>
                <a:cubicBezTo>
                  <a:pt x="2535628" y="0"/>
                  <a:pt x="2552700" y="17072"/>
                  <a:pt x="2552700" y="38100"/>
                </a:cubicBezTo>
                <a:lnTo>
                  <a:pt x="2552700" y="723900"/>
                </a:lnTo>
                <a:cubicBezTo>
                  <a:pt x="2552700" y="744928"/>
                  <a:pt x="2535628" y="762000"/>
                  <a:pt x="2514600" y="762000"/>
                </a:cubicBezTo>
                <a:lnTo>
                  <a:pt x="38100" y="762000"/>
                </a:lnTo>
                <a:cubicBezTo>
                  <a:pt x="17072" y="762000"/>
                  <a:pt x="0" y="744928"/>
                  <a:pt x="0" y="723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443415" y="2952076"/>
            <a:ext cx="24669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↑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81515" y="3294886"/>
            <a:ext cx="2390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Growing Demand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067733" y="2837843"/>
            <a:ext cx="2552700" cy="762000"/>
          </a:xfrm>
          <a:custGeom>
            <a:avLst/>
            <a:gdLst/>
            <a:ahLst/>
            <a:cxnLst/>
            <a:rect l="l" t="t" r="r" b="b"/>
            <a:pathLst>
              <a:path w="2552700" h="762000">
                <a:moveTo>
                  <a:pt x="38100" y="0"/>
                </a:moveTo>
                <a:lnTo>
                  <a:pt x="2514600" y="0"/>
                </a:lnTo>
                <a:cubicBezTo>
                  <a:pt x="2535628" y="0"/>
                  <a:pt x="2552700" y="17072"/>
                  <a:pt x="2552700" y="38100"/>
                </a:cubicBezTo>
                <a:lnTo>
                  <a:pt x="2552700" y="723900"/>
                </a:lnTo>
                <a:cubicBezTo>
                  <a:pt x="2552700" y="744928"/>
                  <a:pt x="2535628" y="762000"/>
                  <a:pt x="2514600" y="762000"/>
                </a:cubicBezTo>
                <a:lnTo>
                  <a:pt x="38100" y="762000"/>
                </a:lnTo>
                <a:cubicBezTo>
                  <a:pt x="17072" y="762000"/>
                  <a:pt x="0" y="744928"/>
                  <a:pt x="0" y="723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9110528" y="2952076"/>
            <a:ext cx="24669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↗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148628" y="3294886"/>
            <a:ext cx="2390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Skill Evolution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213827" y="3945799"/>
            <a:ext cx="5588839" cy="2531314"/>
          </a:xfrm>
          <a:custGeom>
            <a:avLst/>
            <a:gdLst/>
            <a:ahLst/>
            <a:cxnLst/>
            <a:rect l="l" t="t" r="r" b="b"/>
            <a:pathLst>
              <a:path w="5588839" h="2531314">
                <a:moveTo>
                  <a:pt x="38096" y="0"/>
                </a:moveTo>
                <a:lnTo>
                  <a:pt x="5550742" y="0"/>
                </a:lnTo>
                <a:cubicBezTo>
                  <a:pt x="5571782" y="0"/>
                  <a:pt x="5588839" y="17056"/>
                  <a:pt x="5588839" y="38096"/>
                </a:cubicBezTo>
                <a:lnTo>
                  <a:pt x="5588839" y="2493217"/>
                </a:lnTo>
                <a:cubicBezTo>
                  <a:pt x="5588839" y="2514257"/>
                  <a:pt x="5571782" y="2531314"/>
                  <a:pt x="5550742" y="2531314"/>
                </a:cubicBezTo>
                <a:lnTo>
                  <a:pt x="38096" y="2531314"/>
                </a:lnTo>
                <a:cubicBezTo>
                  <a:pt x="17056" y="2531314"/>
                  <a:pt x="0" y="2514257"/>
                  <a:pt x="0" y="2493217"/>
                </a:cubicBezTo>
                <a:lnTo>
                  <a:pt x="0" y="38096"/>
                </a:lnTo>
                <a:cubicBezTo>
                  <a:pt x="0" y="17070"/>
                  <a:pt x="17070" y="0"/>
                  <a:pt x="38096" y="0"/>
                </a:cubicBezTo>
                <a:close/>
              </a:path>
            </a:pathLst>
          </a:custGeom>
          <a:gradFill rotWithShape="1" flip="none">
            <a:gsLst>
              <a:gs pos="0">
                <a:srgbClr val="3A5F7A">
                  <a:alpha val="20000"/>
                </a:srgbClr>
              </a:gs>
              <a:gs pos="100000">
                <a:srgbClr val="B89A6A">
                  <a:alpha val="10000"/>
                </a:srgbClr>
              </a:gs>
            </a:gsLst>
            <a:lin ang="2700000" scaled="1"/>
          </a:gradFill>
          <a:ln w="9585">
            <a:solidFill>
              <a:srgbClr val="B89A6A">
                <a:alpha val="30196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55434" y="4177858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108979" y="142875"/>
                </a:moveTo>
                <a:cubicBezTo>
                  <a:pt x="111696" y="134578"/>
                  <a:pt x="117128" y="127062"/>
                  <a:pt x="123267" y="120588"/>
                </a:cubicBezTo>
                <a:cubicBezTo>
                  <a:pt x="135434" y="107789"/>
                  <a:pt x="142875" y="90488"/>
                  <a:pt x="142875" y="71438"/>
                </a:cubicBezTo>
                <a:cubicBezTo>
                  <a:pt x="142875" y="31998"/>
                  <a:pt x="110877" y="0"/>
                  <a:pt x="71437" y="0"/>
                </a:cubicBezTo>
                <a:cubicBezTo>
                  <a:pt x="31998" y="0"/>
                  <a:pt x="0" y="31998"/>
                  <a:pt x="0" y="71438"/>
                </a:cubicBezTo>
                <a:cubicBezTo>
                  <a:pt x="0" y="90488"/>
                  <a:pt x="7441" y="107789"/>
                  <a:pt x="19608" y="120588"/>
                </a:cubicBezTo>
                <a:cubicBezTo>
                  <a:pt x="25747" y="127062"/>
                  <a:pt x="31217" y="134578"/>
                  <a:pt x="33896" y="142875"/>
                </a:cubicBezTo>
                <a:lnTo>
                  <a:pt x="108942" y="142875"/>
                </a:lnTo>
                <a:close/>
                <a:moveTo>
                  <a:pt x="107156" y="160734"/>
                </a:moveTo>
                <a:lnTo>
                  <a:pt x="35719" y="160734"/>
                </a:lnTo>
                <a:lnTo>
                  <a:pt x="35719" y="166688"/>
                </a:lnTo>
                <a:cubicBezTo>
                  <a:pt x="35719" y="183133"/>
                  <a:pt x="49039" y="196453"/>
                  <a:pt x="65484" y="196453"/>
                </a:cubicBezTo>
                <a:lnTo>
                  <a:pt x="77391" y="196453"/>
                </a:lnTo>
                <a:cubicBezTo>
                  <a:pt x="93836" y="196453"/>
                  <a:pt x="107156" y="183133"/>
                  <a:pt x="107156" y="166688"/>
                </a:cubicBezTo>
                <a:lnTo>
                  <a:pt x="107156" y="160734"/>
                </a:lnTo>
                <a:close/>
                <a:moveTo>
                  <a:pt x="68461" y="41672"/>
                </a:moveTo>
                <a:cubicBezTo>
                  <a:pt x="53653" y="41672"/>
                  <a:pt x="41672" y="53653"/>
                  <a:pt x="41672" y="68461"/>
                </a:cubicBezTo>
                <a:cubicBezTo>
                  <a:pt x="41672" y="73409"/>
                  <a:pt x="37691" y="77391"/>
                  <a:pt x="32742" y="77391"/>
                </a:cubicBezTo>
                <a:cubicBezTo>
                  <a:pt x="27794" y="77391"/>
                  <a:pt x="23812" y="73409"/>
                  <a:pt x="23812" y="68461"/>
                </a:cubicBezTo>
                <a:cubicBezTo>
                  <a:pt x="23812" y="43793"/>
                  <a:pt x="43793" y="23812"/>
                  <a:pt x="68461" y="23812"/>
                </a:cubicBezTo>
                <a:cubicBezTo>
                  <a:pt x="73409" y="23812"/>
                  <a:pt x="77391" y="27794"/>
                  <a:pt x="77391" y="32742"/>
                </a:cubicBezTo>
                <a:cubicBezTo>
                  <a:pt x="77391" y="37691"/>
                  <a:pt x="73409" y="41672"/>
                  <a:pt x="68461" y="41672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37" name="Text 35"/>
          <p:cNvSpPr/>
          <p:nvPr/>
        </p:nvSpPr>
        <p:spPr>
          <a:xfrm>
            <a:off x="6645934" y="4139781"/>
            <a:ext cx="5067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Value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07809" y="4520668"/>
            <a:ext cx="52863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This dashboard enables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E0E2E5"/>
                </a:solidFill>
                <a:highlight>
                  <a:srgbClr val="B89A6A">
                    <a:alpha val="3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job seekers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E0E2E5"/>
                </a:solidFill>
                <a:highlight>
                  <a:srgbClr val="B89A6A">
                    <a:alpha val="3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training institutions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and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E0E2E5"/>
                </a:solidFill>
                <a:highlight>
                  <a:srgbClr val="B89A6A">
                    <a:alpha val="3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organizations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 make data-driven decisions about career planning, skill development, and hiring strategies.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0888" y="380887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spc="53" kern="0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FOUNDATION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0888" y="64743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0E2E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Dataset &amp; Methodology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0888" y="1333163"/>
            <a:ext cx="7553325" cy="2552700"/>
          </a:xfrm>
          <a:custGeom>
            <a:avLst/>
            <a:gdLst/>
            <a:ahLst/>
            <a:cxnLst/>
            <a:rect l="l" t="t" r="r" b="b"/>
            <a:pathLst>
              <a:path w="7553325" h="2552700">
                <a:moveTo>
                  <a:pt x="38112" y="0"/>
                </a:moveTo>
                <a:lnTo>
                  <a:pt x="7515213" y="0"/>
                </a:lnTo>
                <a:cubicBezTo>
                  <a:pt x="7536262" y="0"/>
                  <a:pt x="7553325" y="17063"/>
                  <a:pt x="7553325" y="38112"/>
                </a:cubicBezTo>
                <a:lnTo>
                  <a:pt x="7553325" y="2514588"/>
                </a:lnTo>
                <a:cubicBezTo>
                  <a:pt x="7553325" y="2535637"/>
                  <a:pt x="7536262" y="2552700"/>
                  <a:pt x="7515213" y="2552700"/>
                </a:cubicBezTo>
                <a:lnTo>
                  <a:pt x="38112" y="2552700"/>
                </a:lnTo>
                <a:cubicBezTo>
                  <a:pt x="17063" y="2552700"/>
                  <a:pt x="0" y="2535637"/>
                  <a:pt x="0" y="2514588"/>
                </a:cubicBezTo>
                <a:lnTo>
                  <a:pt x="0" y="38112"/>
                </a:lnTo>
                <a:cubicBezTo>
                  <a:pt x="0" y="17077"/>
                  <a:pt x="17077" y="0"/>
                  <a:pt x="38112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06994" y="1561628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66688" y="76572"/>
                </a:moveTo>
                <a:cubicBezTo>
                  <a:pt x="161181" y="80218"/>
                  <a:pt x="154856" y="83158"/>
                  <a:pt x="148270" y="85502"/>
                </a:cubicBezTo>
                <a:cubicBezTo>
                  <a:pt x="130783" y="91753"/>
                  <a:pt x="107826" y="95250"/>
                  <a:pt x="83344" y="95250"/>
                </a:cubicBezTo>
                <a:cubicBezTo>
                  <a:pt x="58862" y="95250"/>
                  <a:pt x="35868" y="91715"/>
                  <a:pt x="18417" y="85502"/>
                </a:cubicBezTo>
                <a:cubicBezTo>
                  <a:pt x="11869" y="83158"/>
                  <a:pt x="5507" y="80218"/>
                  <a:pt x="0" y="76572"/>
                </a:cubicBezTo>
                <a:lnTo>
                  <a:pt x="0" y="107156"/>
                </a:lnTo>
                <a:cubicBezTo>
                  <a:pt x="0" y="123602"/>
                  <a:pt x="37319" y="136922"/>
                  <a:pt x="83344" y="136922"/>
                </a:cubicBezTo>
                <a:cubicBezTo>
                  <a:pt x="129369" y="136922"/>
                  <a:pt x="166688" y="123602"/>
                  <a:pt x="166688" y="107156"/>
                </a:cubicBezTo>
                <a:lnTo>
                  <a:pt x="166688" y="76572"/>
                </a:lnTo>
                <a:close/>
                <a:moveTo>
                  <a:pt x="166688" y="47625"/>
                </a:moveTo>
                <a:lnTo>
                  <a:pt x="166688" y="29766"/>
                </a:lnTo>
                <a:cubicBezTo>
                  <a:pt x="166688" y="13320"/>
                  <a:pt x="129369" y="0"/>
                  <a:pt x="83344" y="0"/>
                </a:cubicBezTo>
                <a:cubicBezTo>
                  <a:pt x="37319" y="0"/>
                  <a:pt x="0" y="13320"/>
                  <a:pt x="0" y="29766"/>
                </a:cubicBezTo>
                <a:lnTo>
                  <a:pt x="0" y="47625"/>
                </a:lnTo>
                <a:cubicBezTo>
                  <a:pt x="0" y="64071"/>
                  <a:pt x="37319" y="77391"/>
                  <a:pt x="83344" y="77391"/>
                </a:cubicBezTo>
                <a:cubicBezTo>
                  <a:pt x="129369" y="77391"/>
                  <a:pt x="166688" y="64071"/>
                  <a:pt x="166688" y="47625"/>
                </a:cubicBezTo>
                <a:close/>
                <a:moveTo>
                  <a:pt x="148270" y="145033"/>
                </a:moveTo>
                <a:cubicBezTo>
                  <a:pt x="130820" y="151247"/>
                  <a:pt x="107863" y="154781"/>
                  <a:pt x="83344" y="154781"/>
                </a:cubicBezTo>
                <a:cubicBezTo>
                  <a:pt x="58824" y="154781"/>
                  <a:pt x="35868" y="151247"/>
                  <a:pt x="18417" y="145033"/>
                </a:cubicBezTo>
                <a:cubicBezTo>
                  <a:pt x="11869" y="142689"/>
                  <a:pt x="5507" y="139750"/>
                  <a:pt x="0" y="136103"/>
                </a:cubicBezTo>
                <a:lnTo>
                  <a:pt x="0" y="160734"/>
                </a:lnTo>
                <a:cubicBezTo>
                  <a:pt x="0" y="177180"/>
                  <a:pt x="37319" y="190500"/>
                  <a:pt x="83344" y="190500"/>
                </a:cubicBezTo>
                <a:cubicBezTo>
                  <a:pt x="129369" y="190500"/>
                  <a:pt x="166688" y="177180"/>
                  <a:pt x="166688" y="160734"/>
                </a:cubicBezTo>
                <a:lnTo>
                  <a:pt x="166688" y="136103"/>
                </a:lnTo>
                <a:cubicBezTo>
                  <a:pt x="161181" y="139750"/>
                  <a:pt x="154856" y="142689"/>
                  <a:pt x="148270" y="145033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6" name="Text 4"/>
          <p:cNvSpPr/>
          <p:nvPr/>
        </p:nvSpPr>
        <p:spPr>
          <a:xfrm>
            <a:off x="809400" y="1523550"/>
            <a:ext cx="7029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Dataset Overview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71275" y="1942515"/>
            <a:ext cx="2286000" cy="914400"/>
          </a:xfrm>
          <a:custGeom>
            <a:avLst/>
            <a:gdLst/>
            <a:ahLst/>
            <a:cxnLst/>
            <a:rect l="l" t="t" r="r" b="b"/>
            <a:pathLst>
              <a:path w="2286000" h="914400">
                <a:moveTo>
                  <a:pt x="38103" y="0"/>
                </a:moveTo>
                <a:lnTo>
                  <a:pt x="2247897" y="0"/>
                </a:lnTo>
                <a:cubicBezTo>
                  <a:pt x="2268941" y="0"/>
                  <a:pt x="2286000" y="17059"/>
                  <a:pt x="2286000" y="38103"/>
                </a:cubicBezTo>
                <a:lnTo>
                  <a:pt x="2286000" y="876297"/>
                </a:lnTo>
                <a:cubicBezTo>
                  <a:pt x="2286000" y="897341"/>
                  <a:pt x="2268941" y="914400"/>
                  <a:pt x="2247897" y="914400"/>
                </a:cubicBezTo>
                <a:lnTo>
                  <a:pt x="38103" y="914400"/>
                </a:lnTo>
                <a:cubicBezTo>
                  <a:pt x="17059" y="914400"/>
                  <a:pt x="0" y="897341"/>
                  <a:pt x="0" y="876297"/>
                </a:cubicBezTo>
                <a:lnTo>
                  <a:pt x="0" y="38103"/>
                </a:lnTo>
                <a:cubicBezTo>
                  <a:pt x="0" y="17073"/>
                  <a:pt x="17073" y="0"/>
                  <a:pt x="38103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37860" y="2094826"/>
            <a:ext cx="2152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2,000+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0248" y="2513904"/>
            <a:ext cx="2047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Job Postings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013966" y="1942515"/>
            <a:ext cx="2286000" cy="914400"/>
          </a:xfrm>
          <a:custGeom>
            <a:avLst/>
            <a:gdLst/>
            <a:ahLst/>
            <a:cxnLst/>
            <a:rect l="l" t="t" r="r" b="b"/>
            <a:pathLst>
              <a:path w="2286000" h="914400">
                <a:moveTo>
                  <a:pt x="38103" y="0"/>
                </a:moveTo>
                <a:lnTo>
                  <a:pt x="2247897" y="0"/>
                </a:lnTo>
                <a:cubicBezTo>
                  <a:pt x="2268941" y="0"/>
                  <a:pt x="2286000" y="17059"/>
                  <a:pt x="2286000" y="38103"/>
                </a:cubicBezTo>
                <a:lnTo>
                  <a:pt x="2286000" y="876297"/>
                </a:lnTo>
                <a:cubicBezTo>
                  <a:pt x="2286000" y="897341"/>
                  <a:pt x="2268941" y="914400"/>
                  <a:pt x="2247897" y="914400"/>
                </a:cubicBezTo>
                <a:lnTo>
                  <a:pt x="38103" y="914400"/>
                </a:lnTo>
                <a:cubicBezTo>
                  <a:pt x="17059" y="914400"/>
                  <a:pt x="0" y="897341"/>
                  <a:pt x="0" y="876297"/>
                </a:cubicBezTo>
                <a:lnTo>
                  <a:pt x="0" y="38103"/>
                </a:lnTo>
                <a:cubicBezTo>
                  <a:pt x="0" y="17073"/>
                  <a:pt x="17073" y="0"/>
                  <a:pt x="38103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080551" y="2094826"/>
            <a:ext cx="2152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10+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132939" y="2513904"/>
            <a:ext cx="2047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Fields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56657" y="1942515"/>
            <a:ext cx="2286000" cy="914400"/>
          </a:xfrm>
          <a:custGeom>
            <a:avLst/>
            <a:gdLst/>
            <a:ahLst/>
            <a:cxnLst/>
            <a:rect l="l" t="t" r="r" b="b"/>
            <a:pathLst>
              <a:path w="2286000" h="914400">
                <a:moveTo>
                  <a:pt x="38103" y="0"/>
                </a:moveTo>
                <a:lnTo>
                  <a:pt x="2247897" y="0"/>
                </a:lnTo>
                <a:cubicBezTo>
                  <a:pt x="2268941" y="0"/>
                  <a:pt x="2286000" y="17059"/>
                  <a:pt x="2286000" y="38103"/>
                </a:cubicBezTo>
                <a:lnTo>
                  <a:pt x="2286000" y="876297"/>
                </a:lnTo>
                <a:cubicBezTo>
                  <a:pt x="2286000" y="897341"/>
                  <a:pt x="2268941" y="914400"/>
                  <a:pt x="2247897" y="914400"/>
                </a:cubicBezTo>
                <a:lnTo>
                  <a:pt x="38103" y="914400"/>
                </a:lnTo>
                <a:cubicBezTo>
                  <a:pt x="17059" y="914400"/>
                  <a:pt x="0" y="897341"/>
                  <a:pt x="0" y="876297"/>
                </a:cubicBezTo>
                <a:lnTo>
                  <a:pt x="0" y="38103"/>
                </a:lnTo>
                <a:cubicBezTo>
                  <a:pt x="0" y="17073"/>
                  <a:pt x="17073" y="0"/>
                  <a:pt x="38103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5523242" y="2094826"/>
            <a:ext cx="2152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575629" y="2513904"/>
            <a:ext cx="2047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Skills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71275" y="3008912"/>
            <a:ext cx="3533775" cy="685800"/>
          </a:xfrm>
          <a:custGeom>
            <a:avLst/>
            <a:gdLst/>
            <a:ahLst/>
            <a:cxnLst/>
            <a:rect l="l" t="t" r="r" b="b"/>
            <a:pathLst>
              <a:path w="3533775" h="685800">
                <a:moveTo>
                  <a:pt x="38103" y="0"/>
                </a:moveTo>
                <a:lnTo>
                  <a:pt x="3495672" y="0"/>
                </a:lnTo>
                <a:cubicBezTo>
                  <a:pt x="3516716" y="0"/>
                  <a:pt x="3533775" y="17059"/>
                  <a:pt x="3533775" y="38103"/>
                </a:cubicBezTo>
                <a:lnTo>
                  <a:pt x="3533775" y="647697"/>
                </a:lnTo>
                <a:cubicBezTo>
                  <a:pt x="3533775" y="668741"/>
                  <a:pt x="3516716" y="685800"/>
                  <a:pt x="3495672" y="685800"/>
                </a:cubicBezTo>
                <a:lnTo>
                  <a:pt x="38103" y="685800"/>
                </a:lnTo>
                <a:cubicBezTo>
                  <a:pt x="17059" y="685800"/>
                  <a:pt x="0" y="668741"/>
                  <a:pt x="0" y="647697"/>
                </a:cubicBezTo>
                <a:lnTo>
                  <a:pt x="0" y="38103"/>
                </a:lnTo>
                <a:cubicBezTo>
                  <a:pt x="0" y="17073"/>
                  <a:pt x="17073" y="0"/>
                  <a:pt x="3810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85508" y="3123144"/>
            <a:ext cx="3371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Fields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508" y="3389687"/>
            <a:ext cx="3371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Job Title, Company, Location, Industry, Salary Range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216273" y="3008912"/>
            <a:ext cx="3533775" cy="685800"/>
          </a:xfrm>
          <a:custGeom>
            <a:avLst/>
            <a:gdLst/>
            <a:ahLst/>
            <a:cxnLst/>
            <a:rect l="l" t="t" r="r" b="b"/>
            <a:pathLst>
              <a:path w="3533775" h="685800">
                <a:moveTo>
                  <a:pt x="38103" y="0"/>
                </a:moveTo>
                <a:lnTo>
                  <a:pt x="3495672" y="0"/>
                </a:lnTo>
                <a:cubicBezTo>
                  <a:pt x="3516716" y="0"/>
                  <a:pt x="3533775" y="17059"/>
                  <a:pt x="3533775" y="38103"/>
                </a:cubicBezTo>
                <a:lnTo>
                  <a:pt x="3533775" y="647697"/>
                </a:lnTo>
                <a:cubicBezTo>
                  <a:pt x="3533775" y="668741"/>
                  <a:pt x="3516716" y="685800"/>
                  <a:pt x="3495672" y="685800"/>
                </a:cubicBezTo>
                <a:lnTo>
                  <a:pt x="38103" y="685800"/>
                </a:lnTo>
                <a:cubicBezTo>
                  <a:pt x="17059" y="685800"/>
                  <a:pt x="0" y="668741"/>
                  <a:pt x="0" y="647697"/>
                </a:cubicBezTo>
                <a:lnTo>
                  <a:pt x="0" y="38103"/>
                </a:lnTo>
                <a:cubicBezTo>
                  <a:pt x="0" y="17073"/>
                  <a:pt x="17073" y="0"/>
                  <a:pt x="3810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4330505" y="3123144"/>
            <a:ext cx="3371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Skill Indicators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330505" y="3389687"/>
            <a:ext cx="3371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SQL, Python, Excel, Tableau, Power BI (Boolean)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80888" y="4037005"/>
            <a:ext cx="7553325" cy="2438400"/>
          </a:xfrm>
          <a:custGeom>
            <a:avLst/>
            <a:gdLst/>
            <a:ahLst/>
            <a:cxnLst/>
            <a:rect l="l" t="t" r="r" b="b"/>
            <a:pathLst>
              <a:path w="7553325" h="2438400">
                <a:moveTo>
                  <a:pt x="38112" y="0"/>
                </a:moveTo>
                <a:lnTo>
                  <a:pt x="7515213" y="0"/>
                </a:lnTo>
                <a:cubicBezTo>
                  <a:pt x="7536262" y="0"/>
                  <a:pt x="7553325" y="17063"/>
                  <a:pt x="7553325" y="38112"/>
                </a:cubicBezTo>
                <a:lnTo>
                  <a:pt x="7553325" y="2400288"/>
                </a:lnTo>
                <a:cubicBezTo>
                  <a:pt x="7553325" y="2421337"/>
                  <a:pt x="7536262" y="2438400"/>
                  <a:pt x="7515213" y="2438400"/>
                </a:cubicBezTo>
                <a:lnTo>
                  <a:pt x="38112" y="2438400"/>
                </a:lnTo>
                <a:cubicBezTo>
                  <a:pt x="17063" y="2438400"/>
                  <a:pt x="0" y="2421337"/>
                  <a:pt x="0" y="2400288"/>
                </a:cubicBezTo>
                <a:lnTo>
                  <a:pt x="0" y="38112"/>
                </a:lnTo>
                <a:cubicBezTo>
                  <a:pt x="0" y="17078"/>
                  <a:pt x="17078" y="0"/>
                  <a:pt x="38112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71275" y="4265470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154744" y="78321"/>
                </a:moveTo>
                <a:cubicBezTo>
                  <a:pt x="159283" y="77093"/>
                  <a:pt x="164046" y="79251"/>
                  <a:pt x="166092" y="83455"/>
                </a:cubicBezTo>
                <a:lnTo>
                  <a:pt x="173013" y="97445"/>
                </a:lnTo>
                <a:cubicBezTo>
                  <a:pt x="176845" y="97966"/>
                  <a:pt x="180603" y="99008"/>
                  <a:pt x="184138" y="100459"/>
                </a:cubicBezTo>
                <a:lnTo>
                  <a:pt x="197160" y="91790"/>
                </a:lnTo>
                <a:cubicBezTo>
                  <a:pt x="201067" y="89185"/>
                  <a:pt x="206239" y="89706"/>
                  <a:pt x="209550" y="93018"/>
                </a:cubicBezTo>
                <a:lnTo>
                  <a:pt x="216694" y="100161"/>
                </a:lnTo>
                <a:cubicBezTo>
                  <a:pt x="220005" y="103473"/>
                  <a:pt x="220526" y="108682"/>
                  <a:pt x="217922" y="112551"/>
                </a:cubicBezTo>
                <a:lnTo>
                  <a:pt x="209252" y="125537"/>
                </a:lnTo>
                <a:cubicBezTo>
                  <a:pt x="209959" y="127285"/>
                  <a:pt x="210592" y="129108"/>
                  <a:pt x="211113" y="131006"/>
                </a:cubicBezTo>
                <a:cubicBezTo>
                  <a:pt x="211634" y="132904"/>
                  <a:pt x="211968" y="134764"/>
                  <a:pt x="212229" y="136661"/>
                </a:cubicBezTo>
                <a:lnTo>
                  <a:pt x="226256" y="143582"/>
                </a:lnTo>
                <a:cubicBezTo>
                  <a:pt x="230460" y="145666"/>
                  <a:pt x="232618" y="150428"/>
                  <a:pt x="231391" y="154930"/>
                </a:cubicBezTo>
                <a:lnTo>
                  <a:pt x="228786" y="164678"/>
                </a:lnTo>
                <a:cubicBezTo>
                  <a:pt x="227558" y="169180"/>
                  <a:pt x="223354" y="172231"/>
                  <a:pt x="218666" y="171934"/>
                </a:cubicBezTo>
                <a:lnTo>
                  <a:pt x="203039" y="170929"/>
                </a:lnTo>
                <a:cubicBezTo>
                  <a:pt x="200695" y="173943"/>
                  <a:pt x="197979" y="176733"/>
                  <a:pt x="194890" y="179115"/>
                </a:cubicBezTo>
                <a:lnTo>
                  <a:pt x="195895" y="194704"/>
                </a:lnTo>
                <a:cubicBezTo>
                  <a:pt x="196193" y="199392"/>
                  <a:pt x="193142" y="203634"/>
                  <a:pt x="188640" y="204825"/>
                </a:cubicBezTo>
                <a:lnTo>
                  <a:pt x="178891" y="207429"/>
                </a:lnTo>
                <a:cubicBezTo>
                  <a:pt x="174352" y="208657"/>
                  <a:pt x="169627" y="206499"/>
                  <a:pt x="167543" y="202295"/>
                </a:cubicBezTo>
                <a:lnTo>
                  <a:pt x="160623" y="188305"/>
                </a:lnTo>
                <a:cubicBezTo>
                  <a:pt x="156790" y="187784"/>
                  <a:pt x="153033" y="186742"/>
                  <a:pt x="149498" y="185291"/>
                </a:cubicBezTo>
                <a:lnTo>
                  <a:pt x="136475" y="193960"/>
                </a:lnTo>
                <a:cubicBezTo>
                  <a:pt x="132569" y="196565"/>
                  <a:pt x="127397" y="196044"/>
                  <a:pt x="124085" y="192732"/>
                </a:cubicBezTo>
                <a:lnTo>
                  <a:pt x="116942" y="185589"/>
                </a:lnTo>
                <a:cubicBezTo>
                  <a:pt x="113630" y="182277"/>
                  <a:pt x="113109" y="177105"/>
                  <a:pt x="115714" y="173199"/>
                </a:cubicBezTo>
                <a:lnTo>
                  <a:pt x="124383" y="160176"/>
                </a:lnTo>
                <a:cubicBezTo>
                  <a:pt x="123676" y="158428"/>
                  <a:pt x="123044" y="156604"/>
                  <a:pt x="122523" y="154707"/>
                </a:cubicBezTo>
                <a:cubicBezTo>
                  <a:pt x="122002" y="152809"/>
                  <a:pt x="121667" y="150912"/>
                  <a:pt x="121407" y="149051"/>
                </a:cubicBezTo>
                <a:lnTo>
                  <a:pt x="107379" y="142131"/>
                </a:lnTo>
                <a:cubicBezTo>
                  <a:pt x="103175" y="140047"/>
                  <a:pt x="101054" y="135285"/>
                  <a:pt x="102245" y="130783"/>
                </a:cubicBezTo>
                <a:lnTo>
                  <a:pt x="104849" y="121034"/>
                </a:lnTo>
                <a:cubicBezTo>
                  <a:pt x="106077" y="116532"/>
                  <a:pt x="110282" y="113481"/>
                  <a:pt x="114970" y="113779"/>
                </a:cubicBezTo>
                <a:lnTo>
                  <a:pt x="130559" y="114784"/>
                </a:lnTo>
                <a:cubicBezTo>
                  <a:pt x="132904" y="111770"/>
                  <a:pt x="135620" y="108979"/>
                  <a:pt x="138708" y="106598"/>
                </a:cubicBezTo>
                <a:lnTo>
                  <a:pt x="137703" y="91046"/>
                </a:lnTo>
                <a:cubicBezTo>
                  <a:pt x="137406" y="86358"/>
                  <a:pt x="140457" y="82116"/>
                  <a:pt x="144959" y="80925"/>
                </a:cubicBezTo>
                <a:lnTo>
                  <a:pt x="154707" y="78321"/>
                </a:lnTo>
                <a:close/>
                <a:moveTo>
                  <a:pt x="166836" y="126504"/>
                </a:moveTo>
                <a:cubicBezTo>
                  <a:pt x="157801" y="126514"/>
                  <a:pt x="150474" y="133858"/>
                  <a:pt x="150484" y="142894"/>
                </a:cubicBezTo>
                <a:cubicBezTo>
                  <a:pt x="150494" y="151929"/>
                  <a:pt x="157838" y="159256"/>
                  <a:pt x="166874" y="159246"/>
                </a:cubicBezTo>
                <a:cubicBezTo>
                  <a:pt x="175909" y="159236"/>
                  <a:pt x="183236" y="151892"/>
                  <a:pt x="183226" y="142856"/>
                </a:cubicBezTo>
                <a:cubicBezTo>
                  <a:pt x="183216" y="133821"/>
                  <a:pt x="175872" y="126494"/>
                  <a:pt x="166836" y="126504"/>
                </a:cubicBezTo>
                <a:close/>
                <a:moveTo>
                  <a:pt x="83679" y="-16929"/>
                </a:moveTo>
                <a:lnTo>
                  <a:pt x="93427" y="-14325"/>
                </a:lnTo>
                <a:cubicBezTo>
                  <a:pt x="97929" y="-13097"/>
                  <a:pt x="100980" y="-8855"/>
                  <a:pt x="100682" y="-4204"/>
                </a:cubicBezTo>
                <a:lnTo>
                  <a:pt x="99678" y="11348"/>
                </a:lnTo>
                <a:cubicBezTo>
                  <a:pt x="102766" y="13729"/>
                  <a:pt x="105482" y="16483"/>
                  <a:pt x="107826" y="19534"/>
                </a:cubicBezTo>
                <a:lnTo>
                  <a:pt x="123453" y="18529"/>
                </a:lnTo>
                <a:cubicBezTo>
                  <a:pt x="128104" y="18231"/>
                  <a:pt x="132345" y="21282"/>
                  <a:pt x="133573" y="25784"/>
                </a:cubicBezTo>
                <a:lnTo>
                  <a:pt x="136178" y="35533"/>
                </a:lnTo>
                <a:cubicBezTo>
                  <a:pt x="137368" y="40035"/>
                  <a:pt x="135248" y="44797"/>
                  <a:pt x="131043" y="46881"/>
                </a:cubicBezTo>
                <a:lnTo>
                  <a:pt x="117016" y="53801"/>
                </a:lnTo>
                <a:cubicBezTo>
                  <a:pt x="116756" y="55699"/>
                  <a:pt x="116384" y="57596"/>
                  <a:pt x="115900" y="59457"/>
                </a:cubicBezTo>
                <a:cubicBezTo>
                  <a:pt x="115416" y="61317"/>
                  <a:pt x="114746" y="63178"/>
                  <a:pt x="114040" y="64926"/>
                </a:cubicBezTo>
                <a:lnTo>
                  <a:pt x="122709" y="77949"/>
                </a:lnTo>
                <a:cubicBezTo>
                  <a:pt x="125313" y="81855"/>
                  <a:pt x="124792" y="87027"/>
                  <a:pt x="121481" y="90339"/>
                </a:cubicBezTo>
                <a:lnTo>
                  <a:pt x="114337" y="97482"/>
                </a:lnTo>
                <a:cubicBezTo>
                  <a:pt x="111026" y="100794"/>
                  <a:pt x="105854" y="101315"/>
                  <a:pt x="101947" y="98710"/>
                </a:cubicBezTo>
                <a:lnTo>
                  <a:pt x="88925" y="90041"/>
                </a:lnTo>
                <a:cubicBezTo>
                  <a:pt x="85390" y="91492"/>
                  <a:pt x="81632" y="92534"/>
                  <a:pt x="77800" y="93055"/>
                </a:cubicBezTo>
                <a:lnTo>
                  <a:pt x="70879" y="107045"/>
                </a:lnTo>
                <a:cubicBezTo>
                  <a:pt x="68796" y="111249"/>
                  <a:pt x="64033" y="113370"/>
                  <a:pt x="59531" y="112179"/>
                </a:cubicBezTo>
                <a:lnTo>
                  <a:pt x="49783" y="109575"/>
                </a:lnTo>
                <a:cubicBezTo>
                  <a:pt x="45244" y="108347"/>
                  <a:pt x="42230" y="104105"/>
                  <a:pt x="42528" y="99454"/>
                </a:cubicBezTo>
                <a:lnTo>
                  <a:pt x="43532" y="83865"/>
                </a:lnTo>
                <a:cubicBezTo>
                  <a:pt x="40444" y="81483"/>
                  <a:pt x="37728" y="78730"/>
                  <a:pt x="35384" y="75679"/>
                </a:cubicBezTo>
                <a:lnTo>
                  <a:pt x="19757" y="76684"/>
                </a:lnTo>
                <a:cubicBezTo>
                  <a:pt x="15106" y="76981"/>
                  <a:pt x="10864" y="73930"/>
                  <a:pt x="9637" y="69428"/>
                </a:cubicBezTo>
                <a:lnTo>
                  <a:pt x="7032" y="59680"/>
                </a:lnTo>
                <a:cubicBezTo>
                  <a:pt x="5842" y="55178"/>
                  <a:pt x="7962" y="50416"/>
                  <a:pt x="12167" y="48332"/>
                </a:cubicBezTo>
                <a:lnTo>
                  <a:pt x="26194" y="41411"/>
                </a:lnTo>
                <a:cubicBezTo>
                  <a:pt x="26454" y="39514"/>
                  <a:pt x="26826" y="37654"/>
                  <a:pt x="27310" y="35756"/>
                </a:cubicBezTo>
                <a:cubicBezTo>
                  <a:pt x="27831" y="33858"/>
                  <a:pt x="28426" y="32035"/>
                  <a:pt x="29170" y="30287"/>
                </a:cubicBezTo>
                <a:lnTo>
                  <a:pt x="20501" y="17301"/>
                </a:lnTo>
                <a:cubicBezTo>
                  <a:pt x="17897" y="13395"/>
                  <a:pt x="18417" y="8223"/>
                  <a:pt x="21729" y="4911"/>
                </a:cubicBezTo>
                <a:lnTo>
                  <a:pt x="28873" y="-2232"/>
                </a:lnTo>
                <a:cubicBezTo>
                  <a:pt x="32184" y="-5544"/>
                  <a:pt x="37356" y="-6065"/>
                  <a:pt x="41263" y="-3460"/>
                </a:cubicBezTo>
                <a:lnTo>
                  <a:pt x="54285" y="5209"/>
                </a:lnTo>
                <a:cubicBezTo>
                  <a:pt x="57820" y="3758"/>
                  <a:pt x="61578" y="2716"/>
                  <a:pt x="65410" y="2195"/>
                </a:cubicBezTo>
                <a:lnTo>
                  <a:pt x="72330" y="-11795"/>
                </a:lnTo>
                <a:cubicBezTo>
                  <a:pt x="74414" y="-15999"/>
                  <a:pt x="79139" y="-18120"/>
                  <a:pt x="83679" y="-16929"/>
                </a:cubicBezTo>
                <a:close/>
                <a:moveTo>
                  <a:pt x="71586" y="31254"/>
                </a:moveTo>
                <a:cubicBezTo>
                  <a:pt x="62551" y="31254"/>
                  <a:pt x="55215" y="38590"/>
                  <a:pt x="55215" y="47625"/>
                </a:cubicBezTo>
                <a:cubicBezTo>
                  <a:pt x="55215" y="56660"/>
                  <a:pt x="62551" y="63996"/>
                  <a:pt x="71586" y="63996"/>
                </a:cubicBezTo>
                <a:cubicBezTo>
                  <a:pt x="80622" y="63996"/>
                  <a:pt x="87957" y="56660"/>
                  <a:pt x="87957" y="47625"/>
                </a:cubicBezTo>
                <a:cubicBezTo>
                  <a:pt x="87957" y="38590"/>
                  <a:pt x="80622" y="31254"/>
                  <a:pt x="71586" y="31254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24" name="Text 22"/>
          <p:cNvSpPr/>
          <p:nvPr/>
        </p:nvSpPr>
        <p:spPr>
          <a:xfrm>
            <a:off x="809400" y="4227392"/>
            <a:ext cx="7029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Preparation Pipeline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158725" y="4646358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3A5F7A">
              <a:alpha val="30196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318224" y="4817762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210815" y="20315"/>
                </a:moveTo>
                <a:cubicBezTo>
                  <a:pt x="215466" y="15664"/>
                  <a:pt x="215466" y="8111"/>
                  <a:pt x="210815" y="3460"/>
                </a:cubicBezTo>
                <a:cubicBezTo>
                  <a:pt x="206164" y="-1191"/>
                  <a:pt x="198611" y="-1191"/>
                  <a:pt x="193960" y="3460"/>
                </a:cubicBezTo>
                <a:lnTo>
                  <a:pt x="122523" y="74898"/>
                </a:lnTo>
                <a:lnTo>
                  <a:pt x="109612" y="61987"/>
                </a:lnTo>
                <a:cubicBezTo>
                  <a:pt x="108049" y="60424"/>
                  <a:pt x="105891" y="59531"/>
                  <a:pt x="103659" y="59531"/>
                </a:cubicBezTo>
                <a:cubicBezTo>
                  <a:pt x="99008" y="59531"/>
                  <a:pt x="95250" y="63289"/>
                  <a:pt x="95250" y="67940"/>
                </a:cubicBezTo>
                <a:lnTo>
                  <a:pt x="95250" y="78767"/>
                </a:lnTo>
                <a:lnTo>
                  <a:pt x="135545" y="119063"/>
                </a:lnTo>
                <a:lnTo>
                  <a:pt x="146372" y="119063"/>
                </a:lnTo>
                <a:cubicBezTo>
                  <a:pt x="151023" y="119063"/>
                  <a:pt x="154781" y="115305"/>
                  <a:pt x="154781" y="110654"/>
                </a:cubicBezTo>
                <a:cubicBezTo>
                  <a:pt x="154781" y="108421"/>
                  <a:pt x="153888" y="106263"/>
                  <a:pt x="152326" y="104701"/>
                </a:cubicBezTo>
                <a:lnTo>
                  <a:pt x="139415" y="91790"/>
                </a:lnTo>
                <a:lnTo>
                  <a:pt x="210852" y="20352"/>
                </a:lnTo>
                <a:close/>
                <a:moveTo>
                  <a:pt x="126913" y="131490"/>
                </a:moveTo>
                <a:lnTo>
                  <a:pt x="82823" y="87399"/>
                </a:lnTo>
                <a:cubicBezTo>
                  <a:pt x="66935" y="86023"/>
                  <a:pt x="51122" y="91753"/>
                  <a:pt x="39737" y="103138"/>
                </a:cubicBezTo>
                <a:lnTo>
                  <a:pt x="36761" y="106114"/>
                </a:lnTo>
                <a:cubicBezTo>
                  <a:pt x="28463" y="114412"/>
                  <a:pt x="23812" y="125648"/>
                  <a:pt x="23812" y="137368"/>
                </a:cubicBezTo>
                <a:cubicBezTo>
                  <a:pt x="23812" y="139898"/>
                  <a:pt x="26454" y="141536"/>
                  <a:pt x="28724" y="140419"/>
                </a:cubicBezTo>
                <a:lnTo>
                  <a:pt x="47737" y="130932"/>
                </a:lnTo>
                <a:cubicBezTo>
                  <a:pt x="49597" y="130001"/>
                  <a:pt x="51271" y="132457"/>
                  <a:pt x="49746" y="133871"/>
                </a:cubicBezTo>
                <a:lnTo>
                  <a:pt x="2716" y="176138"/>
                </a:lnTo>
                <a:cubicBezTo>
                  <a:pt x="1005" y="177701"/>
                  <a:pt x="0" y="179933"/>
                  <a:pt x="0" y="182277"/>
                </a:cubicBezTo>
                <a:cubicBezTo>
                  <a:pt x="0" y="186817"/>
                  <a:pt x="3683" y="190500"/>
                  <a:pt x="8223" y="190500"/>
                </a:cubicBezTo>
                <a:lnTo>
                  <a:pt x="72703" y="190500"/>
                </a:lnTo>
                <a:cubicBezTo>
                  <a:pt x="87139" y="190500"/>
                  <a:pt x="100943" y="184770"/>
                  <a:pt x="111175" y="174575"/>
                </a:cubicBezTo>
                <a:cubicBezTo>
                  <a:pt x="122560" y="163190"/>
                  <a:pt x="128253" y="147377"/>
                  <a:pt x="126913" y="131490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27" name="Text 25"/>
          <p:cNvSpPr/>
          <p:nvPr/>
        </p:nvSpPr>
        <p:spPr>
          <a:xfrm>
            <a:off x="537938" y="5255823"/>
            <a:ext cx="1771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Cleaning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42700" y="5446212"/>
            <a:ext cx="17621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Remove duplicates, standardize names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2981168" y="4646358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3A5F7A">
              <a:alpha val="30196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40667" y="4817762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89533" y="36686"/>
                </a:moveTo>
                <a:cubicBezTo>
                  <a:pt x="192360" y="33858"/>
                  <a:pt x="197086" y="34565"/>
                  <a:pt x="198500" y="38286"/>
                </a:cubicBezTo>
                <a:cubicBezTo>
                  <a:pt x="201030" y="44872"/>
                  <a:pt x="202406" y="52053"/>
                  <a:pt x="202406" y="59531"/>
                </a:cubicBezTo>
                <a:cubicBezTo>
                  <a:pt x="202406" y="92422"/>
                  <a:pt x="175766" y="119063"/>
                  <a:pt x="142875" y="119063"/>
                </a:cubicBezTo>
                <a:cubicBezTo>
                  <a:pt x="136364" y="119063"/>
                  <a:pt x="130076" y="118021"/>
                  <a:pt x="124197" y="116086"/>
                </a:cubicBezTo>
                <a:lnTo>
                  <a:pt x="54657" y="185626"/>
                </a:lnTo>
                <a:cubicBezTo>
                  <a:pt x="44202" y="196081"/>
                  <a:pt x="27236" y="196081"/>
                  <a:pt x="16780" y="185626"/>
                </a:cubicBezTo>
                <a:cubicBezTo>
                  <a:pt x="6325" y="175171"/>
                  <a:pt x="6325" y="158204"/>
                  <a:pt x="16780" y="147749"/>
                </a:cubicBezTo>
                <a:lnTo>
                  <a:pt x="86320" y="78209"/>
                </a:lnTo>
                <a:cubicBezTo>
                  <a:pt x="84386" y="72330"/>
                  <a:pt x="83344" y="66080"/>
                  <a:pt x="83344" y="59531"/>
                </a:cubicBezTo>
                <a:cubicBezTo>
                  <a:pt x="83344" y="26640"/>
                  <a:pt x="109984" y="0"/>
                  <a:pt x="142875" y="0"/>
                </a:cubicBezTo>
                <a:cubicBezTo>
                  <a:pt x="150354" y="0"/>
                  <a:pt x="157535" y="1377"/>
                  <a:pt x="164120" y="3907"/>
                </a:cubicBezTo>
                <a:cubicBezTo>
                  <a:pt x="167841" y="5321"/>
                  <a:pt x="168511" y="10046"/>
                  <a:pt x="165720" y="12874"/>
                </a:cubicBezTo>
                <a:lnTo>
                  <a:pt x="132717" y="45876"/>
                </a:lnTo>
                <a:cubicBezTo>
                  <a:pt x="131601" y="46992"/>
                  <a:pt x="130969" y="48518"/>
                  <a:pt x="130969" y="50081"/>
                </a:cubicBezTo>
                <a:lnTo>
                  <a:pt x="130969" y="65484"/>
                </a:lnTo>
                <a:cubicBezTo>
                  <a:pt x="130969" y="68759"/>
                  <a:pt x="133648" y="71438"/>
                  <a:pt x="136922" y="71438"/>
                </a:cubicBezTo>
                <a:lnTo>
                  <a:pt x="152326" y="71438"/>
                </a:lnTo>
                <a:cubicBezTo>
                  <a:pt x="153888" y="71438"/>
                  <a:pt x="155414" y="70805"/>
                  <a:pt x="156530" y="69689"/>
                </a:cubicBezTo>
                <a:lnTo>
                  <a:pt x="189533" y="36686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31" name="Text 29"/>
          <p:cNvSpPr/>
          <p:nvPr/>
        </p:nvSpPr>
        <p:spPr>
          <a:xfrm>
            <a:off x="2360380" y="5255823"/>
            <a:ext cx="1771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Engineering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2365143" y="5446212"/>
            <a:ext cx="17621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Create metrics, skill counts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803723" y="4646358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3A5F7A">
              <a:alpha val="30196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975128" y="4817762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29766"/>
                </a:moveTo>
                <a:cubicBezTo>
                  <a:pt x="0" y="19906"/>
                  <a:pt x="8000" y="11906"/>
                  <a:pt x="17859" y="11906"/>
                </a:cubicBezTo>
                <a:lnTo>
                  <a:pt x="53578" y="11906"/>
                </a:lnTo>
                <a:cubicBezTo>
                  <a:pt x="63438" y="11906"/>
                  <a:pt x="71438" y="19906"/>
                  <a:pt x="71438" y="29766"/>
                </a:cubicBezTo>
                <a:lnTo>
                  <a:pt x="71438" y="35719"/>
                </a:lnTo>
                <a:lnTo>
                  <a:pt x="119063" y="35719"/>
                </a:lnTo>
                <a:lnTo>
                  <a:pt x="119063" y="29766"/>
                </a:lnTo>
                <a:cubicBezTo>
                  <a:pt x="119063" y="19906"/>
                  <a:pt x="127062" y="11906"/>
                  <a:pt x="136922" y="11906"/>
                </a:cubicBezTo>
                <a:lnTo>
                  <a:pt x="172641" y="11906"/>
                </a:lnTo>
                <a:cubicBezTo>
                  <a:pt x="182500" y="11906"/>
                  <a:pt x="190500" y="19906"/>
                  <a:pt x="190500" y="29766"/>
                </a:cubicBezTo>
                <a:lnTo>
                  <a:pt x="190500" y="65484"/>
                </a:lnTo>
                <a:cubicBezTo>
                  <a:pt x="190500" y="75344"/>
                  <a:pt x="182500" y="83344"/>
                  <a:pt x="172641" y="83344"/>
                </a:cubicBezTo>
                <a:lnTo>
                  <a:pt x="136922" y="83344"/>
                </a:lnTo>
                <a:cubicBezTo>
                  <a:pt x="127062" y="83344"/>
                  <a:pt x="119063" y="75344"/>
                  <a:pt x="119063" y="65484"/>
                </a:cubicBezTo>
                <a:lnTo>
                  <a:pt x="119063" y="59531"/>
                </a:lnTo>
                <a:lnTo>
                  <a:pt x="71438" y="59531"/>
                </a:lnTo>
                <a:lnTo>
                  <a:pt x="71438" y="65484"/>
                </a:lnTo>
                <a:cubicBezTo>
                  <a:pt x="71438" y="68200"/>
                  <a:pt x="70805" y="70805"/>
                  <a:pt x="69726" y="73112"/>
                </a:cubicBezTo>
                <a:lnTo>
                  <a:pt x="95250" y="107156"/>
                </a:lnTo>
                <a:lnTo>
                  <a:pt x="125016" y="107156"/>
                </a:lnTo>
                <a:cubicBezTo>
                  <a:pt x="134875" y="107156"/>
                  <a:pt x="142875" y="115156"/>
                  <a:pt x="142875" y="125016"/>
                </a:cubicBezTo>
                <a:lnTo>
                  <a:pt x="142875" y="160734"/>
                </a:lnTo>
                <a:cubicBezTo>
                  <a:pt x="142875" y="170594"/>
                  <a:pt x="134875" y="178594"/>
                  <a:pt x="125016" y="178594"/>
                </a:cubicBezTo>
                <a:lnTo>
                  <a:pt x="89297" y="178594"/>
                </a:lnTo>
                <a:cubicBezTo>
                  <a:pt x="79437" y="178594"/>
                  <a:pt x="71438" y="170594"/>
                  <a:pt x="71438" y="160734"/>
                </a:cubicBezTo>
                <a:lnTo>
                  <a:pt x="71438" y="125016"/>
                </a:lnTo>
                <a:cubicBezTo>
                  <a:pt x="71438" y="122300"/>
                  <a:pt x="72070" y="119695"/>
                  <a:pt x="73149" y="117388"/>
                </a:cubicBezTo>
                <a:lnTo>
                  <a:pt x="47625" y="83344"/>
                </a:lnTo>
                <a:lnTo>
                  <a:pt x="17859" y="83344"/>
                </a:lnTo>
                <a:cubicBezTo>
                  <a:pt x="8000" y="83344"/>
                  <a:pt x="0" y="75344"/>
                  <a:pt x="0" y="65484"/>
                </a:cubicBezTo>
                <a:lnTo>
                  <a:pt x="0" y="29766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35" name="Text 33"/>
          <p:cNvSpPr/>
          <p:nvPr/>
        </p:nvSpPr>
        <p:spPr>
          <a:xfrm>
            <a:off x="4182935" y="5255823"/>
            <a:ext cx="1771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Modeling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187698" y="5446212"/>
            <a:ext cx="17621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Fact &amp; dimension tables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626165" y="4646358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3A5F7A">
              <a:alpha val="30196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785664" y="4817762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90649" y="89297"/>
                </a:moveTo>
                <a:lnTo>
                  <a:pt x="125164" y="89297"/>
                </a:lnTo>
                <a:cubicBezTo>
                  <a:pt x="118579" y="89297"/>
                  <a:pt x="113258" y="83976"/>
                  <a:pt x="113258" y="77391"/>
                </a:cubicBezTo>
                <a:lnTo>
                  <a:pt x="113258" y="11906"/>
                </a:lnTo>
                <a:cubicBezTo>
                  <a:pt x="113258" y="5321"/>
                  <a:pt x="118616" y="-74"/>
                  <a:pt x="125127" y="781"/>
                </a:cubicBezTo>
                <a:cubicBezTo>
                  <a:pt x="164939" y="6065"/>
                  <a:pt x="196490" y="37616"/>
                  <a:pt x="201774" y="77428"/>
                </a:cubicBezTo>
                <a:cubicBezTo>
                  <a:pt x="202629" y="83939"/>
                  <a:pt x="197234" y="89297"/>
                  <a:pt x="190649" y="89297"/>
                </a:cubicBezTo>
                <a:close/>
                <a:moveTo>
                  <a:pt x="82823" y="13841"/>
                </a:moveTo>
                <a:cubicBezTo>
                  <a:pt x="89557" y="12427"/>
                  <a:pt x="95399" y="17934"/>
                  <a:pt x="95399" y="24817"/>
                </a:cubicBezTo>
                <a:lnTo>
                  <a:pt x="95399" y="98227"/>
                </a:lnTo>
                <a:cubicBezTo>
                  <a:pt x="95399" y="100310"/>
                  <a:pt x="96143" y="102319"/>
                  <a:pt x="97445" y="103919"/>
                </a:cubicBezTo>
                <a:lnTo>
                  <a:pt x="146596" y="163227"/>
                </a:lnTo>
                <a:cubicBezTo>
                  <a:pt x="150949" y="168473"/>
                  <a:pt x="150019" y="176399"/>
                  <a:pt x="144028" y="179636"/>
                </a:cubicBezTo>
                <a:cubicBezTo>
                  <a:pt x="131341" y="186556"/>
                  <a:pt x="116793" y="190500"/>
                  <a:pt x="101352" y="190500"/>
                </a:cubicBezTo>
                <a:cubicBezTo>
                  <a:pt x="52053" y="190500"/>
                  <a:pt x="12055" y="150502"/>
                  <a:pt x="12055" y="101203"/>
                </a:cubicBezTo>
                <a:cubicBezTo>
                  <a:pt x="12055" y="58229"/>
                  <a:pt x="42379" y="22361"/>
                  <a:pt x="82823" y="13841"/>
                </a:cubicBezTo>
                <a:close/>
                <a:moveTo>
                  <a:pt x="177775" y="107156"/>
                </a:moveTo>
                <a:lnTo>
                  <a:pt x="201588" y="107156"/>
                </a:lnTo>
                <a:cubicBezTo>
                  <a:pt x="208471" y="107156"/>
                  <a:pt x="213978" y="112998"/>
                  <a:pt x="212564" y="119732"/>
                </a:cubicBezTo>
                <a:cubicBezTo>
                  <a:pt x="208769" y="137740"/>
                  <a:pt x="199541" y="153739"/>
                  <a:pt x="186668" y="165943"/>
                </a:cubicBezTo>
                <a:cubicBezTo>
                  <a:pt x="182091" y="170297"/>
                  <a:pt x="174910" y="169366"/>
                  <a:pt x="170892" y="164492"/>
                </a:cubicBezTo>
                <a:lnTo>
                  <a:pt x="139489" y="126653"/>
                </a:lnTo>
                <a:cubicBezTo>
                  <a:pt x="133052" y="118876"/>
                  <a:pt x="138596" y="107156"/>
                  <a:pt x="148642" y="107156"/>
                </a:cubicBezTo>
                <a:lnTo>
                  <a:pt x="177738" y="107156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39" name="Text 37"/>
          <p:cNvSpPr/>
          <p:nvPr/>
        </p:nvSpPr>
        <p:spPr>
          <a:xfrm>
            <a:off x="6005378" y="5255823"/>
            <a:ext cx="1771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Analysis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010140" y="5446212"/>
            <a:ext cx="17621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SQL queries, aggregations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131408" y="1336757"/>
            <a:ext cx="3674314" cy="2178889"/>
          </a:xfrm>
          <a:custGeom>
            <a:avLst/>
            <a:gdLst/>
            <a:ahLst/>
            <a:cxnLst/>
            <a:rect l="l" t="t" r="r" b="b"/>
            <a:pathLst>
              <a:path w="3674314" h="2178889">
                <a:moveTo>
                  <a:pt x="38109" y="0"/>
                </a:moveTo>
                <a:lnTo>
                  <a:pt x="3636205" y="0"/>
                </a:lnTo>
                <a:cubicBezTo>
                  <a:pt x="3657252" y="0"/>
                  <a:pt x="3674314" y="17062"/>
                  <a:pt x="3674314" y="38109"/>
                </a:cubicBezTo>
                <a:lnTo>
                  <a:pt x="3674314" y="2140780"/>
                </a:lnTo>
                <a:cubicBezTo>
                  <a:pt x="3674314" y="2161827"/>
                  <a:pt x="3657252" y="2178889"/>
                  <a:pt x="3636205" y="2178889"/>
                </a:cubicBezTo>
                <a:lnTo>
                  <a:pt x="38109" y="2178889"/>
                </a:lnTo>
                <a:cubicBezTo>
                  <a:pt x="17062" y="2178889"/>
                  <a:pt x="0" y="2161827"/>
                  <a:pt x="0" y="2140780"/>
                </a:cubicBezTo>
                <a:lnTo>
                  <a:pt x="0" y="38109"/>
                </a:lnTo>
                <a:cubicBezTo>
                  <a:pt x="0" y="17076"/>
                  <a:pt x="17076" y="0"/>
                  <a:pt x="38109" y="0"/>
                </a:cubicBezTo>
                <a:close/>
              </a:path>
            </a:pathLst>
          </a:custGeom>
          <a:gradFill rotWithShape="1" flip="none">
            <a:gsLst>
              <a:gs pos="0">
                <a:srgbClr val="3A5F7A">
                  <a:alpha val="20000"/>
                </a:srgbClr>
              </a:gs>
              <a:gs pos="100000">
                <a:srgbClr val="B89A6A">
                  <a:alpha val="10000"/>
                </a:srgbClr>
              </a:gs>
            </a:gsLst>
            <a:lin ang="2700000" scaled="1"/>
          </a:gradFill>
          <a:ln w="9585">
            <a:solidFill>
              <a:srgbClr val="B89A6A">
                <a:alpha val="30196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337296" y="1568817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83381" y="36128"/>
                </a:moveTo>
                <a:lnTo>
                  <a:pt x="83381" y="54583"/>
                </a:lnTo>
                <a:lnTo>
                  <a:pt x="83567" y="54769"/>
                </a:lnTo>
                <a:cubicBezTo>
                  <a:pt x="85985" y="24110"/>
                  <a:pt x="111621" y="0"/>
                  <a:pt x="142912" y="0"/>
                </a:cubicBezTo>
                <a:cubicBezTo>
                  <a:pt x="150391" y="0"/>
                  <a:pt x="157572" y="1377"/>
                  <a:pt x="164157" y="3907"/>
                </a:cubicBezTo>
                <a:cubicBezTo>
                  <a:pt x="167878" y="5321"/>
                  <a:pt x="168548" y="10046"/>
                  <a:pt x="165757" y="12874"/>
                </a:cubicBezTo>
                <a:lnTo>
                  <a:pt x="132755" y="45876"/>
                </a:lnTo>
                <a:cubicBezTo>
                  <a:pt x="131638" y="46992"/>
                  <a:pt x="131006" y="48518"/>
                  <a:pt x="131006" y="50081"/>
                </a:cubicBezTo>
                <a:lnTo>
                  <a:pt x="131006" y="65484"/>
                </a:lnTo>
                <a:cubicBezTo>
                  <a:pt x="131006" y="68759"/>
                  <a:pt x="133685" y="71438"/>
                  <a:pt x="136959" y="71438"/>
                </a:cubicBezTo>
                <a:lnTo>
                  <a:pt x="152363" y="71438"/>
                </a:lnTo>
                <a:cubicBezTo>
                  <a:pt x="153925" y="71438"/>
                  <a:pt x="155451" y="70805"/>
                  <a:pt x="156567" y="69689"/>
                </a:cubicBezTo>
                <a:lnTo>
                  <a:pt x="189570" y="36686"/>
                </a:lnTo>
                <a:cubicBezTo>
                  <a:pt x="192398" y="33858"/>
                  <a:pt x="197123" y="34565"/>
                  <a:pt x="198537" y="38286"/>
                </a:cubicBezTo>
                <a:cubicBezTo>
                  <a:pt x="201067" y="44872"/>
                  <a:pt x="202443" y="52053"/>
                  <a:pt x="202443" y="59531"/>
                </a:cubicBezTo>
                <a:cubicBezTo>
                  <a:pt x="202443" y="82079"/>
                  <a:pt x="189905" y="101724"/>
                  <a:pt x="171376" y="111807"/>
                </a:cubicBezTo>
                <a:lnTo>
                  <a:pt x="201699" y="142131"/>
                </a:lnTo>
                <a:cubicBezTo>
                  <a:pt x="208657" y="149089"/>
                  <a:pt x="208657" y="160400"/>
                  <a:pt x="201699" y="167394"/>
                </a:cubicBezTo>
                <a:lnTo>
                  <a:pt x="179338" y="189756"/>
                </a:lnTo>
                <a:cubicBezTo>
                  <a:pt x="172380" y="196714"/>
                  <a:pt x="161069" y="196714"/>
                  <a:pt x="154074" y="189756"/>
                </a:cubicBezTo>
                <a:lnTo>
                  <a:pt x="107193" y="142875"/>
                </a:lnTo>
                <a:cubicBezTo>
                  <a:pt x="96999" y="132680"/>
                  <a:pt x="94692" y="117611"/>
                  <a:pt x="100310" y="105184"/>
                </a:cubicBezTo>
                <a:lnTo>
                  <a:pt x="66563" y="71438"/>
                </a:lnTo>
                <a:lnTo>
                  <a:pt x="48109" y="71438"/>
                </a:lnTo>
                <a:cubicBezTo>
                  <a:pt x="44128" y="71438"/>
                  <a:pt x="40407" y="69466"/>
                  <a:pt x="38212" y="66154"/>
                </a:cubicBezTo>
                <a:lnTo>
                  <a:pt x="8706" y="21915"/>
                </a:lnTo>
                <a:cubicBezTo>
                  <a:pt x="7144" y="19571"/>
                  <a:pt x="7441" y="16408"/>
                  <a:pt x="9451" y="14399"/>
                </a:cubicBezTo>
                <a:lnTo>
                  <a:pt x="26343" y="-2493"/>
                </a:lnTo>
                <a:cubicBezTo>
                  <a:pt x="28352" y="-4502"/>
                  <a:pt x="31477" y="-4800"/>
                  <a:pt x="33858" y="-3237"/>
                </a:cubicBezTo>
                <a:lnTo>
                  <a:pt x="78098" y="26231"/>
                </a:lnTo>
                <a:cubicBezTo>
                  <a:pt x="81409" y="28426"/>
                  <a:pt x="83381" y="32147"/>
                  <a:pt x="83381" y="36128"/>
                </a:cubicBezTo>
                <a:close/>
                <a:moveTo>
                  <a:pt x="80218" y="110356"/>
                </a:moveTo>
                <a:cubicBezTo>
                  <a:pt x="77874" y="124123"/>
                  <a:pt x="81111" y="138671"/>
                  <a:pt x="90041" y="150316"/>
                </a:cubicBezTo>
                <a:lnTo>
                  <a:pt x="54694" y="185626"/>
                </a:lnTo>
                <a:cubicBezTo>
                  <a:pt x="44239" y="196081"/>
                  <a:pt x="27273" y="196081"/>
                  <a:pt x="16818" y="185626"/>
                </a:cubicBezTo>
                <a:cubicBezTo>
                  <a:pt x="6362" y="175171"/>
                  <a:pt x="6362" y="158204"/>
                  <a:pt x="16818" y="147749"/>
                </a:cubicBezTo>
                <a:lnTo>
                  <a:pt x="67196" y="97371"/>
                </a:lnTo>
                <a:lnTo>
                  <a:pt x="80218" y="110393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43" name="Text 41"/>
          <p:cNvSpPr/>
          <p:nvPr/>
        </p:nvSpPr>
        <p:spPr>
          <a:xfrm>
            <a:off x="8563515" y="1530739"/>
            <a:ext cx="3143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 Stack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8325390" y="1949704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B89A6A">
              <a:alpha val="20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439690" y="2063937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85785" y="0"/>
                </a:moveTo>
                <a:cubicBezTo>
                  <a:pt x="85785" y="-5269"/>
                  <a:pt x="81528" y="-9525"/>
                  <a:pt x="76260" y="-9525"/>
                </a:cubicBezTo>
                <a:cubicBezTo>
                  <a:pt x="70991" y="-9525"/>
                  <a:pt x="66735" y="-5269"/>
                  <a:pt x="66735" y="0"/>
                </a:cubicBezTo>
                <a:lnTo>
                  <a:pt x="66735" y="18484"/>
                </a:lnTo>
                <a:lnTo>
                  <a:pt x="62270" y="14020"/>
                </a:lnTo>
                <a:cubicBezTo>
                  <a:pt x="59472" y="11222"/>
                  <a:pt x="54947" y="11222"/>
                  <a:pt x="52179" y="14020"/>
                </a:cubicBezTo>
                <a:cubicBezTo>
                  <a:pt x="49411" y="16818"/>
                  <a:pt x="49381" y="21342"/>
                  <a:pt x="52179" y="24110"/>
                </a:cubicBezTo>
                <a:lnTo>
                  <a:pt x="66764" y="38695"/>
                </a:lnTo>
                <a:lnTo>
                  <a:pt x="66764" y="59710"/>
                </a:lnTo>
                <a:lnTo>
                  <a:pt x="48548" y="49203"/>
                </a:lnTo>
                <a:lnTo>
                  <a:pt x="43220" y="29289"/>
                </a:lnTo>
                <a:cubicBezTo>
                  <a:pt x="42208" y="25479"/>
                  <a:pt x="38279" y="23217"/>
                  <a:pt x="34469" y="24229"/>
                </a:cubicBezTo>
                <a:cubicBezTo>
                  <a:pt x="30659" y="25241"/>
                  <a:pt x="28367" y="29170"/>
                  <a:pt x="29379" y="32980"/>
                </a:cubicBezTo>
                <a:lnTo>
                  <a:pt x="31016" y="39082"/>
                </a:lnTo>
                <a:lnTo>
                  <a:pt x="15032" y="29855"/>
                </a:lnTo>
                <a:cubicBezTo>
                  <a:pt x="10478" y="27236"/>
                  <a:pt x="4643" y="28783"/>
                  <a:pt x="2024" y="33338"/>
                </a:cubicBezTo>
                <a:cubicBezTo>
                  <a:pt x="-595" y="37892"/>
                  <a:pt x="952" y="43726"/>
                  <a:pt x="5507" y="46345"/>
                </a:cubicBezTo>
                <a:lnTo>
                  <a:pt x="21491" y="55572"/>
                </a:lnTo>
                <a:lnTo>
                  <a:pt x="15389" y="57210"/>
                </a:lnTo>
                <a:cubicBezTo>
                  <a:pt x="11579" y="58222"/>
                  <a:pt x="9317" y="62151"/>
                  <a:pt x="10329" y="65961"/>
                </a:cubicBezTo>
                <a:cubicBezTo>
                  <a:pt x="11341" y="69771"/>
                  <a:pt x="15270" y="72033"/>
                  <a:pt x="19080" y="71021"/>
                </a:cubicBezTo>
                <a:lnTo>
                  <a:pt x="38993" y="65693"/>
                </a:lnTo>
                <a:lnTo>
                  <a:pt x="57210" y="76200"/>
                </a:lnTo>
                <a:lnTo>
                  <a:pt x="38993" y="86707"/>
                </a:lnTo>
                <a:lnTo>
                  <a:pt x="19080" y="81379"/>
                </a:lnTo>
                <a:cubicBezTo>
                  <a:pt x="15270" y="80367"/>
                  <a:pt x="11341" y="82629"/>
                  <a:pt x="10329" y="86439"/>
                </a:cubicBezTo>
                <a:cubicBezTo>
                  <a:pt x="9317" y="90249"/>
                  <a:pt x="11579" y="94178"/>
                  <a:pt x="15389" y="95190"/>
                </a:cubicBezTo>
                <a:lnTo>
                  <a:pt x="21491" y="96828"/>
                </a:lnTo>
                <a:lnTo>
                  <a:pt x="5507" y="106055"/>
                </a:lnTo>
                <a:cubicBezTo>
                  <a:pt x="953" y="108674"/>
                  <a:pt x="-595" y="114508"/>
                  <a:pt x="2024" y="119062"/>
                </a:cubicBezTo>
                <a:cubicBezTo>
                  <a:pt x="4643" y="123617"/>
                  <a:pt x="10477" y="125194"/>
                  <a:pt x="15032" y="122545"/>
                </a:cubicBezTo>
                <a:lnTo>
                  <a:pt x="31016" y="113318"/>
                </a:lnTo>
                <a:lnTo>
                  <a:pt x="29379" y="119420"/>
                </a:lnTo>
                <a:cubicBezTo>
                  <a:pt x="28367" y="123230"/>
                  <a:pt x="30629" y="127159"/>
                  <a:pt x="34439" y="128171"/>
                </a:cubicBezTo>
                <a:cubicBezTo>
                  <a:pt x="38249" y="129183"/>
                  <a:pt x="42178" y="126921"/>
                  <a:pt x="43190" y="123111"/>
                </a:cubicBezTo>
                <a:lnTo>
                  <a:pt x="48518" y="103197"/>
                </a:lnTo>
                <a:lnTo>
                  <a:pt x="66735" y="92690"/>
                </a:lnTo>
                <a:lnTo>
                  <a:pt x="66735" y="113705"/>
                </a:lnTo>
                <a:lnTo>
                  <a:pt x="52149" y="128290"/>
                </a:lnTo>
                <a:cubicBezTo>
                  <a:pt x="49351" y="131088"/>
                  <a:pt x="49351" y="135612"/>
                  <a:pt x="52149" y="138380"/>
                </a:cubicBezTo>
                <a:cubicBezTo>
                  <a:pt x="54947" y="141149"/>
                  <a:pt x="59472" y="141178"/>
                  <a:pt x="62240" y="138380"/>
                </a:cubicBezTo>
                <a:lnTo>
                  <a:pt x="66705" y="133916"/>
                </a:lnTo>
                <a:lnTo>
                  <a:pt x="66705" y="152400"/>
                </a:lnTo>
                <a:cubicBezTo>
                  <a:pt x="66705" y="157669"/>
                  <a:pt x="70961" y="161925"/>
                  <a:pt x="76230" y="161925"/>
                </a:cubicBezTo>
                <a:cubicBezTo>
                  <a:pt x="81498" y="161925"/>
                  <a:pt x="85755" y="157669"/>
                  <a:pt x="85755" y="152400"/>
                </a:cubicBezTo>
                <a:lnTo>
                  <a:pt x="85755" y="133916"/>
                </a:lnTo>
                <a:lnTo>
                  <a:pt x="90220" y="138380"/>
                </a:lnTo>
                <a:cubicBezTo>
                  <a:pt x="93018" y="141178"/>
                  <a:pt x="97542" y="141178"/>
                  <a:pt x="100310" y="138380"/>
                </a:cubicBezTo>
                <a:cubicBezTo>
                  <a:pt x="103078" y="135582"/>
                  <a:pt x="103108" y="131058"/>
                  <a:pt x="100310" y="128290"/>
                </a:cubicBezTo>
                <a:lnTo>
                  <a:pt x="85725" y="113705"/>
                </a:lnTo>
                <a:lnTo>
                  <a:pt x="85725" y="92690"/>
                </a:lnTo>
                <a:lnTo>
                  <a:pt x="103942" y="103197"/>
                </a:lnTo>
                <a:lnTo>
                  <a:pt x="109270" y="123111"/>
                </a:lnTo>
                <a:cubicBezTo>
                  <a:pt x="110282" y="126921"/>
                  <a:pt x="114211" y="129183"/>
                  <a:pt x="118021" y="128171"/>
                </a:cubicBezTo>
                <a:cubicBezTo>
                  <a:pt x="121831" y="127159"/>
                  <a:pt x="124093" y="123230"/>
                  <a:pt x="123081" y="119420"/>
                </a:cubicBezTo>
                <a:lnTo>
                  <a:pt x="121444" y="113318"/>
                </a:lnTo>
                <a:lnTo>
                  <a:pt x="137428" y="122545"/>
                </a:lnTo>
                <a:cubicBezTo>
                  <a:pt x="141982" y="125164"/>
                  <a:pt x="147816" y="123617"/>
                  <a:pt x="150435" y="119062"/>
                </a:cubicBezTo>
                <a:cubicBezTo>
                  <a:pt x="153055" y="114508"/>
                  <a:pt x="151507" y="108674"/>
                  <a:pt x="146953" y="106055"/>
                </a:cubicBezTo>
                <a:lnTo>
                  <a:pt x="130969" y="96828"/>
                </a:lnTo>
                <a:lnTo>
                  <a:pt x="137071" y="95190"/>
                </a:lnTo>
                <a:cubicBezTo>
                  <a:pt x="140881" y="94178"/>
                  <a:pt x="143143" y="90249"/>
                  <a:pt x="142131" y="86439"/>
                </a:cubicBezTo>
                <a:cubicBezTo>
                  <a:pt x="141119" y="82629"/>
                  <a:pt x="137190" y="80367"/>
                  <a:pt x="133380" y="81379"/>
                </a:cubicBezTo>
                <a:lnTo>
                  <a:pt x="113467" y="86707"/>
                </a:lnTo>
                <a:lnTo>
                  <a:pt x="95250" y="76200"/>
                </a:lnTo>
                <a:lnTo>
                  <a:pt x="113467" y="65693"/>
                </a:lnTo>
                <a:lnTo>
                  <a:pt x="133380" y="71021"/>
                </a:lnTo>
                <a:cubicBezTo>
                  <a:pt x="137190" y="72033"/>
                  <a:pt x="141119" y="69771"/>
                  <a:pt x="142131" y="65961"/>
                </a:cubicBezTo>
                <a:cubicBezTo>
                  <a:pt x="143143" y="62151"/>
                  <a:pt x="140881" y="58222"/>
                  <a:pt x="137071" y="57210"/>
                </a:cubicBezTo>
                <a:lnTo>
                  <a:pt x="130969" y="55572"/>
                </a:lnTo>
                <a:lnTo>
                  <a:pt x="146953" y="46345"/>
                </a:lnTo>
                <a:cubicBezTo>
                  <a:pt x="151507" y="43726"/>
                  <a:pt x="153085" y="37892"/>
                  <a:pt x="150435" y="33337"/>
                </a:cubicBezTo>
                <a:cubicBezTo>
                  <a:pt x="147786" y="28783"/>
                  <a:pt x="141982" y="27236"/>
                  <a:pt x="137428" y="29855"/>
                </a:cubicBezTo>
                <a:lnTo>
                  <a:pt x="121444" y="39082"/>
                </a:lnTo>
                <a:lnTo>
                  <a:pt x="123081" y="32980"/>
                </a:lnTo>
                <a:cubicBezTo>
                  <a:pt x="124093" y="29170"/>
                  <a:pt x="121831" y="25241"/>
                  <a:pt x="118021" y="24229"/>
                </a:cubicBezTo>
                <a:cubicBezTo>
                  <a:pt x="114211" y="23217"/>
                  <a:pt x="110282" y="25479"/>
                  <a:pt x="109270" y="29289"/>
                </a:cubicBezTo>
                <a:lnTo>
                  <a:pt x="103942" y="49203"/>
                </a:lnTo>
                <a:lnTo>
                  <a:pt x="85725" y="59710"/>
                </a:lnTo>
                <a:lnTo>
                  <a:pt x="85725" y="38695"/>
                </a:lnTo>
                <a:lnTo>
                  <a:pt x="100310" y="24110"/>
                </a:lnTo>
                <a:cubicBezTo>
                  <a:pt x="103108" y="21312"/>
                  <a:pt x="103108" y="16788"/>
                  <a:pt x="100310" y="14020"/>
                </a:cubicBezTo>
                <a:cubicBezTo>
                  <a:pt x="97512" y="11251"/>
                  <a:pt x="92988" y="11222"/>
                  <a:pt x="90220" y="14020"/>
                </a:cubicBezTo>
                <a:lnTo>
                  <a:pt x="85755" y="18484"/>
                </a:lnTo>
                <a:lnTo>
                  <a:pt x="85755" y="0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46" name="Text 44"/>
          <p:cNvSpPr/>
          <p:nvPr/>
        </p:nvSpPr>
        <p:spPr>
          <a:xfrm>
            <a:off x="8820509" y="1949704"/>
            <a:ext cx="12287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Snowflake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820509" y="2178282"/>
            <a:ext cx="12096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warehouse &amp; SQL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8325390" y="2444937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B89A6A">
              <a:alpha val="2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439690" y="255916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9525" y="9525"/>
                </a:moveTo>
                <a:cubicBezTo>
                  <a:pt x="14794" y="9525"/>
                  <a:pt x="19050" y="13781"/>
                  <a:pt x="19050" y="19050"/>
                </a:cubicBezTo>
                <a:lnTo>
                  <a:pt x="19050" y="119062"/>
                </a:lnTo>
                <a:cubicBezTo>
                  <a:pt x="19050" y="121682"/>
                  <a:pt x="21193" y="123825"/>
                  <a:pt x="23813" y="123825"/>
                </a:cubicBezTo>
                <a:lnTo>
                  <a:pt x="142875" y="123825"/>
                </a:lnTo>
                <a:cubicBezTo>
                  <a:pt x="148144" y="123825"/>
                  <a:pt x="152400" y="128081"/>
                  <a:pt x="152400" y="133350"/>
                </a:cubicBezTo>
                <a:cubicBezTo>
                  <a:pt x="152400" y="138619"/>
                  <a:pt x="148144" y="142875"/>
                  <a:pt x="142875" y="142875"/>
                </a:cubicBezTo>
                <a:lnTo>
                  <a:pt x="23813" y="142875"/>
                </a:lnTo>
                <a:cubicBezTo>
                  <a:pt x="10656" y="142875"/>
                  <a:pt x="0" y="132219"/>
                  <a:pt x="0" y="119062"/>
                </a:cubicBezTo>
                <a:lnTo>
                  <a:pt x="0" y="19050"/>
                </a:lnTo>
                <a:cubicBezTo>
                  <a:pt x="0" y="13781"/>
                  <a:pt x="4256" y="9525"/>
                  <a:pt x="9525" y="9525"/>
                </a:cubicBezTo>
                <a:close/>
                <a:moveTo>
                  <a:pt x="38100" y="28575"/>
                </a:moveTo>
                <a:cubicBezTo>
                  <a:pt x="38100" y="23306"/>
                  <a:pt x="42356" y="19050"/>
                  <a:pt x="47625" y="19050"/>
                </a:cubicBezTo>
                <a:lnTo>
                  <a:pt x="104775" y="19050"/>
                </a:lnTo>
                <a:cubicBezTo>
                  <a:pt x="110044" y="19050"/>
                  <a:pt x="114300" y="23306"/>
                  <a:pt x="114300" y="28575"/>
                </a:cubicBezTo>
                <a:cubicBezTo>
                  <a:pt x="114300" y="33844"/>
                  <a:pt x="110044" y="38100"/>
                  <a:pt x="104775" y="38100"/>
                </a:cubicBezTo>
                <a:lnTo>
                  <a:pt x="47625" y="38100"/>
                </a:lnTo>
                <a:cubicBezTo>
                  <a:pt x="42356" y="38100"/>
                  <a:pt x="38100" y="33844"/>
                  <a:pt x="38100" y="28575"/>
                </a:cubicBezTo>
                <a:close/>
                <a:moveTo>
                  <a:pt x="47625" y="52388"/>
                </a:moveTo>
                <a:lnTo>
                  <a:pt x="85725" y="52388"/>
                </a:lnTo>
                <a:cubicBezTo>
                  <a:pt x="90994" y="52388"/>
                  <a:pt x="95250" y="56644"/>
                  <a:pt x="95250" y="61912"/>
                </a:cubicBezTo>
                <a:cubicBezTo>
                  <a:pt x="95250" y="67181"/>
                  <a:pt x="90994" y="71438"/>
                  <a:pt x="85725" y="71438"/>
                </a:cubicBezTo>
                <a:lnTo>
                  <a:pt x="47625" y="71438"/>
                </a:lnTo>
                <a:cubicBezTo>
                  <a:pt x="42356" y="71438"/>
                  <a:pt x="38100" y="67181"/>
                  <a:pt x="38100" y="61912"/>
                </a:cubicBezTo>
                <a:cubicBezTo>
                  <a:pt x="38100" y="56644"/>
                  <a:pt x="42356" y="52388"/>
                  <a:pt x="47625" y="52388"/>
                </a:cubicBezTo>
                <a:close/>
                <a:moveTo>
                  <a:pt x="47625" y="85725"/>
                </a:moveTo>
                <a:lnTo>
                  <a:pt x="123825" y="85725"/>
                </a:lnTo>
                <a:cubicBezTo>
                  <a:pt x="129094" y="85725"/>
                  <a:pt x="133350" y="89981"/>
                  <a:pt x="133350" y="95250"/>
                </a:cubicBezTo>
                <a:cubicBezTo>
                  <a:pt x="133350" y="100519"/>
                  <a:pt x="129094" y="104775"/>
                  <a:pt x="123825" y="104775"/>
                </a:cubicBezTo>
                <a:lnTo>
                  <a:pt x="47625" y="104775"/>
                </a:lnTo>
                <a:cubicBezTo>
                  <a:pt x="42356" y="104775"/>
                  <a:pt x="38100" y="100519"/>
                  <a:pt x="38100" y="95250"/>
                </a:cubicBezTo>
                <a:cubicBezTo>
                  <a:pt x="38100" y="89981"/>
                  <a:pt x="42356" y="85725"/>
                  <a:pt x="47625" y="85725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50" name="Text 48"/>
          <p:cNvSpPr/>
          <p:nvPr/>
        </p:nvSpPr>
        <p:spPr>
          <a:xfrm>
            <a:off x="8820509" y="2444937"/>
            <a:ext cx="1057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Power BI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8820509" y="2673515"/>
            <a:ext cx="10382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Visualization &amp; DAX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8325390" y="294016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B89A6A">
              <a:alpha val="20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420640" y="3054402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04775" y="0"/>
                </a:moveTo>
                <a:cubicBezTo>
                  <a:pt x="104775" y="-5269"/>
                  <a:pt x="100519" y="-9525"/>
                  <a:pt x="95250" y="-9525"/>
                </a:cubicBezTo>
                <a:cubicBezTo>
                  <a:pt x="89981" y="-9525"/>
                  <a:pt x="85725" y="-5269"/>
                  <a:pt x="85725" y="0"/>
                </a:cubicBezTo>
                <a:lnTo>
                  <a:pt x="85725" y="19050"/>
                </a:lnTo>
                <a:lnTo>
                  <a:pt x="57150" y="19050"/>
                </a:lnTo>
                <a:cubicBezTo>
                  <a:pt x="41374" y="19050"/>
                  <a:pt x="28575" y="31849"/>
                  <a:pt x="28575" y="47625"/>
                </a:cubicBezTo>
                <a:lnTo>
                  <a:pt x="28575" y="114300"/>
                </a:lnTo>
                <a:cubicBezTo>
                  <a:pt x="28575" y="130076"/>
                  <a:pt x="41374" y="142875"/>
                  <a:pt x="57150" y="142875"/>
                </a:cubicBezTo>
                <a:lnTo>
                  <a:pt x="133350" y="142875"/>
                </a:lnTo>
                <a:cubicBezTo>
                  <a:pt x="149126" y="142875"/>
                  <a:pt x="161925" y="130076"/>
                  <a:pt x="161925" y="114300"/>
                </a:cubicBezTo>
                <a:lnTo>
                  <a:pt x="161925" y="47625"/>
                </a:lnTo>
                <a:cubicBezTo>
                  <a:pt x="161925" y="31849"/>
                  <a:pt x="149126" y="19050"/>
                  <a:pt x="133350" y="19050"/>
                </a:cubicBezTo>
                <a:lnTo>
                  <a:pt x="104775" y="19050"/>
                </a:lnTo>
                <a:lnTo>
                  <a:pt x="104775" y="0"/>
                </a:lnTo>
                <a:close/>
                <a:moveTo>
                  <a:pt x="47625" y="109537"/>
                </a:moveTo>
                <a:cubicBezTo>
                  <a:pt x="47625" y="105579"/>
                  <a:pt x="50810" y="102394"/>
                  <a:pt x="54769" y="102394"/>
                </a:cubicBezTo>
                <a:lnTo>
                  <a:pt x="64294" y="102394"/>
                </a:lnTo>
                <a:cubicBezTo>
                  <a:pt x="68253" y="102394"/>
                  <a:pt x="71438" y="105579"/>
                  <a:pt x="71438" y="109537"/>
                </a:cubicBezTo>
                <a:cubicBezTo>
                  <a:pt x="71438" y="113496"/>
                  <a:pt x="68253" y="116681"/>
                  <a:pt x="64294" y="116681"/>
                </a:cubicBezTo>
                <a:lnTo>
                  <a:pt x="54769" y="116681"/>
                </a:lnTo>
                <a:cubicBezTo>
                  <a:pt x="50810" y="116681"/>
                  <a:pt x="47625" y="113496"/>
                  <a:pt x="47625" y="109537"/>
                </a:cubicBezTo>
                <a:close/>
                <a:moveTo>
                  <a:pt x="83344" y="109537"/>
                </a:moveTo>
                <a:cubicBezTo>
                  <a:pt x="83344" y="105579"/>
                  <a:pt x="86529" y="102394"/>
                  <a:pt x="90488" y="102394"/>
                </a:cubicBezTo>
                <a:lnTo>
                  <a:pt x="100013" y="102394"/>
                </a:lnTo>
                <a:cubicBezTo>
                  <a:pt x="103971" y="102394"/>
                  <a:pt x="107156" y="105579"/>
                  <a:pt x="107156" y="109537"/>
                </a:cubicBezTo>
                <a:cubicBezTo>
                  <a:pt x="107156" y="113496"/>
                  <a:pt x="103971" y="116681"/>
                  <a:pt x="100013" y="116681"/>
                </a:cubicBezTo>
                <a:lnTo>
                  <a:pt x="90488" y="116681"/>
                </a:lnTo>
                <a:cubicBezTo>
                  <a:pt x="86529" y="116681"/>
                  <a:pt x="83344" y="113496"/>
                  <a:pt x="83344" y="109537"/>
                </a:cubicBezTo>
                <a:close/>
                <a:moveTo>
                  <a:pt x="119062" y="109537"/>
                </a:moveTo>
                <a:cubicBezTo>
                  <a:pt x="119062" y="105579"/>
                  <a:pt x="122247" y="102394"/>
                  <a:pt x="126206" y="102394"/>
                </a:cubicBezTo>
                <a:lnTo>
                  <a:pt x="135731" y="102394"/>
                </a:lnTo>
                <a:cubicBezTo>
                  <a:pt x="139690" y="102394"/>
                  <a:pt x="142875" y="105579"/>
                  <a:pt x="142875" y="109537"/>
                </a:cubicBezTo>
                <a:cubicBezTo>
                  <a:pt x="142875" y="113496"/>
                  <a:pt x="139690" y="116681"/>
                  <a:pt x="135731" y="116681"/>
                </a:cubicBezTo>
                <a:lnTo>
                  <a:pt x="126206" y="116681"/>
                </a:lnTo>
                <a:cubicBezTo>
                  <a:pt x="122247" y="116681"/>
                  <a:pt x="119062" y="113496"/>
                  <a:pt x="119062" y="109537"/>
                </a:cubicBezTo>
                <a:close/>
                <a:moveTo>
                  <a:pt x="66675" y="52388"/>
                </a:moveTo>
                <a:cubicBezTo>
                  <a:pt x="74560" y="52388"/>
                  <a:pt x="80962" y="58790"/>
                  <a:pt x="80962" y="66675"/>
                </a:cubicBezTo>
                <a:cubicBezTo>
                  <a:pt x="80962" y="74560"/>
                  <a:pt x="74560" y="80962"/>
                  <a:pt x="66675" y="80962"/>
                </a:cubicBezTo>
                <a:cubicBezTo>
                  <a:pt x="58790" y="80962"/>
                  <a:pt x="52388" y="74560"/>
                  <a:pt x="52388" y="66675"/>
                </a:cubicBezTo>
                <a:cubicBezTo>
                  <a:pt x="52388" y="58790"/>
                  <a:pt x="58790" y="52388"/>
                  <a:pt x="66675" y="52388"/>
                </a:cubicBezTo>
                <a:close/>
                <a:moveTo>
                  <a:pt x="109537" y="66675"/>
                </a:moveTo>
                <a:cubicBezTo>
                  <a:pt x="109537" y="58790"/>
                  <a:pt x="115940" y="52388"/>
                  <a:pt x="123825" y="52388"/>
                </a:cubicBezTo>
                <a:cubicBezTo>
                  <a:pt x="131710" y="52388"/>
                  <a:pt x="138113" y="58790"/>
                  <a:pt x="138113" y="66675"/>
                </a:cubicBezTo>
                <a:cubicBezTo>
                  <a:pt x="138113" y="74560"/>
                  <a:pt x="131710" y="80962"/>
                  <a:pt x="123825" y="80962"/>
                </a:cubicBezTo>
                <a:cubicBezTo>
                  <a:pt x="115940" y="80962"/>
                  <a:pt x="109537" y="74560"/>
                  <a:pt x="109537" y="66675"/>
                </a:cubicBezTo>
                <a:close/>
                <a:moveTo>
                  <a:pt x="19050" y="66675"/>
                </a:moveTo>
                <a:cubicBezTo>
                  <a:pt x="19050" y="61406"/>
                  <a:pt x="14794" y="57150"/>
                  <a:pt x="9525" y="57150"/>
                </a:cubicBezTo>
                <a:cubicBezTo>
                  <a:pt x="4256" y="57150"/>
                  <a:pt x="0" y="61406"/>
                  <a:pt x="0" y="66675"/>
                </a:cubicBezTo>
                <a:lnTo>
                  <a:pt x="0" y="95250"/>
                </a:lnTo>
                <a:cubicBezTo>
                  <a:pt x="0" y="100519"/>
                  <a:pt x="4256" y="104775"/>
                  <a:pt x="9525" y="104775"/>
                </a:cubicBezTo>
                <a:cubicBezTo>
                  <a:pt x="14794" y="104775"/>
                  <a:pt x="19050" y="100519"/>
                  <a:pt x="19050" y="95250"/>
                </a:cubicBezTo>
                <a:lnTo>
                  <a:pt x="19050" y="66675"/>
                </a:lnTo>
                <a:close/>
                <a:moveTo>
                  <a:pt x="180975" y="57150"/>
                </a:moveTo>
                <a:cubicBezTo>
                  <a:pt x="175706" y="57150"/>
                  <a:pt x="171450" y="61406"/>
                  <a:pt x="171450" y="66675"/>
                </a:cubicBezTo>
                <a:lnTo>
                  <a:pt x="171450" y="95250"/>
                </a:lnTo>
                <a:cubicBezTo>
                  <a:pt x="171450" y="100519"/>
                  <a:pt x="175706" y="104775"/>
                  <a:pt x="180975" y="104775"/>
                </a:cubicBezTo>
                <a:cubicBezTo>
                  <a:pt x="186244" y="104775"/>
                  <a:pt x="190500" y="100519"/>
                  <a:pt x="190500" y="95250"/>
                </a:cubicBezTo>
                <a:lnTo>
                  <a:pt x="190500" y="66675"/>
                </a:lnTo>
                <a:cubicBezTo>
                  <a:pt x="190500" y="61406"/>
                  <a:pt x="186244" y="57150"/>
                  <a:pt x="180975" y="57150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54" name="Text 52"/>
          <p:cNvSpPr/>
          <p:nvPr/>
        </p:nvSpPr>
        <p:spPr>
          <a:xfrm>
            <a:off x="8820509" y="2940169"/>
            <a:ext cx="1104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Julius AI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820509" y="3168747"/>
            <a:ext cx="1085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AI-powered analysis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8127813" y="3671056"/>
            <a:ext cx="3686175" cy="2809875"/>
          </a:xfrm>
          <a:custGeom>
            <a:avLst/>
            <a:gdLst/>
            <a:ahLst/>
            <a:cxnLst/>
            <a:rect l="l" t="t" r="r" b="b"/>
            <a:pathLst>
              <a:path w="3686175" h="2809875">
                <a:moveTo>
                  <a:pt x="38102" y="0"/>
                </a:moveTo>
                <a:lnTo>
                  <a:pt x="3648073" y="0"/>
                </a:lnTo>
                <a:cubicBezTo>
                  <a:pt x="3669116" y="0"/>
                  <a:pt x="3686175" y="17059"/>
                  <a:pt x="3686175" y="38102"/>
                </a:cubicBezTo>
                <a:lnTo>
                  <a:pt x="3686175" y="2771773"/>
                </a:lnTo>
                <a:cubicBezTo>
                  <a:pt x="3686175" y="2792816"/>
                  <a:pt x="3669116" y="2809875"/>
                  <a:pt x="3648073" y="2809875"/>
                </a:cubicBezTo>
                <a:lnTo>
                  <a:pt x="38102" y="2809875"/>
                </a:lnTo>
                <a:cubicBezTo>
                  <a:pt x="17059" y="2809875"/>
                  <a:pt x="0" y="2792816"/>
                  <a:pt x="0" y="2771773"/>
                </a:cubicBezTo>
                <a:lnTo>
                  <a:pt x="0" y="38102"/>
                </a:lnTo>
                <a:cubicBezTo>
                  <a:pt x="0" y="17073"/>
                  <a:pt x="17073" y="0"/>
                  <a:pt x="38102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326535" y="3908957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120819" y="402"/>
                </a:moveTo>
                <a:cubicBezTo>
                  <a:pt x="115126" y="-1239"/>
                  <a:pt x="109199" y="2076"/>
                  <a:pt x="107558" y="7769"/>
                </a:cubicBezTo>
                <a:lnTo>
                  <a:pt x="64696" y="157788"/>
                </a:lnTo>
                <a:cubicBezTo>
                  <a:pt x="63055" y="163480"/>
                  <a:pt x="66370" y="169407"/>
                  <a:pt x="72063" y="171048"/>
                </a:cubicBezTo>
                <a:cubicBezTo>
                  <a:pt x="77755" y="172689"/>
                  <a:pt x="83682" y="169374"/>
                  <a:pt x="85323" y="163681"/>
                </a:cubicBezTo>
                <a:lnTo>
                  <a:pt x="128186" y="13662"/>
                </a:lnTo>
                <a:cubicBezTo>
                  <a:pt x="129826" y="7970"/>
                  <a:pt x="126511" y="2043"/>
                  <a:pt x="120819" y="402"/>
                </a:cubicBezTo>
                <a:close/>
                <a:moveTo>
                  <a:pt x="142451" y="45977"/>
                </a:moveTo>
                <a:cubicBezTo>
                  <a:pt x="138265" y="50163"/>
                  <a:pt x="138265" y="56960"/>
                  <a:pt x="142451" y="61146"/>
                </a:cubicBezTo>
                <a:lnTo>
                  <a:pt x="167030" y="85725"/>
                </a:lnTo>
                <a:lnTo>
                  <a:pt x="142451" y="110304"/>
                </a:lnTo>
                <a:cubicBezTo>
                  <a:pt x="138265" y="114490"/>
                  <a:pt x="138265" y="121287"/>
                  <a:pt x="142451" y="125473"/>
                </a:cubicBezTo>
                <a:cubicBezTo>
                  <a:pt x="146637" y="129659"/>
                  <a:pt x="153434" y="129659"/>
                  <a:pt x="157620" y="125473"/>
                </a:cubicBezTo>
                <a:lnTo>
                  <a:pt x="189767" y="93326"/>
                </a:lnTo>
                <a:cubicBezTo>
                  <a:pt x="193953" y="89141"/>
                  <a:pt x="193953" y="82343"/>
                  <a:pt x="189767" y="78157"/>
                </a:cubicBezTo>
                <a:lnTo>
                  <a:pt x="157620" y="46010"/>
                </a:lnTo>
                <a:cubicBezTo>
                  <a:pt x="153434" y="41824"/>
                  <a:pt x="146637" y="41824"/>
                  <a:pt x="142451" y="46010"/>
                </a:cubicBezTo>
                <a:close/>
                <a:moveTo>
                  <a:pt x="50464" y="45977"/>
                </a:moveTo>
                <a:cubicBezTo>
                  <a:pt x="46278" y="41791"/>
                  <a:pt x="39480" y="41791"/>
                  <a:pt x="35295" y="45977"/>
                </a:cubicBezTo>
                <a:lnTo>
                  <a:pt x="3148" y="78124"/>
                </a:lnTo>
                <a:cubicBezTo>
                  <a:pt x="-1038" y="82309"/>
                  <a:pt x="-1038" y="89107"/>
                  <a:pt x="3148" y="93293"/>
                </a:cubicBezTo>
                <a:lnTo>
                  <a:pt x="35295" y="125440"/>
                </a:lnTo>
                <a:cubicBezTo>
                  <a:pt x="39480" y="129626"/>
                  <a:pt x="46278" y="129626"/>
                  <a:pt x="50464" y="125440"/>
                </a:cubicBezTo>
                <a:cubicBezTo>
                  <a:pt x="54650" y="121254"/>
                  <a:pt x="54650" y="114456"/>
                  <a:pt x="50464" y="110270"/>
                </a:cubicBezTo>
                <a:lnTo>
                  <a:pt x="25885" y="85725"/>
                </a:lnTo>
                <a:lnTo>
                  <a:pt x="50430" y="61146"/>
                </a:lnTo>
                <a:cubicBezTo>
                  <a:pt x="54616" y="56960"/>
                  <a:pt x="54616" y="50163"/>
                  <a:pt x="50430" y="45977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58" name="Text 56"/>
          <p:cNvSpPr/>
          <p:nvPr/>
        </p:nvSpPr>
        <p:spPr>
          <a:xfrm>
            <a:off x="8527750" y="3861443"/>
            <a:ext cx="3181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 Capabilities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8337250" y="427075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60" name="Text 58"/>
          <p:cNvSpPr/>
          <p:nvPr/>
        </p:nvSpPr>
        <p:spPr>
          <a:xfrm>
            <a:off x="8561043" y="4242219"/>
            <a:ext cx="1419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Skill demand frequency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8337250" y="4537292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62" name="Text 60"/>
          <p:cNvSpPr/>
          <p:nvPr/>
        </p:nvSpPr>
        <p:spPr>
          <a:xfrm>
            <a:off x="8561043" y="4508762"/>
            <a:ext cx="1104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Skill combinations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337250" y="480383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64" name="Text 62"/>
          <p:cNvSpPr/>
          <p:nvPr/>
        </p:nvSpPr>
        <p:spPr>
          <a:xfrm>
            <a:off x="8561043" y="4775304"/>
            <a:ext cx="9239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Skills vs. salary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8337250" y="5070377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66" name="Text 64"/>
          <p:cNvSpPr/>
          <p:nvPr/>
        </p:nvSpPr>
        <p:spPr>
          <a:xfrm>
            <a:off x="8561043" y="5041848"/>
            <a:ext cx="1047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Industry patterns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8337250" y="5336921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68" name="Text 66"/>
          <p:cNvSpPr/>
          <p:nvPr/>
        </p:nvSpPr>
        <p:spPr>
          <a:xfrm>
            <a:off x="8561043" y="5308390"/>
            <a:ext cx="1123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Geographic trends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0888" y="380888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spc="53" kern="0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MARKET LANDSCAPE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0888" y="64743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0E2E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Job Market Overview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4482" y="1298569"/>
            <a:ext cx="2731339" cy="1226389"/>
          </a:xfrm>
          <a:custGeom>
            <a:avLst/>
            <a:gdLst/>
            <a:ahLst/>
            <a:cxnLst/>
            <a:rect l="l" t="t" r="r" b="b"/>
            <a:pathLst>
              <a:path w="2731339" h="1226389">
                <a:moveTo>
                  <a:pt x="76196" y="0"/>
                </a:moveTo>
                <a:lnTo>
                  <a:pt x="2655143" y="0"/>
                </a:lnTo>
                <a:cubicBezTo>
                  <a:pt x="2697225" y="0"/>
                  <a:pt x="2731339" y="34114"/>
                  <a:pt x="2731339" y="76196"/>
                </a:cubicBezTo>
                <a:lnTo>
                  <a:pt x="2731339" y="1150193"/>
                </a:lnTo>
                <a:cubicBezTo>
                  <a:pt x="2731339" y="1192275"/>
                  <a:pt x="2697225" y="1226389"/>
                  <a:pt x="2655143" y="1226389"/>
                </a:cubicBezTo>
                <a:lnTo>
                  <a:pt x="76196" y="1226389"/>
                </a:lnTo>
                <a:cubicBezTo>
                  <a:pt x="34114" y="1226389"/>
                  <a:pt x="0" y="1192275"/>
                  <a:pt x="0" y="1150193"/>
                </a:cubicBezTo>
                <a:lnTo>
                  <a:pt x="0" y="76196"/>
                </a:lnTo>
                <a:cubicBezTo>
                  <a:pt x="0" y="34114"/>
                  <a:pt x="34114" y="0"/>
                  <a:pt x="76196" y="0"/>
                </a:cubicBezTo>
                <a:close/>
              </a:path>
            </a:pathLst>
          </a:custGeom>
          <a:gradFill rotWithShape="1" flip="none">
            <a:gsLst>
              <a:gs pos="0">
                <a:srgbClr val="3A5F7A">
                  <a:alpha val="30000"/>
                </a:srgbClr>
              </a:gs>
              <a:gs pos="100000">
                <a:srgbClr val="3A5F7A">
                  <a:alpha val="10000"/>
                </a:srgbClr>
              </a:gs>
            </a:gsLst>
            <a:lin ang="2700000" scaled="1"/>
          </a:gradFill>
          <a:ln w="9585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8961" y="145447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9297" y="21431"/>
                </a:moveTo>
                <a:lnTo>
                  <a:pt x="139303" y="21431"/>
                </a:lnTo>
                <a:cubicBezTo>
                  <a:pt x="141268" y="21431"/>
                  <a:pt x="142875" y="23039"/>
                  <a:pt x="142875" y="25003"/>
                </a:cubicBezTo>
                <a:lnTo>
                  <a:pt x="142875" y="42863"/>
                </a:lnTo>
                <a:lnTo>
                  <a:pt x="85725" y="42863"/>
                </a:lnTo>
                <a:lnTo>
                  <a:pt x="85725" y="25003"/>
                </a:lnTo>
                <a:cubicBezTo>
                  <a:pt x="85725" y="23039"/>
                  <a:pt x="87332" y="21431"/>
                  <a:pt x="89297" y="21431"/>
                </a:cubicBezTo>
                <a:close/>
                <a:moveTo>
                  <a:pt x="64294" y="25003"/>
                </a:moveTo>
                <a:lnTo>
                  <a:pt x="64294" y="42863"/>
                </a:lnTo>
                <a:lnTo>
                  <a:pt x="28575" y="42863"/>
                </a:lnTo>
                <a:cubicBezTo>
                  <a:pt x="12814" y="42863"/>
                  <a:pt x="0" y="55677"/>
                  <a:pt x="0" y="71438"/>
                </a:cubicBezTo>
                <a:lnTo>
                  <a:pt x="0" y="114300"/>
                </a:lnTo>
                <a:lnTo>
                  <a:pt x="228600" y="114300"/>
                </a:lnTo>
                <a:lnTo>
                  <a:pt x="228600" y="71438"/>
                </a:lnTo>
                <a:cubicBezTo>
                  <a:pt x="228600" y="55677"/>
                  <a:pt x="215786" y="42863"/>
                  <a:pt x="200025" y="42863"/>
                </a:cubicBezTo>
                <a:lnTo>
                  <a:pt x="164306" y="42863"/>
                </a:lnTo>
                <a:lnTo>
                  <a:pt x="164306" y="25003"/>
                </a:lnTo>
                <a:cubicBezTo>
                  <a:pt x="164306" y="11207"/>
                  <a:pt x="153099" y="0"/>
                  <a:pt x="139303" y="0"/>
                </a:cubicBezTo>
                <a:lnTo>
                  <a:pt x="89297" y="0"/>
                </a:lnTo>
                <a:cubicBezTo>
                  <a:pt x="75501" y="0"/>
                  <a:pt x="64294" y="11207"/>
                  <a:pt x="64294" y="25003"/>
                </a:cubicBezTo>
                <a:close/>
                <a:moveTo>
                  <a:pt x="228600" y="135731"/>
                </a:moveTo>
                <a:lnTo>
                  <a:pt x="142875" y="135731"/>
                </a:lnTo>
                <a:lnTo>
                  <a:pt x="142875" y="142875"/>
                </a:lnTo>
                <a:cubicBezTo>
                  <a:pt x="142875" y="150778"/>
                  <a:pt x="136490" y="157163"/>
                  <a:pt x="128588" y="157163"/>
                </a:cubicBezTo>
                <a:lnTo>
                  <a:pt x="100013" y="157163"/>
                </a:lnTo>
                <a:cubicBezTo>
                  <a:pt x="92110" y="157163"/>
                  <a:pt x="85725" y="150778"/>
                  <a:pt x="85725" y="142875"/>
                </a:cubicBezTo>
                <a:lnTo>
                  <a:pt x="85725" y="135731"/>
                </a:lnTo>
                <a:lnTo>
                  <a:pt x="0" y="135731"/>
                </a:lnTo>
                <a:lnTo>
                  <a:pt x="0" y="185738"/>
                </a:lnTo>
                <a:cubicBezTo>
                  <a:pt x="0" y="201498"/>
                  <a:pt x="12814" y="214313"/>
                  <a:pt x="28575" y="214313"/>
                </a:cubicBezTo>
                <a:lnTo>
                  <a:pt x="200025" y="214313"/>
                </a:lnTo>
                <a:cubicBezTo>
                  <a:pt x="215786" y="214313"/>
                  <a:pt x="228600" y="201498"/>
                  <a:pt x="228600" y="185738"/>
                </a:cubicBezTo>
                <a:lnTo>
                  <a:pt x="228600" y="135731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6" name="Shape 4"/>
          <p:cNvSpPr/>
          <p:nvPr/>
        </p:nvSpPr>
        <p:spPr>
          <a:xfrm>
            <a:off x="2567369" y="1454472"/>
            <a:ext cx="400050" cy="228600"/>
          </a:xfrm>
          <a:custGeom>
            <a:avLst/>
            <a:gdLst/>
            <a:ahLst/>
            <a:cxnLst/>
            <a:rect l="l" t="t" r="r" b="b"/>
            <a:pathLst>
              <a:path w="400050" h="228600">
                <a:moveTo>
                  <a:pt x="38101" y="0"/>
                </a:moveTo>
                <a:lnTo>
                  <a:pt x="361949" y="0"/>
                </a:lnTo>
                <a:cubicBezTo>
                  <a:pt x="382992" y="0"/>
                  <a:pt x="400050" y="17058"/>
                  <a:pt x="400050" y="38101"/>
                </a:cubicBezTo>
                <a:lnTo>
                  <a:pt x="400050" y="190499"/>
                </a:lnTo>
                <a:cubicBezTo>
                  <a:pt x="400050" y="211542"/>
                  <a:pt x="382992" y="228600"/>
                  <a:pt x="361949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2567369" y="1454472"/>
            <a:ext cx="457200" cy="2286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0386" y="1759207"/>
            <a:ext cx="26003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2,000+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0386" y="2178283"/>
            <a:ext cx="2495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Job Postings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80059" y="1298569"/>
            <a:ext cx="2731339" cy="1226389"/>
          </a:xfrm>
          <a:custGeom>
            <a:avLst/>
            <a:gdLst/>
            <a:ahLst/>
            <a:cxnLst/>
            <a:rect l="l" t="t" r="r" b="b"/>
            <a:pathLst>
              <a:path w="2731339" h="1226389">
                <a:moveTo>
                  <a:pt x="76196" y="0"/>
                </a:moveTo>
                <a:lnTo>
                  <a:pt x="2655143" y="0"/>
                </a:lnTo>
                <a:cubicBezTo>
                  <a:pt x="2697225" y="0"/>
                  <a:pt x="2731339" y="34114"/>
                  <a:pt x="2731339" y="76196"/>
                </a:cubicBezTo>
                <a:lnTo>
                  <a:pt x="2731339" y="1150193"/>
                </a:lnTo>
                <a:cubicBezTo>
                  <a:pt x="2731339" y="1192275"/>
                  <a:pt x="2697225" y="1226389"/>
                  <a:pt x="2655143" y="1226389"/>
                </a:cubicBezTo>
                <a:lnTo>
                  <a:pt x="76196" y="1226389"/>
                </a:lnTo>
                <a:cubicBezTo>
                  <a:pt x="34114" y="1226389"/>
                  <a:pt x="0" y="1192275"/>
                  <a:pt x="0" y="1150193"/>
                </a:cubicBezTo>
                <a:lnTo>
                  <a:pt x="0" y="76196"/>
                </a:lnTo>
                <a:cubicBezTo>
                  <a:pt x="0" y="34114"/>
                  <a:pt x="34114" y="0"/>
                  <a:pt x="76196" y="0"/>
                </a:cubicBezTo>
                <a:close/>
              </a:path>
            </a:pathLst>
          </a:custGeom>
          <a:gradFill rotWithShape="1" flip="none">
            <a:gsLst>
              <a:gs pos="0">
                <a:srgbClr val="3A5F7A">
                  <a:alpha val="30000"/>
                </a:srgbClr>
              </a:gs>
              <a:gs pos="100000">
                <a:srgbClr val="3A5F7A">
                  <a:alpha val="10000"/>
                </a:srgbClr>
              </a:gs>
            </a:gsLst>
            <a:lin ang="2700000" scaled="1"/>
          </a:gradFill>
          <a:ln w="9585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07402" y="1454472"/>
            <a:ext cx="142875" cy="228600"/>
          </a:xfrm>
          <a:custGeom>
            <a:avLst/>
            <a:gdLst/>
            <a:ahLst/>
            <a:cxnLst/>
            <a:rect l="l" t="t" r="r" b="b"/>
            <a:pathLst>
              <a:path w="142875" h="228600">
                <a:moveTo>
                  <a:pt x="60722" y="10716"/>
                </a:moveTo>
                <a:cubicBezTo>
                  <a:pt x="60722" y="4777"/>
                  <a:pt x="65499" y="0"/>
                  <a:pt x="71438" y="0"/>
                </a:cubicBezTo>
                <a:cubicBezTo>
                  <a:pt x="77376" y="0"/>
                  <a:pt x="82153" y="4777"/>
                  <a:pt x="82153" y="10716"/>
                </a:cubicBezTo>
                <a:lnTo>
                  <a:pt x="82153" y="28575"/>
                </a:lnTo>
                <a:lnTo>
                  <a:pt x="107156" y="28575"/>
                </a:lnTo>
                <a:cubicBezTo>
                  <a:pt x="115059" y="28575"/>
                  <a:pt x="121444" y="34960"/>
                  <a:pt x="121444" y="42863"/>
                </a:cubicBezTo>
                <a:cubicBezTo>
                  <a:pt x="121444" y="50765"/>
                  <a:pt x="115059" y="57150"/>
                  <a:pt x="107156" y="57150"/>
                </a:cubicBezTo>
                <a:lnTo>
                  <a:pt x="55855" y="57150"/>
                </a:lnTo>
                <a:cubicBezTo>
                  <a:pt x="44738" y="57150"/>
                  <a:pt x="35719" y="66169"/>
                  <a:pt x="35719" y="77286"/>
                </a:cubicBezTo>
                <a:cubicBezTo>
                  <a:pt x="35719" y="87332"/>
                  <a:pt x="43086" y="95816"/>
                  <a:pt x="52998" y="97244"/>
                </a:cubicBezTo>
                <a:lnTo>
                  <a:pt x="93896" y="103093"/>
                </a:lnTo>
                <a:cubicBezTo>
                  <a:pt x="117917" y="106531"/>
                  <a:pt x="135731" y="127069"/>
                  <a:pt x="135731" y="151314"/>
                </a:cubicBezTo>
                <a:cubicBezTo>
                  <a:pt x="135731" y="178237"/>
                  <a:pt x="113898" y="200025"/>
                  <a:pt x="87020" y="200025"/>
                </a:cubicBezTo>
                <a:lnTo>
                  <a:pt x="82153" y="200025"/>
                </a:lnTo>
                <a:lnTo>
                  <a:pt x="82153" y="217884"/>
                </a:lnTo>
                <a:cubicBezTo>
                  <a:pt x="82153" y="223823"/>
                  <a:pt x="77376" y="228600"/>
                  <a:pt x="71438" y="228600"/>
                </a:cubicBezTo>
                <a:cubicBezTo>
                  <a:pt x="65499" y="228600"/>
                  <a:pt x="60722" y="223823"/>
                  <a:pt x="60722" y="217884"/>
                </a:cubicBezTo>
                <a:lnTo>
                  <a:pt x="60722" y="200025"/>
                </a:lnTo>
                <a:lnTo>
                  <a:pt x="28575" y="200025"/>
                </a:lnTo>
                <a:cubicBezTo>
                  <a:pt x="20672" y="200025"/>
                  <a:pt x="14288" y="193640"/>
                  <a:pt x="14288" y="185738"/>
                </a:cubicBezTo>
                <a:cubicBezTo>
                  <a:pt x="14288" y="177835"/>
                  <a:pt x="20672" y="171450"/>
                  <a:pt x="28575" y="171450"/>
                </a:cubicBezTo>
                <a:lnTo>
                  <a:pt x="87020" y="171450"/>
                </a:lnTo>
                <a:cubicBezTo>
                  <a:pt x="98137" y="171450"/>
                  <a:pt x="107156" y="162431"/>
                  <a:pt x="107156" y="151314"/>
                </a:cubicBezTo>
                <a:cubicBezTo>
                  <a:pt x="107156" y="141268"/>
                  <a:pt x="99789" y="132784"/>
                  <a:pt x="89877" y="131356"/>
                </a:cubicBezTo>
                <a:lnTo>
                  <a:pt x="48979" y="125507"/>
                </a:lnTo>
                <a:cubicBezTo>
                  <a:pt x="24958" y="122113"/>
                  <a:pt x="7144" y="101531"/>
                  <a:pt x="7144" y="77286"/>
                </a:cubicBezTo>
                <a:cubicBezTo>
                  <a:pt x="7144" y="50408"/>
                  <a:pt x="28977" y="28575"/>
                  <a:pt x="55855" y="28575"/>
                </a:cubicBezTo>
                <a:lnTo>
                  <a:pt x="60722" y="28575"/>
                </a:lnTo>
                <a:lnTo>
                  <a:pt x="60722" y="10716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2" name="Shape 10"/>
          <p:cNvSpPr/>
          <p:nvPr/>
        </p:nvSpPr>
        <p:spPr>
          <a:xfrm>
            <a:off x="5300977" y="1454472"/>
            <a:ext cx="561975" cy="228600"/>
          </a:xfrm>
          <a:custGeom>
            <a:avLst/>
            <a:gdLst/>
            <a:ahLst/>
            <a:cxnLst/>
            <a:rect l="l" t="t" r="r" b="b"/>
            <a:pathLst>
              <a:path w="561975" h="228600">
                <a:moveTo>
                  <a:pt x="38101" y="0"/>
                </a:moveTo>
                <a:lnTo>
                  <a:pt x="523874" y="0"/>
                </a:lnTo>
                <a:cubicBezTo>
                  <a:pt x="544917" y="0"/>
                  <a:pt x="561975" y="17058"/>
                  <a:pt x="561975" y="38101"/>
                </a:cubicBezTo>
                <a:lnTo>
                  <a:pt x="561975" y="190499"/>
                </a:lnTo>
                <a:cubicBezTo>
                  <a:pt x="561975" y="211542"/>
                  <a:pt x="544917" y="228600"/>
                  <a:pt x="523874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300977" y="1454472"/>
            <a:ext cx="619125" cy="2286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35964" y="1759207"/>
            <a:ext cx="26003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$75K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35964" y="2178283"/>
            <a:ext cx="2495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Annual Salary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175637" y="1298569"/>
            <a:ext cx="2731339" cy="1226389"/>
          </a:xfrm>
          <a:custGeom>
            <a:avLst/>
            <a:gdLst/>
            <a:ahLst/>
            <a:cxnLst/>
            <a:rect l="l" t="t" r="r" b="b"/>
            <a:pathLst>
              <a:path w="2731339" h="1226389">
                <a:moveTo>
                  <a:pt x="76196" y="0"/>
                </a:moveTo>
                <a:lnTo>
                  <a:pt x="2655143" y="0"/>
                </a:lnTo>
                <a:cubicBezTo>
                  <a:pt x="2697225" y="0"/>
                  <a:pt x="2731339" y="34114"/>
                  <a:pt x="2731339" y="76196"/>
                </a:cubicBezTo>
                <a:lnTo>
                  <a:pt x="2731339" y="1150193"/>
                </a:lnTo>
                <a:cubicBezTo>
                  <a:pt x="2731339" y="1192275"/>
                  <a:pt x="2697225" y="1226389"/>
                  <a:pt x="2655143" y="1226389"/>
                </a:cubicBezTo>
                <a:lnTo>
                  <a:pt x="76196" y="1226389"/>
                </a:lnTo>
                <a:cubicBezTo>
                  <a:pt x="34114" y="1226389"/>
                  <a:pt x="0" y="1192275"/>
                  <a:pt x="0" y="1150193"/>
                </a:cubicBezTo>
                <a:lnTo>
                  <a:pt x="0" y="76196"/>
                </a:lnTo>
                <a:cubicBezTo>
                  <a:pt x="0" y="34114"/>
                  <a:pt x="34114" y="0"/>
                  <a:pt x="76196" y="0"/>
                </a:cubicBezTo>
                <a:close/>
              </a:path>
            </a:pathLst>
          </a:custGeom>
          <a:gradFill rotWithShape="1" flip="none">
            <a:gsLst>
              <a:gs pos="0">
                <a:srgbClr val="3A5F7A">
                  <a:alpha val="30000"/>
                </a:srgbClr>
              </a:gs>
              <a:gs pos="100000">
                <a:srgbClr val="3A5F7A">
                  <a:alpha val="10000"/>
                </a:srgbClr>
              </a:gs>
            </a:gsLst>
            <a:lin ang="2700000" scaled="1"/>
          </a:gradFill>
          <a:ln w="9585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88691" y="1454472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28575" y="0"/>
                </a:moveTo>
                <a:cubicBezTo>
                  <a:pt x="12814" y="0"/>
                  <a:pt x="0" y="12814"/>
                  <a:pt x="0" y="28575"/>
                </a:cubicBezTo>
                <a:lnTo>
                  <a:pt x="0" y="200025"/>
                </a:lnTo>
                <a:cubicBezTo>
                  <a:pt x="0" y="215786"/>
                  <a:pt x="12814" y="228600"/>
                  <a:pt x="28575" y="228600"/>
                </a:cubicBezTo>
                <a:lnTo>
                  <a:pt x="142875" y="228600"/>
                </a:lnTo>
                <a:cubicBezTo>
                  <a:pt x="158636" y="228600"/>
                  <a:pt x="171450" y="215786"/>
                  <a:pt x="171450" y="200025"/>
                </a:cubicBezTo>
                <a:lnTo>
                  <a:pt x="171450" y="28575"/>
                </a:lnTo>
                <a:cubicBezTo>
                  <a:pt x="171450" y="12814"/>
                  <a:pt x="158636" y="0"/>
                  <a:pt x="142875" y="0"/>
                </a:cubicBezTo>
                <a:lnTo>
                  <a:pt x="28575" y="0"/>
                </a:lnTo>
                <a:close/>
                <a:moveTo>
                  <a:pt x="78581" y="157163"/>
                </a:moveTo>
                <a:lnTo>
                  <a:pt x="92869" y="157163"/>
                </a:lnTo>
                <a:cubicBezTo>
                  <a:pt x="100772" y="157163"/>
                  <a:pt x="107156" y="163547"/>
                  <a:pt x="107156" y="171450"/>
                </a:cubicBezTo>
                <a:lnTo>
                  <a:pt x="107156" y="207169"/>
                </a:lnTo>
                <a:lnTo>
                  <a:pt x="64294" y="207169"/>
                </a:lnTo>
                <a:lnTo>
                  <a:pt x="64294" y="171450"/>
                </a:lnTo>
                <a:cubicBezTo>
                  <a:pt x="64294" y="163547"/>
                  <a:pt x="70678" y="157163"/>
                  <a:pt x="78581" y="157163"/>
                </a:cubicBezTo>
                <a:close/>
                <a:moveTo>
                  <a:pt x="42863" y="50006"/>
                </a:moveTo>
                <a:cubicBezTo>
                  <a:pt x="42863" y="46077"/>
                  <a:pt x="46077" y="42863"/>
                  <a:pt x="50006" y="42863"/>
                </a:cubicBezTo>
                <a:lnTo>
                  <a:pt x="64294" y="42863"/>
                </a:lnTo>
                <a:cubicBezTo>
                  <a:pt x="68223" y="42863"/>
                  <a:pt x="71438" y="46077"/>
                  <a:pt x="71438" y="50006"/>
                </a:cubicBezTo>
                <a:lnTo>
                  <a:pt x="71438" y="64294"/>
                </a:lnTo>
                <a:cubicBezTo>
                  <a:pt x="71438" y="68223"/>
                  <a:pt x="68223" y="71438"/>
                  <a:pt x="64294" y="71438"/>
                </a:cubicBezTo>
                <a:lnTo>
                  <a:pt x="50006" y="71438"/>
                </a:lnTo>
                <a:cubicBezTo>
                  <a:pt x="46077" y="71438"/>
                  <a:pt x="42863" y="68223"/>
                  <a:pt x="42863" y="64294"/>
                </a:cubicBezTo>
                <a:lnTo>
                  <a:pt x="42863" y="50006"/>
                </a:lnTo>
                <a:close/>
                <a:moveTo>
                  <a:pt x="107156" y="42863"/>
                </a:moveTo>
                <a:lnTo>
                  <a:pt x="121444" y="42863"/>
                </a:lnTo>
                <a:cubicBezTo>
                  <a:pt x="125373" y="42863"/>
                  <a:pt x="128588" y="46077"/>
                  <a:pt x="128588" y="50006"/>
                </a:cubicBezTo>
                <a:lnTo>
                  <a:pt x="128588" y="64294"/>
                </a:lnTo>
                <a:cubicBezTo>
                  <a:pt x="128588" y="68223"/>
                  <a:pt x="125373" y="71438"/>
                  <a:pt x="121444" y="71438"/>
                </a:cubicBezTo>
                <a:lnTo>
                  <a:pt x="107156" y="71438"/>
                </a:lnTo>
                <a:cubicBezTo>
                  <a:pt x="103227" y="71438"/>
                  <a:pt x="100013" y="68223"/>
                  <a:pt x="100013" y="64294"/>
                </a:cubicBezTo>
                <a:lnTo>
                  <a:pt x="100013" y="50006"/>
                </a:lnTo>
                <a:cubicBezTo>
                  <a:pt x="100013" y="46077"/>
                  <a:pt x="103227" y="42863"/>
                  <a:pt x="107156" y="42863"/>
                </a:cubicBezTo>
                <a:close/>
                <a:moveTo>
                  <a:pt x="42863" y="107156"/>
                </a:moveTo>
                <a:cubicBezTo>
                  <a:pt x="42863" y="103227"/>
                  <a:pt x="46077" y="100013"/>
                  <a:pt x="50006" y="100013"/>
                </a:cubicBezTo>
                <a:lnTo>
                  <a:pt x="64294" y="100013"/>
                </a:lnTo>
                <a:cubicBezTo>
                  <a:pt x="68223" y="100013"/>
                  <a:pt x="71438" y="103227"/>
                  <a:pt x="71438" y="107156"/>
                </a:cubicBezTo>
                <a:lnTo>
                  <a:pt x="71438" y="121444"/>
                </a:lnTo>
                <a:cubicBezTo>
                  <a:pt x="71438" y="125373"/>
                  <a:pt x="68223" y="128588"/>
                  <a:pt x="64294" y="128588"/>
                </a:cubicBezTo>
                <a:lnTo>
                  <a:pt x="50006" y="128588"/>
                </a:lnTo>
                <a:cubicBezTo>
                  <a:pt x="46077" y="128588"/>
                  <a:pt x="42863" y="125373"/>
                  <a:pt x="42863" y="121444"/>
                </a:cubicBezTo>
                <a:lnTo>
                  <a:pt x="42863" y="107156"/>
                </a:lnTo>
                <a:close/>
                <a:moveTo>
                  <a:pt x="107156" y="100013"/>
                </a:moveTo>
                <a:lnTo>
                  <a:pt x="121444" y="100013"/>
                </a:lnTo>
                <a:cubicBezTo>
                  <a:pt x="125373" y="100013"/>
                  <a:pt x="128588" y="103227"/>
                  <a:pt x="128588" y="107156"/>
                </a:cubicBezTo>
                <a:lnTo>
                  <a:pt x="128588" y="121444"/>
                </a:lnTo>
                <a:cubicBezTo>
                  <a:pt x="128588" y="125373"/>
                  <a:pt x="125373" y="128588"/>
                  <a:pt x="121444" y="128588"/>
                </a:cubicBezTo>
                <a:lnTo>
                  <a:pt x="107156" y="128588"/>
                </a:lnTo>
                <a:cubicBezTo>
                  <a:pt x="103227" y="128588"/>
                  <a:pt x="100013" y="125373"/>
                  <a:pt x="100013" y="121444"/>
                </a:cubicBezTo>
                <a:lnTo>
                  <a:pt x="100013" y="107156"/>
                </a:lnTo>
                <a:cubicBezTo>
                  <a:pt x="100013" y="103227"/>
                  <a:pt x="103227" y="100013"/>
                  <a:pt x="107156" y="100013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8" name="Shape 16"/>
          <p:cNvSpPr/>
          <p:nvPr/>
        </p:nvSpPr>
        <p:spPr>
          <a:xfrm>
            <a:off x="8310113" y="1454472"/>
            <a:ext cx="447675" cy="228600"/>
          </a:xfrm>
          <a:custGeom>
            <a:avLst/>
            <a:gdLst/>
            <a:ahLst/>
            <a:cxnLst/>
            <a:rect l="l" t="t" r="r" b="b"/>
            <a:pathLst>
              <a:path w="447675" h="228600">
                <a:moveTo>
                  <a:pt x="38101" y="0"/>
                </a:moveTo>
                <a:lnTo>
                  <a:pt x="409574" y="0"/>
                </a:lnTo>
                <a:cubicBezTo>
                  <a:pt x="430617" y="0"/>
                  <a:pt x="447675" y="17058"/>
                  <a:pt x="447675" y="38101"/>
                </a:cubicBezTo>
                <a:lnTo>
                  <a:pt x="447675" y="190499"/>
                </a:lnTo>
                <a:cubicBezTo>
                  <a:pt x="447675" y="211542"/>
                  <a:pt x="430617" y="228600"/>
                  <a:pt x="409574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8310113" y="1454472"/>
            <a:ext cx="504825" cy="2286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Hiring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31541" y="1759207"/>
            <a:ext cx="26003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500+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31541" y="2178283"/>
            <a:ext cx="2495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Companies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071215" y="1298569"/>
            <a:ext cx="2740864" cy="1226389"/>
          </a:xfrm>
          <a:custGeom>
            <a:avLst/>
            <a:gdLst/>
            <a:ahLst/>
            <a:cxnLst/>
            <a:rect l="l" t="t" r="r" b="b"/>
            <a:pathLst>
              <a:path w="2740864" h="1226389">
                <a:moveTo>
                  <a:pt x="76196" y="0"/>
                </a:moveTo>
                <a:lnTo>
                  <a:pt x="2664668" y="0"/>
                </a:lnTo>
                <a:cubicBezTo>
                  <a:pt x="2706750" y="0"/>
                  <a:pt x="2740864" y="34114"/>
                  <a:pt x="2740864" y="76196"/>
                </a:cubicBezTo>
                <a:lnTo>
                  <a:pt x="2740864" y="1150193"/>
                </a:lnTo>
                <a:cubicBezTo>
                  <a:pt x="2740864" y="1192275"/>
                  <a:pt x="2706750" y="1226389"/>
                  <a:pt x="2664668" y="1226389"/>
                </a:cubicBezTo>
                <a:lnTo>
                  <a:pt x="76196" y="1226389"/>
                </a:lnTo>
                <a:cubicBezTo>
                  <a:pt x="34114" y="1226389"/>
                  <a:pt x="0" y="1192275"/>
                  <a:pt x="0" y="1150193"/>
                </a:cubicBezTo>
                <a:lnTo>
                  <a:pt x="0" y="76196"/>
                </a:lnTo>
                <a:cubicBezTo>
                  <a:pt x="0" y="34114"/>
                  <a:pt x="34114" y="0"/>
                  <a:pt x="76196" y="0"/>
                </a:cubicBezTo>
                <a:close/>
              </a:path>
            </a:pathLst>
          </a:custGeom>
          <a:gradFill rotWithShape="1" flip="none">
            <a:gsLst>
              <a:gs pos="0">
                <a:srgbClr val="3A5F7A">
                  <a:alpha val="30000"/>
                </a:srgbClr>
              </a:gs>
              <a:gs pos="100000">
                <a:srgbClr val="3A5F7A">
                  <a:alpha val="10000"/>
                </a:srgbClr>
              </a:gs>
            </a:gsLst>
            <a:lin ang="2700000" scaled="1"/>
          </a:gradFill>
          <a:ln w="9585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84269" y="1454472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84207"/>
                </a:moveTo>
                <a:cubicBezTo>
                  <a:pt x="0" y="37683"/>
                  <a:pt x="38398" y="0"/>
                  <a:pt x="85725" y="0"/>
                </a:cubicBezTo>
                <a:cubicBezTo>
                  <a:pt x="133052" y="0"/>
                  <a:pt x="171450" y="37683"/>
                  <a:pt x="171450" y="84207"/>
                </a:cubicBezTo>
                <a:cubicBezTo>
                  <a:pt x="171450" y="137473"/>
                  <a:pt x="117783" y="201320"/>
                  <a:pt x="95369" y="225653"/>
                </a:cubicBezTo>
                <a:cubicBezTo>
                  <a:pt x="90101" y="231368"/>
                  <a:pt x="81305" y="231368"/>
                  <a:pt x="76036" y="225653"/>
                </a:cubicBezTo>
                <a:cubicBezTo>
                  <a:pt x="53623" y="201320"/>
                  <a:pt x="-45" y="137473"/>
                  <a:pt x="-45" y="84207"/>
                </a:cubicBezTo>
                <a:close/>
                <a:moveTo>
                  <a:pt x="85725" y="114300"/>
                </a:moveTo>
                <a:cubicBezTo>
                  <a:pt x="101496" y="114300"/>
                  <a:pt x="114300" y="101496"/>
                  <a:pt x="114300" y="85725"/>
                </a:cubicBezTo>
                <a:cubicBezTo>
                  <a:pt x="114300" y="69954"/>
                  <a:pt x="101496" y="57150"/>
                  <a:pt x="85725" y="57150"/>
                </a:cubicBezTo>
                <a:cubicBezTo>
                  <a:pt x="69954" y="57150"/>
                  <a:pt x="57150" y="69954"/>
                  <a:pt x="57150" y="85725"/>
                </a:cubicBezTo>
                <a:cubicBezTo>
                  <a:pt x="57150" y="101496"/>
                  <a:pt x="69954" y="114300"/>
                  <a:pt x="85725" y="114300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24" name="Shape 22"/>
          <p:cNvSpPr/>
          <p:nvPr/>
        </p:nvSpPr>
        <p:spPr>
          <a:xfrm>
            <a:off x="11228830" y="1454472"/>
            <a:ext cx="419100" cy="228600"/>
          </a:xfrm>
          <a:custGeom>
            <a:avLst/>
            <a:gdLst/>
            <a:ahLst/>
            <a:cxnLst/>
            <a:rect l="l" t="t" r="r" b="b"/>
            <a:pathLst>
              <a:path w="419100" h="228600">
                <a:moveTo>
                  <a:pt x="38101" y="0"/>
                </a:moveTo>
                <a:lnTo>
                  <a:pt x="380999" y="0"/>
                </a:lnTo>
                <a:cubicBezTo>
                  <a:pt x="402042" y="0"/>
                  <a:pt x="419100" y="17058"/>
                  <a:pt x="419100" y="38101"/>
                </a:cubicBezTo>
                <a:lnTo>
                  <a:pt x="419100" y="190499"/>
                </a:lnTo>
                <a:cubicBezTo>
                  <a:pt x="419100" y="211542"/>
                  <a:pt x="402042" y="228600"/>
                  <a:pt x="380999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11228830" y="1454472"/>
            <a:ext cx="476250" cy="2286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Cities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227119" y="1759207"/>
            <a:ext cx="26003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100+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227119" y="2178283"/>
            <a:ext cx="2495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Locations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80888" y="2680481"/>
            <a:ext cx="5638800" cy="2924175"/>
          </a:xfrm>
          <a:custGeom>
            <a:avLst/>
            <a:gdLst/>
            <a:ahLst/>
            <a:cxnLst/>
            <a:rect l="l" t="t" r="r" b="b"/>
            <a:pathLst>
              <a:path w="5638800" h="2924175">
                <a:moveTo>
                  <a:pt x="38102" y="0"/>
                </a:moveTo>
                <a:lnTo>
                  <a:pt x="5600698" y="0"/>
                </a:lnTo>
                <a:cubicBezTo>
                  <a:pt x="5621727" y="0"/>
                  <a:pt x="5638800" y="17073"/>
                  <a:pt x="5638800" y="38102"/>
                </a:cubicBezTo>
                <a:lnTo>
                  <a:pt x="5638800" y="2886073"/>
                </a:lnTo>
                <a:cubicBezTo>
                  <a:pt x="5638800" y="2907116"/>
                  <a:pt x="5621741" y="2924175"/>
                  <a:pt x="5600698" y="2924175"/>
                </a:cubicBezTo>
                <a:lnTo>
                  <a:pt x="38102" y="2924175"/>
                </a:lnTo>
                <a:cubicBezTo>
                  <a:pt x="17073" y="2924175"/>
                  <a:pt x="0" y="2907102"/>
                  <a:pt x="0" y="2886073"/>
                </a:cubicBezTo>
                <a:lnTo>
                  <a:pt x="0" y="38102"/>
                </a:lnTo>
                <a:cubicBezTo>
                  <a:pt x="0" y="17073"/>
                  <a:pt x="17073" y="0"/>
                  <a:pt x="38102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52248" y="2880303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0716" y="10716"/>
                </a:moveTo>
                <a:cubicBezTo>
                  <a:pt x="4789" y="10716"/>
                  <a:pt x="0" y="15504"/>
                  <a:pt x="0" y="21431"/>
                </a:cubicBezTo>
                <a:lnTo>
                  <a:pt x="0" y="144661"/>
                </a:lnTo>
                <a:cubicBezTo>
                  <a:pt x="0" y="153535"/>
                  <a:pt x="7200" y="160734"/>
                  <a:pt x="16073" y="160734"/>
                </a:cubicBezTo>
                <a:lnTo>
                  <a:pt x="155377" y="160734"/>
                </a:lnTo>
                <a:cubicBezTo>
                  <a:pt x="164250" y="160734"/>
                  <a:pt x="171450" y="153535"/>
                  <a:pt x="171450" y="144661"/>
                </a:cubicBezTo>
                <a:lnTo>
                  <a:pt x="171450" y="50966"/>
                </a:lnTo>
                <a:cubicBezTo>
                  <a:pt x="171450" y="44872"/>
                  <a:pt x="164954" y="41021"/>
                  <a:pt x="159596" y="43901"/>
                </a:cubicBezTo>
                <a:lnTo>
                  <a:pt x="107156" y="72130"/>
                </a:lnTo>
                <a:lnTo>
                  <a:pt x="107156" y="50966"/>
                </a:lnTo>
                <a:cubicBezTo>
                  <a:pt x="107156" y="44872"/>
                  <a:pt x="100660" y="41021"/>
                  <a:pt x="95302" y="43901"/>
                </a:cubicBezTo>
                <a:lnTo>
                  <a:pt x="42863" y="72130"/>
                </a:lnTo>
                <a:lnTo>
                  <a:pt x="42863" y="21431"/>
                </a:lnTo>
                <a:cubicBezTo>
                  <a:pt x="42863" y="15504"/>
                  <a:pt x="38074" y="10716"/>
                  <a:pt x="32147" y="10716"/>
                </a:cubicBezTo>
                <a:lnTo>
                  <a:pt x="10716" y="10716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30" name="Text 28"/>
          <p:cNvSpPr/>
          <p:nvPr/>
        </p:nvSpPr>
        <p:spPr>
          <a:xfrm>
            <a:off x="742748" y="2832790"/>
            <a:ext cx="5210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Industry Distribution</a:t>
            </a:r>
            <a:endParaRPr lang="en-US" sz="1600" dirty="0"/>
          </a:p>
        </p:txBody>
      </p:sp>
      <p:pic>
        <p:nvPicPr>
          <p:cNvPr id="31" name="Image 0" descr="https://kimi-img.moonshot.cn/pub/slides/26-03-13-18:32:56-d6pufm7826pggs9bd55g.png">    </p:cNvPr>
          <p:cNvPicPr>
            <a:picLocks noChangeAspect="1"/>
          </p:cNvPicPr>
          <p:nvPr/>
        </p:nvPicPr>
        <p:blipFill>
          <a:blip r:embed="rId1"/>
          <a:srcRect l="18" r="18" t="0" b="0"/>
          <a:stretch/>
        </p:blipFill>
        <p:spPr>
          <a:xfrm>
            <a:off x="533198" y="3213564"/>
            <a:ext cx="5334000" cy="2095500"/>
          </a:xfrm>
          <a:prstGeom prst="roundRect">
            <a:avLst>
              <a:gd name="adj" fmla="val 0"/>
            </a:avLst>
          </a:prstGeom>
        </p:spPr>
      </p:pic>
      <p:sp>
        <p:nvSpPr>
          <p:cNvPr id="32" name="Shape 29"/>
          <p:cNvSpPr/>
          <p:nvPr/>
        </p:nvSpPr>
        <p:spPr>
          <a:xfrm>
            <a:off x="6172043" y="2680481"/>
            <a:ext cx="5638800" cy="2924175"/>
          </a:xfrm>
          <a:custGeom>
            <a:avLst/>
            <a:gdLst/>
            <a:ahLst/>
            <a:cxnLst/>
            <a:rect l="l" t="t" r="r" b="b"/>
            <a:pathLst>
              <a:path w="5638800" h="2924175">
                <a:moveTo>
                  <a:pt x="38102" y="0"/>
                </a:moveTo>
                <a:lnTo>
                  <a:pt x="5600698" y="0"/>
                </a:lnTo>
                <a:cubicBezTo>
                  <a:pt x="5621727" y="0"/>
                  <a:pt x="5638800" y="17073"/>
                  <a:pt x="5638800" y="38102"/>
                </a:cubicBezTo>
                <a:lnTo>
                  <a:pt x="5638800" y="2886073"/>
                </a:lnTo>
                <a:cubicBezTo>
                  <a:pt x="5638800" y="2907116"/>
                  <a:pt x="5621741" y="2924175"/>
                  <a:pt x="5600698" y="2924175"/>
                </a:cubicBezTo>
                <a:lnTo>
                  <a:pt x="38102" y="2924175"/>
                </a:lnTo>
                <a:cubicBezTo>
                  <a:pt x="17073" y="2924175"/>
                  <a:pt x="0" y="2907102"/>
                  <a:pt x="0" y="2886073"/>
                </a:cubicBezTo>
                <a:lnTo>
                  <a:pt x="0" y="38102"/>
                </a:lnTo>
                <a:cubicBezTo>
                  <a:pt x="0" y="17073"/>
                  <a:pt x="17073" y="0"/>
                  <a:pt x="38102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6332687" y="2880303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107156" y="0"/>
                </a:moveTo>
                <a:cubicBezTo>
                  <a:pt x="95336" y="0"/>
                  <a:pt x="85725" y="9611"/>
                  <a:pt x="85725" y="21431"/>
                </a:cubicBezTo>
                <a:lnTo>
                  <a:pt x="85725" y="32147"/>
                </a:lnTo>
                <a:lnTo>
                  <a:pt x="69652" y="32147"/>
                </a:lnTo>
                <a:lnTo>
                  <a:pt x="69652" y="8037"/>
                </a:lnTo>
                <a:cubicBezTo>
                  <a:pt x="69652" y="3583"/>
                  <a:pt x="66069" y="0"/>
                  <a:pt x="61615" y="0"/>
                </a:cubicBezTo>
                <a:cubicBezTo>
                  <a:pt x="57161" y="0"/>
                  <a:pt x="53578" y="3583"/>
                  <a:pt x="53578" y="8037"/>
                </a:cubicBezTo>
                <a:lnTo>
                  <a:pt x="53578" y="32147"/>
                </a:lnTo>
                <a:lnTo>
                  <a:pt x="32147" y="32147"/>
                </a:lnTo>
                <a:lnTo>
                  <a:pt x="32147" y="8037"/>
                </a:lnTo>
                <a:cubicBezTo>
                  <a:pt x="32147" y="3583"/>
                  <a:pt x="28564" y="0"/>
                  <a:pt x="24110" y="0"/>
                </a:cubicBezTo>
                <a:cubicBezTo>
                  <a:pt x="19656" y="0"/>
                  <a:pt x="16073" y="3583"/>
                  <a:pt x="16073" y="8037"/>
                </a:cubicBezTo>
                <a:lnTo>
                  <a:pt x="16073" y="32817"/>
                </a:lnTo>
                <a:cubicBezTo>
                  <a:pt x="6831" y="35194"/>
                  <a:pt x="0" y="43599"/>
                  <a:pt x="0" y="53578"/>
                </a:cubicBezTo>
                <a:lnTo>
                  <a:pt x="0" y="150019"/>
                </a:lnTo>
                <a:cubicBezTo>
                  <a:pt x="0" y="161839"/>
                  <a:pt x="9611" y="171450"/>
                  <a:pt x="21431" y="171450"/>
                </a:cubicBezTo>
                <a:lnTo>
                  <a:pt x="171450" y="171450"/>
                </a:lnTo>
                <a:cubicBezTo>
                  <a:pt x="183271" y="171450"/>
                  <a:pt x="192881" y="161839"/>
                  <a:pt x="192881" y="150019"/>
                </a:cubicBezTo>
                <a:lnTo>
                  <a:pt x="192881" y="85725"/>
                </a:lnTo>
                <a:cubicBezTo>
                  <a:pt x="192881" y="73904"/>
                  <a:pt x="183271" y="64294"/>
                  <a:pt x="171450" y="64294"/>
                </a:cubicBezTo>
                <a:lnTo>
                  <a:pt x="150019" y="64294"/>
                </a:lnTo>
                <a:lnTo>
                  <a:pt x="150019" y="21431"/>
                </a:lnTo>
                <a:cubicBezTo>
                  <a:pt x="150019" y="9611"/>
                  <a:pt x="140408" y="0"/>
                  <a:pt x="128588" y="0"/>
                </a:cubicBezTo>
                <a:lnTo>
                  <a:pt x="107156" y="0"/>
                </a:lnTo>
                <a:close/>
                <a:moveTo>
                  <a:pt x="128588" y="37505"/>
                </a:moveTo>
                <a:lnTo>
                  <a:pt x="128588" y="48220"/>
                </a:lnTo>
                <a:cubicBezTo>
                  <a:pt x="128588" y="51167"/>
                  <a:pt x="126176" y="53578"/>
                  <a:pt x="123230" y="53578"/>
                </a:cubicBezTo>
                <a:lnTo>
                  <a:pt x="112514" y="53578"/>
                </a:lnTo>
                <a:cubicBezTo>
                  <a:pt x="109567" y="53578"/>
                  <a:pt x="107156" y="51167"/>
                  <a:pt x="107156" y="48220"/>
                </a:cubicBezTo>
                <a:lnTo>
                  <a:pt x="107156" y="37505"/>
                </a:lnTo>
                <a:cubicBezTo>
                  <a:pt x="107156" y="34558"/>
                  <a:pt x="109567" y="32147"/>
                  <a:pt x="112514" y="32147"/>
                </a:cubicBezTo>
                <a:lnTo>
                  <a:pt x="123230" y="32147"/>
                </a:lnTo>
                <a:cubicBezTo>
                  <a:pt x="126176" y="32147"/>
                  <a:pt x="128588" y="34558"/>
                  <a:pt x="128588" y="37505"/>
                </a:cubicBezTo>
                <a:close/>
                <a:moveTo>
                  <a:pt x="123230" y="64294"/>
                </a:moveTo>
                <a:cubicBezTo>
                  <a:pt x="126176" y="64294"/>
                  <a:pt x="128588" y="66705"/>
                  <a:pt x="128588" y="69652"/>
                </a:cubicBezTo>
                <a:lnTo>
                  <a:pt x="128588" y="80367"/>
                </a:lnTo>
                <a:cubicBezTo>
                  <a:pt x="128588" y="83314"/>
                  <a:pt x="126176" y="85725"/>
                  <a:pt x="123230" y="85725"/>
                </a:cubicBezTo>
                <a:lnTo>
                  <a:pt x="112514" y="85725"/>
                </a:lnTo>
                <a:cubicBezTo>
                  <a:pt x="109567" y="85725"/>
                  <a:pt x="107156" y="83314"/>
                  <a:pt x="107156" y="80367"/>
                </a:cubicBezTo>
                <a:lnTo>
                  <a:pt x="107156" y="69652"/>
                </a:lnTo>
                <a:cubicBezTo>
                  <a:pt x="107156" y="66705"/>
                  <a:pt x="109567" y="64294"/>
                  <a:pt x="112514" y="64294"/>
                </a:cubicBezTo>
                <a:lnTo>
                  <a:pt x="123230" y="64294"/>
                </a:lnTo>
                <a:close/>
                <a:moveTo>
                  <a:pt x="128588" y="101798"/>
                </a:moveTo>
                <a:lnTo>
                  <a:pt x="128588" y="112514"/>
                </a:lnTo>
                <a:cubicBezTo>
                  <a:pt x="128588" y="115461"/>
                  <a:pt x="126176" y="117872"/>
                  <a:pt x="123230" y="117872"/>
                </a:cubicBezTo>
                <a:lnTo>
                  <a:pt x="112514" y="117872"/>
                </a:lnTo>
                <a:cubicBezTo>
                  <a:pt x="109567" y="117872"/>
                  <a:pt x="107156" y="115461"/>
                  <a:pt x="107156" y="112514"/>
                </a:cubicBezTo>
                <a:lnTo>
                  <a:pt x="107156" y="101798"/>
                </a:lnTo>
                <a:cubicBezTo>
                  <a:pt x="107156" y="98852"/>
                  <a:pt x="109567" y="96441"/>
                  <a:pt x="112514" y="96441"/>
                </a:cubicBezTo>
                <a:lnTo>
                  <a:pt x="123230" y="96441"/>
                </a:lnTo>
                <a:cubicBezTo>
                  <a:pt x="126176" y="96441"/>
                  <a:pt x="128588" y="98852"/>
                  <a:pt x="128588" y="101798"/>
                </a:cubicBezTo>
                <a:close/>
                <a:moveTo>
                  <a:pt x="166092" y="96441"/>
                </a:moveTo>
                <a:cubicBezTo>
                  <a:pt x="169039" y="96441"/>
                  <a:pt x="171450" y="98852"/>
                  <a:pt x="171450" y="101798"/>
                </a:cubicBezTo>
                <a:lnTo>
                  <a:pt x="171450" y="112514"/>
                </a:lnTo>
                <a:cubicBezTo>
                  <a:pt x="171450" y="115461"/>
                  <a:pt x="169039" y="117872"/>
                  <a:pt x="166092" y="117872"/>
                </a:cubicBezTo>
                <a:lnTo>
                  <a:pt x="155377" y="117872"/>
                </a:lnTo>
                <a:cubicBezTo>
                  <a:pt x="152430" y="117872"/>
                  <a:pt x="150019" y="115461"/>
                  <a:pt x="150019" y="112514"/>
                </a:cubicBezTo>
                <a:lnTo>
                  <a:pt x="150019" y="101798"/>
                </a:lnTo>
                <a:cubicBezTo>
                  <a:pt x="150019" y="98852"/>
                  <a:pt x="152430" y="96441"/>
                  <a:pt x="155377" y="96441"/>
                </a:cubicBezTo>
                <a:lnTo>
                  <a:pt x="166092" y="96441"/>
                </a:lnTo>
                <a:close/>
                <a:moveTo>
                  <a:pt x="85725" y="101798"/>
                </a:moveTo>
                <a:lnTo>
                  <a:pt x="85725" y="112514"/>
                </a:lnTo>
                <a:cubicBezTo>
                  <a:pt x="85725" y="115461"/>
                  <a:pt x="83314" y="117872"/>
                  <a:pt x="80367" y="117872"/>
                </a:cubicBezTo>
                <a:lnTo>
                  <a:pt x="69652" y="117872"/>
                </a:lnTo>
                <a:cubicBezTo>
                  <a:pt x="66705" y="117872"/>
                  <a:pt x="64294" y="115461"/>
                  <a:pt x="64294" y="112514"/>
                </a:cubicBezTo>
                <a:lnTo>
                  <a:pt x="64294" y="101798"/>
                </a:lnTo>
                <a:cubicBezTo>
                  <a:pt x="64294" y="98852"/>
                  <a:pt x="66705" y="96441"/>
                  <a:pt x="69652" y="96441"/>
                </a:cubicBezTo>
                <a:lnTo>
                  <a:pt x="80367" y="96441"/>
                </a:lnTo>
                <a:cubicBezTo>
                  <a:pt x="83314" y="96441"/>
                  <a:pt x="85725" y="98852"/>
                  <a:pt x="85725" y="101798"/>
                </a:cubicBezTo>
                <a:close/>
                <a:moveTo>
                  <a:pt x="80367" y="64294"/>
                </a:moveTo>
                <a:cubicBezTo>
                  <a:pt x="83314" y="64294"/>
                  <a:pt x="85725" y="66705"/>
                  <a:pt x="85725" y="69652"/>
                </a:cubicBezTo>
                <a:lnTo>
                  <a:pt x="85725" y="80367"/>
                </a:lnTo>
                <a:cubicBezTo>
                  <a:pt x="85725" y="83314"/>
                  <a:pt x="83314" y="85725"/>
                  <a:pt x="80367" y="85725"/>
                </a:cubicBezTo>
                <a:lnTo>
                  <a:pt x="69652" y="85725"/>
                </a:lnTo>
                <a:cubicBezTo>
                  <a:pt x="66705" y="85725"/>
                  <a:pt x="64294" y="83314"/>
                  <a:pt x="64294" y="80367"/>
                </a:cubicBezTo>
                <a:lnTo>
                  <a:pt x="64294" y="69652"/>
                </a:lnTo>
                <a:cubicBezTo>
                  <a:pt x="64294" y="66705"/>
                  <a:pt x="66705" y="64294"/>
                  <a:pt x="69652" y="64294"/>
                </a:cubicBezTo>
                <a:lnTo>
                  <a:pt x="80367" y="64294"/>
                </a:lnTo>
                <a:close/>
                <a:moveTo>
                  <a:pt x="42863" y="101798"/>
                </a:moveTo>
                <a:lnTo>
                  <a:pt x="42863" y="112514"/>
                </a:lnTo>
                <a:cubicBezTo>
                  <a:pt x="42863" y="115461"/>
                  <a:pt x="40451" y="117872"/>
                  <a:pt x="37505" y="117872"/>
                </a:cubicBezTo>
                <a:lnTo>
                  <a:pt x="26789" y="117872"/>
                </a:lnTo>
                <a:cubicBezTo>
                  <a:pt x="23842" y="117872"/>
                  <a:pt x="21431" y="115461"/>
                  <a:pt x="21431" y="112514"/>
                </a:cubicBezTo>
                <a:lnTo>
                  <a:pt x="21431" y="101798"/>
                </a:lnTo>
                <a:cubicBezTo>
                  <a:pt x="21431" y="98852"/>
                  <a:pt x="23842" y="96441"/>
                  <a:pt x="26789" y="96441"/>
                </a:cubicBezTo>
                <a:lnTo>
                  <a:pt x="37505" y="96441"/>
                </a:lnTo>
                <a:cubicBezTo>
                  <a:pt x="40451" y="96441"/>
                  <a:pt x="42863" y="98852"/>
                  <a:pt x="42863" y="101798"/>
                </a:cubicBezTo>
                <a:close/>
                <a:moveTo>
                  <a:pt x="37505" y="64294"/>
                </a:moveTo>
                <a:cubicBezTo>
                  <a:pt x="40451" y="64294"/>
                  <a:pt x="42863" y="66705"/>
                  <a:pt x="42863" y="69652"/>
                </a:cubicBezTo>
                <a:lnTo>
                  <a:pt x="42863" y="80367"/>
                </a:lnTo>
                <a:cubicBezTo>
                  <a:pt x="42863" y="83314"/>
                  <a:pt x="40451" y="85725"/>
                  <a:pt x="37505" y="85725"/>
                </a:cubicBezTo>
                <a:lnTo>
                  <a:pt x="26789" y="85725"/>
                </a:lnTo>
                <a:cubicBezTo>
                  <a:pt x="23842" y="85725"/>
                  <a:pt x="21431" y="83314"/>
                  <a:pt x="21431" y="80367"/>
                </a:cubicBezTo>
                <a:lnTo>
                  <a:pt x="21431" y="69652"/>
                </a:lnTo>
                <a:cubicBezTo>
                  <a:pt x="21431" y="66705"/>
                  <a:pt x="23842" y="64294"/>
                  <a:pt x="26789" y="64294"/>
                </a:cubicBezTo>
                <a:lnTo>
                  <a:pt x="37505" y="64294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34" name="Text 31"/>
          <p:cNvSpPr/>
          <p:nvPr/>
        </p:nvSpPr>
        <p:spPr>
          <a:xfrm>
            <a:off x="6533903" y="2832790"/>
            <a:ext cx="5210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Top Hiring Cities</a:t>
            </a:r>
            <a:endParaRPr lang="en-US" sz="1600" dirty="0"/>
          </a:p>
        </p:txBody>
      </p:sp>
      <p:pic>
        <p:nvPicPr>
          <p:cNvPr id="35" name="Image 1" descr="https://kimi-img.moonshot.cn/pub/slides/26-03-13-18:32:56-d6pufm7826pggs9bd570.png">    </p:cNvPr>
          <p:cNvPicPr>
            <a:picLocks noChangeAspect="1"/>
          </p:cNvPicPr>
          <p:nvPr/>
        </p:nvPicPr>
        <p:blipFill>
          <a:blip r:embed="rId2"/>
          <a:srcRect l="18" r="18" t="0" b="0"/>
          <a:stretch/>
        </p:blipFill>
        <p:spPr>
          <a:xfrm>
            <a:off x="6324353" y="3213564"/>
            <a:ext cx="5334000" cy="2095500"/>
          </a:xfrm>
          <a:prstGeom prst="roundRect">
            <a:avLst>
              <a:gd name="adj" fmla="val 0"/>
            </a:avLst>
          </a:prstGeom>
        </p:spPr>
      </p:pic>
      <p:sp>
        <p:nvSpPr>
          <p:cNvPr id="36" name="Shape 32"/>
          <p:cNvSpPr/>
          <p:nvPr/>
        </p:nvSpPr>
        <p:spPr>
          <a:xfrm>
            <a:off x="398859" y="5753416"/>
            <a:ext cx="11409872" cy="723900"/>
          </a:xfrm>
          <a:custGeom>
            <a:avLst/>
            <a:gdLst/>
            <a:ahLst/>
            <a:cxnLst/>
            <a:rect l="l" t="t" r="r" b="b"/>
            <a:pathLst>
              <a:path w="11409872" h="723900">
                <a:moveTo>
                  <a:pt x="35943" y="0"/>
                </a:moveTo>
                <a:lnTo>
                  <a:pt x="11371773" y="0"/>
                </a:lnTo>
                <a:cubicBezTo>
                  <a:pt x="11392800" y="0"/>
                  <a:pt x="11409872" y="17072"/>
                  <a:pt x="11409872" y="38099"/>
                </a:cubicBezTo>
                <a:lnTo>
                  <a:pt x="11409872" y="685801"/>
                </a:lnTo>
                <a:cubicBezTo>
                  <a:pt x="11409872" y="706828"/>
                  <a:pt x="11392800" y="723900"/>
                  <a:pt x="11371773" y="723900"/>
                </a:cubicBezTo>
                <a:lnTo>
                  <a:pt x="35943" y="723900"/>
                </a:lnTo>
                <a:cubicBezTo>
                  <a:pt x="16092" y="723900"/>
                  <a:pt x="0" y="707808"/>
                  <a:pt x="0" y="687957"/>
                </a:cubicBezTo>
                <a:lnTo>
                  <a:pt x="0" y="35943"/>
                </a:lnTo>
                <a:cubicBezTo>
                  <a:pt x="0" y="16106"/>
                  <a:pt x="16106" y="0"/>
                  <a:pt x="35943" y="0"/>
                </a:cubicBezTo>
                <a:close/>
              </a:path>
            </a:pathLst>
          </a:custGeom>
          <a:gradFill rotWithShape="1" flip="none">
            <a:gsLst>
              <a:gs pos="0">
                <a:srgbClr val="B89A6A">
                  <a:alpha val="20000"/>
                </a:srgbClr>
              </a:gs>
              <a:gs pos="100000">
                <a:srgbClr val="3A5F7A">
                  <a:alpha val="10000"/>
                </a:srgbClr>
              </a:gs>
            </a:gsLst>
            <a:lin ang="0" scaled="1"/>
          </a:gradFill>
          <a:ln/>
        </p:spPr>
      </p:sp>
      <p:sp>
        <p:nvSpPr>
          <p:cNvPr id="37" name="Shape 33"/>
          <p:cNvSpPr/>
          <p:nvPr/>
        </p:nvSpPr>
        <p:spPr>
          <a:xfrm>
            <a:off x="398859" y="5753416"/>
            <a:ext cx="35943" cy="723900"/>
          </a:xfrm>
          <a:custGeom>
            <a:avLst/>
            <a:gdLst/>
            <a:ahLst/>
            <a:cxnLst/>
            <a:rect l="l" t="t" r="r" b="b"/>
            <a:pathLst>
              <a:path w="35943" h="723900">
                <a:moveTo>
                  <a:pt x="35943" y="0"/>
                </a:moveTo>
                <a:lnTo>
                  <a:pt x="35943" y="0"/>
                </a:lnTo>
                <a:lnTo>
                  <a:pt x="35943" y="723900"/>
                </a:lnTo>
                <a:lnTo>
                  <a:pt x="35943" y="723900"/>
                </a:lnTo>
                <a:cubicBezTo>
                  <a:pt x="16092" y="723900"/>
                  <a:pt x="0" y="707808"/>
                  <a:pt x="0" y="687957"/>
                </a:cubicBezTo>
                <a:lnTo>
                  <a:pt x="0" y="35943"/>
                </a:lnTo>
                <a:cubicBezTo>
                  <a:pt x="0" y="16106"/>
                  <a:pt x="16106" y="0"/>
                  <a:pt x="35943" y="0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38" name="Shape 34"/>
          <p:cNvSpPr/>
          <p:nvPr/>
        </p:nvSpPr>
        <p:spPr>
          <a:xfrm>
            <a:off x="626291" y="6000864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39" name="Text 35"/>
          <p:cNvSpPr/>
          <p:nvPr/>
        </p:nvSpPr>
        <p:spPr>
          <a:xfrm>
            <a:off x="1007201" y="5905726"/>
            <a:ext cx="786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Insight:</a:t>
            </a:r>
            <a:endParaRPr lang="en-US" sz="1600" dirty="0"/>
          </a:p>
        </p:txBody>
      </p:sp>
      <p:sp>
        <p:nvSpPr>
          <p:cNvPr id="40" name="Text 36"/>
          <p:cNvSpPr/>
          <p:nvPr/>
        </p:nvSpPr>
        <p:spPr>
          <a:xfrm>
            <a:off x="1007201" y="6134302"/>
            <a:ext cx="7858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IT Services</a:t>
            </a:r>
            <a:pPr>
              <a:lnSpc>
                <a:spcPct val="120000"/>
              </a:lnSpc>
            </a:pPr>
            <a:r>
              <a:rPr lang="en-US" sz="10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and </a:t>
            </a:r>
            <a:pPr>
              <a:lnSpc>
                <a:spcPct val="120000"/>
              </a:lnSpc>
            </a:pPr>
            <a:r>
              <a:rPr lang="en-US" sz="105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Staffing firms</a:t>
            </a:r>
            <a:pPr>
              <a:lnSpc>
                <a:spcPct val="120000"/>
              </a:lnSpc>
            </a:pPr>
            <a:r>
              <a:rPr lang="en-US" sz="10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dominate hiring volumes, while </a:t>
            </a:r>
            <a:pPr>
              <a:lnSpc>
                <a:spcPct val="120000"/>
              </a:lnSpc>
            </a:pPr>
            <a:r>
              <a:rPr lang="en-US" sz="105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major metropolitan areas</a:t>
            </a:r>
            <a:pPr>
              <a:lnSpc>
                <a:spcPct val="120000"/>
              </a:lnSpc>
            </a:pPr>
            <a:r>
              <a:rPr lang="en-US" sz="10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show the highest concentration of opportunities.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0888" y="380886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spc="53" kern="0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COMPETENCY REQUIREMENTS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0888" y="64743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0E2E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Skills Demand Analysis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0888" y="1294972"/>
            <a:ext cx="6781800" cy="4495800"/>
          </a:xfrm>
          <a:custGeom>
            <a:avLst/>
            <a:gdLst/>
            <a:ahLst/>
            <a:cxnLst/>
            <a:rect l="l" t="t" r="r" b="b"/>
            <a:pathLst>
              <a:path w="6781800" h="4495800">
                <a:moveTo>
                  <a:pt x="38079" y="0"/>
                </a:moveTo>
                <a:lnTo>
                  <a:pt x="6743721" y="0"/>
                </a:lnTo>
                <a:cubicBezTo>
                  <a:pt x="6764751" y="0"/>
                  <a:pt x="6781800" y="17049"/>
                  <a:pt x="6781800" y="38079"/>
                </a:cubicBezTo>
                <a:lnTo>
                  <a:pt x="6781800" y="4457721"/>
                </a:lnTo>
                <a:cubicBezTo>
                  <a:pt x="6781800" y="4478751"/>
                  <a:pt x="6764751" y="4495800"/>
                  <a:pt x="6743721" y="4495800"/>
                </a:cubicBezTo>
                <a:lnTo>
                  <a:pt x="38079" y="4495800"/>
                </a:lnTo>
                <a:cubicBezTo>
                  <a:pt x="17049" y="4495800"/>
                  <a:pt x="0" y="4478751"/>
                  <a:pt x="0" y="4457721"/>
                </a:cubicBezTo>
                <a:lnTo>
                  <a:pt x="0" y="38079"/>
                </a:lnTo>
                <a:cubicBezTo>
                  <a:pt x="0" y="17063"/>
                  <a:pt x="17063" y="0"/>
                  <a:pt x="38079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95088" y="1523437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24519" y="85018"/>
                </a:moveTo>
                <a:cubicBezTo>
                  <a:pt x="29468" y="50416"/>
                  <a:pt x="59271" y="23812"/>
                  <a:pt x="95250" y="23812"/>
                </a:cubicBezTo>
                <a:cubicBezTo>
                  <a:pt x="114970" y="23812"/>
                  <a:pt x="132829" y="31812"/>
                  <a:pt x="145777" y="44723"/>
                </a:cubicBezTo>
                <a:cubicBezTo>
                  <a:pt x="145852" y="44797"/>
                  <a:pt x="145926" y="44872"/>
                  <a:pt x="146000" y="44946"/>
                </a:cubicBezTo>
                <a:lnTo>
                  <a:pt x="148828" y="47625"/>
                </a:lnTo>
                <a:lnTo>
                  <a:pt x="131006" y="47625"/>
                </a:lnTo>
                <a:cubicBezTo>
                  <a:pt x="124420" y="47625"/>
                  <a:pt x="119100" y="52946"/>
                  <a:pt x="119100" y="59531"/>
                </a:cubicBezTo>
                <a:cubicBezTo>
                  <a:pt x="119100" y="66117"/>
                  <a:pt x="124420" y="71438"/>
                  <a:pt x="131006" y="71438"/>
                </a:cubicBezTo>
                <a:lnTo>
                  <a:pt x="178631" y="71438"/>
                </a:lnTo>
                <a:cubicBezTo>
                  <a:pt x="185217" y="71438"/>
                  <a:pt x="190537" y="66117"/>
                  <a:pt x="190537" y="59531"/>
                </a:cubicBezTo>
                <a:lnTo>
                  <a:pt x="190537" y="11906"/>
                </a:lnTo>
                <a:cubicBezTo>
                  <a:pt x="190537" y="5321"/>
                  <a:pt x="185217" y="0"/>
                  <a:pt x="178631" y="0"/>
                </a:cubicBezTo>
                <a:cubicBezTo>
                  <a:pt x="172045" y="0"/>
                  <a:pt x="166725" y="5321"/>
                  <a:pt x="166725" y="11906"/>
                </a:cubicBezTo>
                <a:lnTo>
                  <a:pt x="166725" y="31775"/>
                </a:lnTo>
                <a:lnTo>
                  <a:pt x="162520" y="27794"/>
                </a:lnTo>
                <a:cubicBezTo>
                  <a:pt x="145293" y="10641"/>
                  <a:pt x="121481" y="0"/>
                  <a:pt x="95250" y="0"/>
                </a:cubicBezTo>
                <a:cubicBezTo>
                  <a:pt x="47253" y="0"/>
                  <a:pt x="7553" y="35496"/>
                  <a:pt x="967" y="81669"/>
                </a:cubicBezTo>
                <a:cubicBezTo>
                  <a:pt x="37" y="88181"/>
                  <a:pt x="4539" y="94208"/>
                  <a:pt x="11050" y="95138"/>
                </a:cubicBezTo>
                <a:cubicBezTo>
                  <a:pt x="17562" y="96069"/>
                  <a:pt x="23589" y="91529"/>
                  <a:pt x="24519" y="85055"/>
                </a:cubicBezTo>
                <a:close/>
                <a:moveTo>
                  <a:pt x="189533" y="108831"/>
                </a:moveTo>
                <a:cubicBezTo>
                  <a:pt x="190463" y="102319"/>
                  <a:pt x="185924" y="96292"/>
                  <a:pt x="179450" y="95362"/>
                </a:cubicBezTo>
                <a:cubicBezTo>
                  <a:pt x="172975" y="94431"/>
                  <a:pt x="166911" y="98971"/>
                  <a:pt x="165981" y="105445"/>
                </a:cubicBezTo>
                <a:cubicBezTo>
                  <a:pt x="161032" y="140047"/>
                  <a:pt x="131229" y="166650"/>
                  <a:pt x="95250" y="166650"/>
                </a:cubicBezTo>
                <a:cubicBezTo>
                  <a:pt x="75530" y="166650"/>
                  <a:pt x="57671" y="158651"/>
                  <a:pt x="44723" y="145740"/>
                </a:cubicBezTo>
                <a:cubicBezTo>
                  <a:pt x="44648" y="145666"/>
                  <a:pt x="44574" y="145591"/>
                  <a:pt x="44500" y="145517"/>
                </a:cubicBezTo>
                <a:lnTo>
                  <a:pt x="41672" y="142838"/>
                </a:lnTo>
                <a:lnTo>
                  <a:pt x="59494" y="142838"/>
                </a:lnTo>
                <a:cubicBezTo>
                  <a:pt x="66080" y="142838"/>
                  <a:pt x="71400" y="137517"/>
                  <a:pt x="71400" y="130932"/>
                </a:cubicBezTo>
                <a:cubicBezTo>
                  <a:pt x="71400" y="124346"/>
                  <a:pt x="66080" y="119025"/>
                  <a:pt x="59494" y="119025"/>
                </a:cubicBezTo>
                <a:lnTo>
                  <a:pt x="11906" y="119063"/>
                </a:lnTo>
                <a:cubicBezTo>
                  <a:pt x="8744" y="119063"/>
                  <a:pt x="5693" y="120328"/>
                  <a:pt x="3460" y="122597"/>
                </a:cubicBezTo>
                <a:cubicBezTo>
                  <a:pt x="1228" y="124867"/>
                  <a:pt x="-37" y="127881"/>
                  <a:pt x="0" y="131080"/>
                </a:cubicBezTo>
                <a:lnTo>
                  <a:pt x="372" y="178333"/>
                </a:lnTo>
                <a:cubicBezTo>
                  <a:pt x="409" y="184919"/>
                  <a:pt x="5804" y="190202"/>
                  <a:pt x="12390" y="190128"/>
                </a:cubicBezTo>
                <a:cubicBezTo>
                  <a:pt x="18976" y="190054"/>
                  <a:pt x="24259" y="184696"/>
                  <a:pt x="24185" y="178110"/>
                </a:cubicBezTo>
                <a:lnTo>
                  <a:pt x="24036" y="158948"/>
                </a:lnTo>
                <a:lnTo>
                  <a:pt x="28017" y="162706"/>
                </a:lnTo>
                <a:cubicBezTo>
                  <a:pt x="45244" y="179859"/>
                  <a:pt x="69019" y="190500"/>
                  <a:pt x="95250" y="190500"/>
                </a:cubicBezTo>
                <a:cubicBezTo>
                  <a:pt x="143247" y="190500"/>
                  <a:pt x="182947" y="155004"/>
                  <a:pt x="189533" y="108831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6" name="Text 4"/>
          <p:cNvSpPr/>
          <p:nvPr/>
        </p:nvSpPr>
        <p:spPr>
          <a:xfrm>
            <a:off x="809400" y="1485360"/>
            <a:ext cx="6257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Technical Skill Demand Comparison</a:t>
            </a:r>
            <a:endParaRPr lang="en-US" sz="1600" dirty="0"/>
          </a:p>
        </p:txBody>
      </p:sp>
      <p:pic>
        <p:nvPicPr>
          <p:cNvPr id="7" name="Image 0" descr="https://kimi-img.moonshot.cn/pub/slides/26-03-13-18:33:04-d6pufo6e8aihj3d32bbg.png">    </p:cNvPr>
          <p:cNvPicPr>
            <a:picLocks noChangeAspect="1"/>
          </p:cNvPicPr>
          <p:nvPr/>
        </p:nvPicPr>
        <p:blipFill>
          <a:blip r:embed="rId1"/>
          <a:srcRect l="112" r="112" t="0" b="0"/>
          <a:stretch/>
        </p:blipFill>
        <p:spPr>
          <a:xfrm>
            <a:off x="571275" y="1904326"/>
            <a:ext cx="6400800" cy="2667000"/>
          </a:xfrm>
          <a:prstGeom prst="roundRect">
            <a:avLst>
              <a:gd name="adj" fmla="val 0"/>
            </a:avLst>
          </a:prstGeom>
        </p:spPr>
      </p:pic>
      <p:sp>
        <p:nvSpPr>
          <p:cNvPr id="8" name="Shape 5"/>
          <p:cNvSpPr/>
          <p:nvPr/>
        </p:nvSpPr>
        <p:spPr>
          <a:xfrm>
            <a:off x="398859" y="5940656"/>
            <a:ext cx="6761672" cy="762000"/>
          </a:xfrm>
          <a:custGeom>
            <a:avLst/>
            <a:gdLst/>
            <a:ahLst/>
            <a:cxnLst/>
            <a:rect l="l" t="t" r="r" b="b"/>
            <a:pathLst>
              <a:path w="6761672" h="762000">
                <a:moveTo>
                  <a:pt x="35943" y="0"/>
                </a:moveTo>
                <a:lnTo>
                  <a:pt x="6723572" y="0"/>
                </a:lnTo>
                <a:cubicBezTo>
                  <a:pt x="6744600" y="0"/>
                  <a:pt x="6761672" y="17072"/>
                  <a:pt x="6761672" y="38100"/>
                </a:cubicBezTo>
                <a:lnTo>
                  <a:pt x="6761672" y="723900"/>
                </a:lnTo>
                <a:cubicBezTo>
                  <a:pt x="6761672" y="744928"/>
                  <a:pt x="6744600" y="762000"/>
                  <a:pt x="6723572" y="762000"/>
                </a:cubicBezTo>
                <a:lnTo>
                  <a:pt x="35943" y="762000"/>
                </a:lnTo>
                <a:cubicBezTo>
                  <a:pt x="16092" y="762000"/>
                  <a:pt x="0" y="745908"/>
                  <a:pt x="0" y="726057"/>
                </a:cubicBezTo>
                <a:lnTo>
                  <a:pt x="0" y="35943"/>
                </a:lnTo>
                <a:cubicBezTo>
                  <a:pt x="0" y="16106"/>
                  <a:pt x="16106" y="0"/>
                  <a:pt x="35943" y="0"/>
                </a:cubicBezTo>
                <a:close/>
              </a:path>
            </a:pathLst>
          </a:custGeom>
          <a:gradFill rotWithShape="1" flip="none">
            <a:gsLst>
              <a:gs pos="0">
                <a:srgbClr val="B89A6A">
                  <a:alpha val="20000"/>
                </a:srgbClr>
              </a:gs>
              <a:gs pos="100000">
                <a:srgbClr val="3A5F7A">
                  <a:alpha val="10000"/>
                </a:srgbClr>
              </a:gs>
            </a:gsLst>
            <a:lin ang="0" scaled="1"/>
          </a:gradFill>
          <a:ln/>
        </p:spPr>
      </p:sp>
      <p:sp>
        <p:nvSpPr>
          <p:cNvPr id="9" name="Shape 6"/>
          <p:cNvSpPr/>
          <p:nvPr/>
        </p:nvSpPr>
        <p:spPr>
          <a:xfrm>
            <a:off x="398859" y="5940656"/>
            <a:ext cx="35943" cy="762000"/>
          </a:xfrm>
          <a:custGeom>
            <a:avLst/>
            <a:gdLst/>
            <a:ahLst/>
            <a:cxnLst/>
            <a:rect l="l" t="t" r="r" b="b"/>
            <a:pathLst>
              <a:path w="35943" h="762000">
                <a:moveTo>
                  <a:pt x="35943" y="0"/>
                </a:moveTo>
                <a:lnTo>
                  <a:pt x="35943" y="0"/>
                </a:lnTo>
                <a:lnTo>
                  <a:pt x="35943" y="762000"/>
                </a:lnTo>
                <a:lnTo>
                  <a:pt x="35943" y="762000"/>
                </a:lnTo>
                <a:cubicBezTo>
                  <a:pt x="16092" y="762000"/>
                  <a:pt x="0" y="745908"/>
                  <a:pt x="0" y="726057"/>
                </a:cubicBezTo>
                <a:lnTo>
                  <a:pt x="0" y="35943"/>
                </a:lnTo>
                <a:cubicBezTo>
                  <a:pt x="0" y="16106"/>
                  <a:pt x="16106" y="0"/>
                  <a:pt x="35943" y="0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0" name="Shape 7"/>
          <p:cNvSpPr/>
          <p:nvPr/>
        </p:nvSpPr>
        <p:spPr>
          <a:xfrm>
            <a:off x="578666" y="6121722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92125" y="-5626"/>
                </a:moveTo>
                <a:cubicBezTo>
                  <a:pt x="90904" y="-8007"/>
                  <a:pt x="88434" y="-9525"/>
                  <a:pt x="85755" y="-9525"/>
                </a:cubicBezTo>
                <a:cubicBezTo>
                  <a:pt x="83076" y="-9525"/>
                  <a:pt x="80605" y="-8007"/>
                  <a:pt x="79385" y="-5626"/>
                </a:cubicBezTo>
                <a:lnTo>
                  <a:pt x="57477" y="37296"/>
                </a:lnTo>
                <a:lnTo>
                  <a:pt x="9882" y="44857"/>
                </a:lnTo>
                <a:cubicBezTo>
                  <a:pt x="7233" y="45274"/>
                  <a:pt x="5030" y="47149"/>
                  <a:pt x="4197" y="49709"/>
                </a:cubicBezTo>
                <a:cubicBezTo>
                  <a:pt x="3364" y="52268"/>
                  <a:pt x="4048" y="55066"/>
                  <a:pt x="5923" y="56971"/>
                </a:cubicBezTo>
                <a:lnTo>
                  <a:pt x="39975" y="91053"/>
                </a:lnTo>
                <a:lnTo>
                  <a:pt x="32474" y="138648"/>
                </a:lnTo>
                <a:cubicBezTo>
                  <a:pt x="32058" y="141297"/>
                  <a:pt x="33159" y="143976"/>
                  <a:pt x="35332" y="145554"/>
                </a:cubicBezTo>
                <a:cubicBezTo>
                  <a:pt x="37505" y="147131"/>
                  <a:pt x="40362" y="147370"/>
                  <a:pt x="42773" y="146149"/>
                </a:cubicBezTo>
                <a:lnTo>
                  <a:pt x="85755" y="124301"/>
                </a:lnTo>
                <a:lnTo>
                  <a:pt x="128707" y="146149"/>
                </a:lnTo>
                <a:cubicBezTo>
                  <a:pt x="131088" y="147370"/>
                  <a:pt x="133975" y="147131"/>
                  <a:pt x="136148" y="145554"/>
                </a:cubicBezTo>
                <a:cubicBezTo>
                  <a:pt x="138321" y="143976"/>
                  <a:pt x="139422" y="141327"/>
                  <a:pt x="139005" y="138648"/>
                </a:cubicBezTo>
                <a:lnTo>
                  <a:pt x="131475" y="91053"/>
                </a:lnTo>
                <a:lnTo>
                  <a:pt x="165527" y="56971"/>
                </a:lnTo>
                <a:cubicBezTo>
                  <a:pt x="167432" y="55066"/>
                  <a:pt x="168086" y="52268"/>
                  <a:pt x="167253" y="49709"/>
                </a:cubicBezTo>
                <a:cubicBezTo>
                  <a:pt x="166420" y="47149"/>
                  <a:pt x="164247" y="45274"/>
                  <a:pt x="161568" y="44857"/>
                </a:cubicBezTo>
                <a:lnTo>
                  <a:pt x="114002" y="37296"/>
                </a:lnTo>
                <a:lnTo>
                  <a:pt x="92125" y="-5626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1" name="Text 8"/>
          <p:cNvSpPr/>
          <p:nvPr/>
        </p:nvSpPr>
        <p:spPr>
          <a:xfrm>
            <a:off x="816791" y="6092968"/>
            <a:ext cx="6267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SQL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remains the most demanded skill, appearing in </a:t>
            </a:r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68%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of all job postings, followed by </a:t>
            </a:r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Excel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at </a:t>
            </a:r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62%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353120" y="1294972"/>
            <a:ext cx="4457700" cy="2971800"/>
          </a:xfrm>
          <a:custGeom>
            <a:avLst/>
            <a:gdLst/>
            <a:ahLst/>
            <a:cxnLst/>
            <a:rect l="l" t="t" r="r" b="b"/>
            <a:pathLst>
              <a:path w="4457700" h="2971800">
                <a:moveTo>
                  <a:pt x="38098" y="0"/>
                </a:moveTo>
                <a:lnTo>
                  <a:pt x="4419602" y="0"/>
                </a:lnTo>
                <a:cubicBezTo>
                  <a:pt x="4440643" y="0"/>
                  <a:pt x="4457700" y="17057"/>
                  <a:pt x="4457700" y="38098"/>
                </a:cubicBezTo>
                <a:lnTo>
                  <a:pt x="4457700" y="2933702"/>
                </a:lnTo>
                <a:cubicBezTo>
                  <a:pt x="4457700" y="2954743"/>
                  <a:pt x="4440643" y="2971800"/>
                  <a:pt x="4419602" y="2971800"/>
                </a:cubicBezTo>
                <a:lnTo>
                  <a:pt x="38098" y="2971800"/>
                </a:lnTo>
                <a:cubicBezTo>
                  <a:pt x="17057" y="2971800"/>
                  <a:pt x="0" y="2954743"/>
                  <a:pt x="0" y="29337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7567321" y="1523437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86506" y="1935"/>
                </a:moveTo>
                <a:cubicBezTo>
                  <a:pt x="92050" y="-633"/>
                  <a:pt x="98450" y="-633"/>
                  <a:pt x="103994" y="1935"/>
                </a:cubicBezTo>
                <a:lnTo>
                  <a:pt x="185328" y="39514"/>
                </a:lnTo>
                <a:cubicBezTo>
                  <a:pt x="188491" y="40965"/>
                  <a:pt x="190500" y="44128"/>
                  <a:pt x="190500" y="47625"/>
                </a:cubicBezTo>
                <a:cubicBezTo>
                  <a:pt x="190500" y="51122"/>
                  <a:pt x="188491" y="54285"/>
                  <a:pt x="185328" y="55736"/>
                </a:cubicBezTo>
                <a:lnTo>
                  <a:pt x="103994" y="93315"/>
                </a:lnTo>
                <a:cubicBezTo>
                  <a:pt x="98450" y="95883"/>
                  <a:pt x="92050" y="95883"/>
                  <a:pt x="86506" y="93315"/>
                </a:cubicBezTo>
                <a:lnTo>
                  <a:pt x="5172" y="55736"/>
                </a:lnTo>
                <a:cubicBezTo>
                  <a:pt x="2009" y="54248"/>
                  <a:pt x="0" y="51085"/>
                  <a:pt x="0" y="47625"/>
                </a:cubicBezTo>
                <a:cubicBezTo>
                  <a:pt x="0" y="44165"/>
                  <a:pt x="2009" y="40965"/>
                  <a:pt x="5172" y="39514"/>
                </a:cubicBezTo>
                <a:lnTo>
                  <a:pt x="86506" y="1935"/>
                </a:lnTo>
                <a:close/>
                <a:moveTo>
                  <a:pt x="17897" y="81260"/>
                </a:moveTo>
                <a:lnTo>
                  <a:pt x="79028" y="109500"/>
                </a:lnTo>
                <a:cubicBezTo>
                  <a:pt x="89334" y="114263"/>
                  <a:pt x="101203" y="114263"/>
                  <a:pt x="111509" y="109500"/>
                </a:cubicBezTo>
                <a:lnTo>
                  <a:pt x="172641" y="81260"/>
                </a:lnTo>
                <a:lnTo>
                  <a:pt x="185328" y="87139"/>
                </a:lnTo>
                <a:cubicBezTo>
                  <a:pt x="188491" y="88590"/>
                  <a:pt x="190500" y="91753"/>
                  <a:pt x="190500" y="95250"/>
                </a:cubicBezTo>
                <a:cubicBezTo>
                  <a:pt x="190500" y="98747"/>
                  <a:pt x="188491" y="101910"/>
                  <a:pt x="185328" y="103361"/>
                </a:cubicBezTo>
                <a:lnTo>
                  <a:pt x="103994" y="140940"/>
                </a:lnTo>
                <a:cubicBezTo>
                  <a:pt x="98450" y="143508"/>
                  <a:pt x="92050" y="143508"/>
                  <a:pt x="86506" y="140940"/>
                </a:cubicBezTo>
                <a:lnTo>
                  <a:pt x="5172" y="103361"/>
                </a:lnTo>
                <a:cubicBezTo>
                  <a:pt x="2009" y="101873"/>
                  <a:pt x="0" y="98710"/>
                  <a:pt x="0" y="95250"/>
                </a:cubicBezTo>
                <a:cubicBezTo>
                  <a:pt x="0" y="91790"/>
                  <a:pt x="2009" y="88590"/>
                  <a:pt x="5172" y="87139"/>
                </a:cubicBezTo>
                <a:lnTo>
                  <a:pt x="17859" y="81260"/>
                </a:lnTo>
                <a:close/>
                <a:moveTo>
                  <a:pt x="5172" y="134764"/>
                </a:moveTo>
                <a:lnTo>
                  <a:pt x="17859" y="128885"/>
                </a:lnTo>
                <a:lnTo>
                  <a:pt x="78991" y="157125"/>
                </a:lnTo>
                <a:cubicBezTo>
                  <a:pt x="89297" y="161888"/>
                  <a:pt x="101166" y="161888"/>
                  <a:pt x="111472" y="157125"/>
                </a:cubicBezTo>
                <a:lnTo>
                  <a:pt x="172603" y="128885"/>
                </a:lnTo>
                <a:lnTo>
                  <a:pt x="185291" y="134764"/>
                </a:lnTo>
                <a:cubicBezTo>
                  <a:pt x="188454" y="136215"/>
                  <a:pt x="190463" y="139378"/>
                  <a:pt x="190463" y="142875"/>
                </a:cubicBezTo>
                <a:cubicBezTo>
                  <a:pt x="190463" y="146372"/>
                  <a:pt x="188454" y="149535"/>
                  <a:pt x="185291" y="150986"/>
                </a:cubicBezTo>
                <a:lnTo>
                  <a:pt x="103956" y="188565"/>
                </a:lnTo>
                <a:cubicBezTo>
                  <a:pt x="98413" y="191133"/>
                  <a:pt x="92013" y="191133"/>
                  <a:pt x="86469" y="188565"/>
                </a:cubicBezTo>
                <a:lnTo>
                  <a:pt x="5172" y="150986"/>
                </a:lnTo>
                <a:cubicBezTo>
                  <a:pt x="2009" y="149498"/>
                  <a:pt x="0" y="146335"/>
                  <a:pt x="0" y="142875"/>
                </a:cubicBezTo>
                <a:cubicBezTo>
                  <a:pt x="0" y="139415"/>
                  <a:pt x="2009" y="136215"/>
                  <a:pt x="5172" y="134764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4" name="Text 11"/>
          <p:cNvSpPr/>
          <p:nvPr/>
        </p:nvSpPr>
        <p:spPr>
          <a:xfrm>
            <a:off x="7781633" y="1485360"/>
            <a:ext cx="3933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Skill Demand Frequency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543508" y="1904326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SQL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1363617" y="1904326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68%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543508" y="2132791"/>
            <a:ext cx="4076700" cy="114300"/>
          </a:xfrm>
          <a:custGeom>
            <a:avLst/>
            <a:gdLst/>
            <a:ahLst/>
            <a:cxnLst/>
            <a:rect l="l" t="t" r="r" b="b"/>
            <a:pathLst>
              <a:path w="4076700" h="114300">
                <a:moveTo>
                  <a:pt x="57150" y="0"/>
                </a:moveTo>
                <a:lnTo>
                  <a:pt x="4019550" y="0"/>
                </a:lnTo>
                <a:cubicBezTo>
                  <a:pt x="4051092" y="0"/>
                  <a:pt x="4076700" y="25608"/>
                  <a:pt x="4076700" y="57150"/>
                </a:cubicBezTo>
                <a:lnTo>
                  <a:pt x="4076700" y="57150"/>
                </a:lnTo>
                <a:cubicBezTo>
                  <a:pt x="4076700" y="88692"/>
                  <a:pt x="4051092" y="114300"/>
                  <a:pt x="401955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7543508" y="2132791"/>
            <a:ext cx="2771775" cy="114300"/>
          </a:xfrm>
          <a:custGeom>
            <a:avLst/>
            <a:gdLst/>
            <a:ahLst/>
            <a:cxnLst/>
            <a:rect l="l" t="t" r="r" b="b"/>
            <a:pathLst>
              <a:path w="2771775" h="114300">
                <a:moveTo>
                  <a:pt x="57150" y="0"/>
                </a:moveTo>
                <a:lnTo>
                  <a:pt x="2714625" y="0"/>
                </a:lnTo>
                <a:cubicBezTo>
                  <a:pt x="2746167" y="0"/>
                  <a:pt x="2771775" y="25608"/>
                  <a:pt x="2771775" y="57150"/>
                </a:cubicBezTo>
                <a:lnTo>
                  <a:pt x="2771775" y="57150"/>
                </a:lnTo>
                <a:cubicBezTo>
                  <a:pt x="2771775" y="88692"/>
                  <a:pt x="2746167" y="114300"/>
                  <a:pt x="2714625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gradFill rotWithShape="1" flip="none">
            <a:gsLst>
              <a:gs pos="0">
                <a:srgbClr val="3A5F7A"/>
              </a:gs>
              <a:gs pos="100000">
                <a:srgbClr val="B89A6A"/>
              </a:gs>
            </a:gsLst>
            <a:lin ang="0" scaled="1"/>
          </a:gradFill>
          <a:ln/>
        </p:spPr>
      </p:sp>
      <p:sp>
        <p:nvSpPr>
          <p:cNvPr id="19" name="Text 16"/>
          <p:cNvSpPr/>
          <p:nvPr/>
        </p:nvSpPr>
        <p:spPr>
          <a:xfrm>
            <a:off x="7543508" y="2361256"/>
            <a:ext cx="371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Excel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1370132" y="2361256"/>
            <a:ext cx="3143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62%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543508" y="2589721"/>
            <a:ext cx="4076700" cy="114300"/>
          </a:xfrm>
          <a:custGeom>
            <a:avLst/>
            <a:gdLst/>
            <a:ahLst/>
            <a:cxnLst/>
            <a:rect l="l" t="t" r="r" b="b"/>
            <a:pathLst>
              <a:path w="4076700" h="114300">
                <a:moveTo>
                  <a:pt x="57150" y="0"/>
                </a:moveTo>
                <a:lnTo>
                  <a:pt x="4019550" y="0"/>
                </a:lnTo>
                <a:cubicBezTo>
                  <a:pt x="4051092" y="0"/>
                  <a:pt x="4076700" y="25608"/>
                  <a:pt x="4076700" y="57150"/>
                </a:cubicBezTo>
                <a:lnTo>
                  <a:pt x="4076700" y="57150"/>
                </a:lnTo>
                <a:cubicBezTo>
                  <a:pt x="4076700" y="88692"/>
                  <a:pt x="4051092" y="114300"/>
                  <a:pt x="401955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7543508" y="2589721"/>
            <a:ext cx="2524125" cy="114300"/>
          </a:xfrm>
          <a:custGeom>
            <a:avLst/>
            <a:gdLst/>
            <a:ahLst/>
            <a:cxnLst/>
            <a:rect l="l" t="t" r="r" b="b"/>
            <a:pathLst>
              <a:path w="2524125" h="114300">
                <a:moveTo>
                  <a:pt x="57150" y="0"/>
                </a:moveTo>
                <a:lnTo>
                  <a:pt x="2466975" y="0"/>
                </a:lnTo>
                <a:cubicBezTo>
                  <a:pt x="2498517" y="0"/>
                  <a:pt x="2524125" y="25608"/>
                  <a:pt x="2524125" y="57150"/>
                </a:cubicBezTo>
                <a:lnTo>
                  <a:pt x="2524125" y="57150"/>
                </a:lnTo>
                <a:cubicBezTo>
                  <a:pt x="2524125" y="88692"/>
                  <a:pt x="2498517" y="114300"/>
                  <a:pt x="2466975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gradFill rotWithShape="1" flip="none">
            <a:gsLst>
              <a:gs pos="0">
                <a:srgbClr val="3A5F7A"/>
              </a:gs>
              <a:gs pos="100000">
                <a:srgbClr val="B89A6A"/>
              </a:gs>
            </a:gsLst>
            <a:lin ang="0" scaled="1"/>
          </a:gradFill>
          <a:ln/>
        </p:spPr>
      </p:sp>
      <p:sp>
        <p:nvSpPr>
          <p:cNvPr id="23" name="Text 20"/>
          <p:cNvSpPr/>
          <p:nvPr/>
        </p:nvSpPr>
        <p:spPr>
          <a:xfrm>
            <a:off x="7543508" y="2818186"/>
            <a:ext cx="466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Python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1372042" y="2818186"/>
            <a:ext cx="3143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45%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7543508" y="3046651"/>
            <a:ext cx="4076700" cy="114300"/>
          </a:xfrm>
          <a:custGeom>
            <a:avLst/>
            <a:gdLst/>
            <a:ahLst/>
            <a:cxnLst/>
            <a:rect l="l" t="t" r="r" b="b"/>
            <a:pathLst>
              <a:path w="4076700" h="114300">
                <a:moveTo>
                  <a:pt x="57150" y="0"/>
                </a:moveTo>
                <a:lnTo>
                  <a:pt x="4019550" y="0"/>
                </a:lnTo>
                <a:cubicBezTo>
                  <a:pt x="4051092" y="0"/>
                  <a:pt x="4076700" y="25608"/>
                  <a:pt x="4076700" y="57150"/>
                </a:cubicBezTo>
                <a:lnTo>
                  <a:pt x="4076700" y="57150"/>
                </a:lnTo>
                <a:cubicBezTo>
                  <a:pt x="4076700" y="88692"/>
                  <a:pt x="4051092" y="114300"/>
                  <a:pt x="401955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7543508" y="3046651"/>
            <a:ext cx="1838325" cy="114300"/>
          </a:xfrm>
          <a:custGeom>
            <a:avLst/>
            <a:gdLst/>
            <a:ahLst/>
            <a:cxnLst/>
            <a:rect l="l" t="t" r="r" b="b"/>
            <a:pathLst>
              <a:path w="1838325" h="114300">
                <a:moveTo>
                  <a:pt x="57150" y="0"/>
                </a:moveTo>
                <a:lnTo>
                  <a:pt x="1781175" y="0"/>
                </a:lnTo>
                <a:cubicBezTo>
                  <a:pt x="1812717" y="0"/>
                  <a:pt x="1838325" y="25608"/>
                  <a:pt x="1838325" y="57150"/>
                </a:cubicBezTo>
                <a:lnTo>
                  <a:pt x="1838325" y="57150"/>
                </a:lnTo>
                <a:cubicBezTo>
                  <a:pt x="1838325" y="88692"/>
                  <a:pt x="1812717" y="114300"/>
                  <a:pt x="1781175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gradFill rotWithShape="1" flip="none">
            <a:gsLst>
              <a:gs pos="0">
                <a:srgbClr val="3A5F7A"/>
              </a:gs>
              <a:gs pos="100000">
                <a:srgbClr val="B89A6A"/>
              </a:gs>
            </a:gsLst>
            <a:lin ang="0" scaled="1"/>
          </a:gradFill>
          <a:ln/>
        </p:spPr>
      </p:sp>
      <p:sp>
        <p:nvSpPr>
          <p:cNvPr id="27" name="Text 24"/>
          <p:cNvSpPr/>
          <p:nvPr/>
        </p:nvSpPr>
        <p:spPr>
          <a:xfrm>
            <a:off x="7543508" y="3275116"/>
            <a:ext cx="523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Tableau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11365752" y="3275116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38%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7543508" y="3503581"/>
            <a:ext cx="4076700" cy="114300"/>
          </a:xfrm>
          <a:custGeom>
            <a:avLst/>
            <a:gdLst/>
            <a:ahLst/>
            <a:cxnLst/>
            <a:rect l="l" t="t" r="r" b="b"/>
            <a:pathLst>
              <a:path w="4076700" h="114300">
                <a:moveTo>
                  <a:pt x="57150" y="0"/>
                </a:moveTo>
                <a:lnTo>
                  <a:pt x="4019550" y="0"/>
                </a:lnTo>
                <a:cubicBezTo>
                  <a:pt x="4051092" y="0"/>
                  <a:pt x="4076700" y="25608"/>
                  <a:pt x="4076700" y="57150"/>
                </a:cubicBezTo>
                <a:lnTo>
                  <a:pt x="4076700" y="57150"/>
                </a:lnTo>
                <a:cubicBezTo>
                  <a:pt x="4076700" y="88692"/>
                  <a:pt x="4051092" y="114300"/>
                  <a:pt x="401955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7543508" y="3503581"/>
            <a:ext cx="1552575" cy="114300"/>
          </a:xfrm>
          <a:custGeom>
            <a:avLst/>
            <a:gdLst/>
            <a:ahLst/>
            <a:cxnLst/>
            <a:rect l="l" t="t" r="r" b="b"/>
            <a:pathLst>
              <a:path w="1552575" h="114300">
                <a:moveTo>
                  <a:pt x="57150" y="0"/>
                </a:moveTo>
                <a:lnTo>
                  <a:pt x="1495425" y="0"/>
                </a:lnTo>
                <a:cubicBezTo>
                  <a:pt x="1526967" y="0"/>
                  <a:pt x="1552575" y="25608"/>
                  <a:pt x="1552575" y="57150"/>
                </a:cubicBezTo>
                <a:lnTo>
                  <a:pt x="1552575" y="57150"/>
                </a:lnTo>
                <a:cubicBezTo>
                  <a:pt x="1552575" y="88692"/>
                  <a:pt x="1526967" y="114300"/>
                  <a:pt x="1495425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gradFill rotWithShape="1" flip="none">
            <a:gsLst>
              <a:gs pos="0">
                <a:srgbClr val="3A5F7A"/>
              </a:gs>
              <a:gs pos="100000">
                <a:srgbClr val="B89A6A"/>
              </a:gs>
            </a:gsLst>
            <a:lin ang="0" scaled="1"/>
          </a:gradFill>
          <a:ln/>
        </p:spPr>
      </p:sp>
      <p:sp>
        <p:nvSpPr>
          <p:cNvPr id="31" name="Text 28"/>
          <p:cNvSpPr/>
          <p:nvPr/>
        </p:nvSpPr>
        <p:spPr>
          <a:xfrm>
            <a:off x="7543508" y="3732047"/>
            <a:ext cx="581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Power BI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11368447" y="3732047"/>
            <a:ext cx="3143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35%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7543508" y="3960512"/>
            <a:ext cx="4076700" cy="114300"/>
          </a:xfrm>
          <a:custGeom>
            <a:avLst/>
            <a:gdLst/>
            <a:ahLst/>
            <a:cxnLst/>
            <a:rect l="l" t="t" r="r" b="b"/>
            <a:pathLst>
              <a:path w="4076700" h="114300">
                <a:moveTo>
                  <a:pt x="57150" y="0"/>
                </a:moveTo>
                <a:lnTo>
                  <a:pt x="4019550" y="0"/>
                </a:lnTo>
                <a:cubicBezTo>
                  <a:pt x="4051092" y="0"/>
                  <a:pt x="4076700" y="25608"/>
                  <a:pt x="4076700" y="57150"/>
                </a:cubicBezTo>
                <a:lnTo>
                  <a:pt x="4076700" y="57150"/>
                </a:lnTo>
                <a:cubicBezTo>
                  <a:pt x="4076700" y="88692"/>
                  <a:pt x="4051092" y="114300"/>
                  <a:pt x="401955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7543508" y="3960512"/>
            <a:ext cx="1428750" cy="114300"/>
          </a:xfrm>
          <a:custGeom>
            <a:avLst/>
            <a:gdLst/>
            <a:ahLst/>
            <a:cxnLst/>
            <a:rect l="l" t="t" r="r" b="b"/>
            <a:pathLst>
              <a:path w="1428750" h="114300">
                <a:moveTo>
                  <a:pt x="57150" y="0"/>
                </a:moveTo>
                <a:lnTo>
                  <a:pt x="1371600" y="0"/>
                </a:lnTo>
                <a:cubicBezTo>
                  <a:pt x="1403142" y="0"/>
                  <a:pt x="1428750" y="25608"/>
                  <a:pt x="1428750" y="57150"/>
                </a:cubicBezTo>
                <a:lnTo>
                  <a:pt x="1428750" y="57150"/>
                </a:lnTo>
                <a:cubicBezTo>
                  <a:pt x="1428750" y="88692"/>
                  <a:pt x="1403142" y="114300"/>
                  <a:pt x="137160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gradFill rotWithShape="1" flip="none">
            <a:gsLst>
              <a:gs pos="0">
                <a:srgbClr val="3A5F7A"/>
              </a:gs>
              <a:gs pos="100000">
                <a:srgbClr val="B89A6A"/>
              </a:gs>
            </a:gsLst>
            <a:lin ang="0" scaled="1"/>
          </a:gradFill>
          <a:ln/>
        </p:spPr>
      </p:sp>
      <p:sp>
        <p:nvSpPr>
          <p:cNvPr id="35" name="Shape 32"/>
          <p:cNvSpPr/>
          <p:nvPr/>
        </p:nvSpPr>
        <p:spPr>
          <a:xfrm>
            <a:off x="7353120" y="4417442"/>
            <a:ext cx="4457700" cy="2286000"/>
          </a:xfrm>
          <a:custGeom>
            <a:avLst/>
            <a:gdLst/>
            <a:ahLst/>
            <a:cxnLst/>
            <a:rect l="l" t="t" r="r" b="b"/>
            <a:pathLst>
              <a:path w="4457700" h="2286000">
                <a:moveTo>
                  <a:pt x="38108" y="0"/>
                </a:moveTo>
                <a:lnTo>
                  <a:pt x="4419592" y="0"/>
                </a:lnTo>
                <a:cubicBezTo>
                  <a:pt x="4440639" y="0"/>
                  <a:pt x="4457700" y="17061"/>
                  <a:pt x="4457700" y="38108"/>
                </a:cubicBezTo>
                <a:lnTo>
                  <a:pt x="4457700" y="2247892"/>
                </a:lnTo>
                <a:cubicBezTo>
                  <a:pt x="4457700" y="2268939"/>
                  <a:pt x="4440639" y="2286000"/>
                  <a:pt x="4419592" y="2286000"/>
                </a:cubicBezTo>
                <a:lnTo>
                  <a:pt x="38108" y="2286000"/>
                </a:lnTo>
                <a:cubicBezTo>
                  <a:pt x="17061" y="2286000"/>
                  <a:pt x="0" y="2268939"/>
                  <a:pt x="0" y="2247892"/>
                </a:cubicBezTo>
                <a:lnTo>
                  <a:pt x="0" y="38108"/>
                </a:lnTo>
                <a:cubicBezTo>
                  <a:pt x="0" y="17075"/>
                  <a:pt x="17075" y="0"/>
                  <a:pt x="3810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7562558" y="4655344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75009" y="0"/>
                </a:moveTo>
                <a:cubicBezTo>
                  <a:pt x="86830" y="0"/>
                  <a:pt x="96441" y="7200"/>
                  <a:pt x="96441" y="16073"/>
                </a:cubicBezTo>
                <a:cubicBezTo>
                  <a:pt x="96441" y="19556"/>
                  <a:pt x="94967" y="22771"/>
                  <a:pt x="92422" y="25416"/>
                </a:cubicBezTo>
                <a:cubicBezTo>
                  <a:pt x="90212" y="27727"/>
                  <a:pt x="88404" y="30540"/>
                  <a:pt x="88404" y="33754"/>
                </a:cubicBezTo>
                <a:cubicBezTo>
                  <a:pt x="88404" y="38777"/>
                  <a:pt x="92489" y="42863"/>
                  <a:pt x="97512" y="42863"/>
                </a:cubicBezTo>
                <a:lnTo>
                  <a:pt x="112514" y="42863"/>
                </a:lnTo>
                <a:cubicBezTo>
                  <a:pt x="121388" y="42863"/>
                  <a:pt x="128588" y="50062"/>
                  <a:pt x="128588" y="58936"/>
                </a:cubicBezTo>
                <a:lnTo>
                  <a:pt x="128588" y="73938"/>
                </a:lnTo>
                <a:cubicBezTo>
                  <a:pt x="128588" y="78961"/>
                  <a:pt x="132673" y="83046"/>
                  <a:pt x="137696" y="83046"/>
                </a:cubicBezTo>
                <a:cubicBezTo>
                  <a:pt x="140877" y="83046"/>
                  <a:pt x="143723" y="81238"/>
                  <a:pt x="146034" y="79028"/>
                </a:cubicBezTo>
                <a:cubicBezTo>
                  <a:pt x="148679" y="76516"/>
                  <a:pt x="151894" y="75009"/>
                  <a:pt x="155377" y="75009"/>
                </a:cubicBezTo>
                <a:cubicBezTo>
                  <a:pt x="164250" y="75009"/>
                  <a:pt x="171450" y="84620"/>
                  <a:pt x="171450" y="96441"/>
                </a:cubicBezTo>
                <a:cubicBezTo>
                  <a:pt x="171450" y="108261"/>
                  <a:pt x="164250" y="117872"/>
                  <a:pt x="155377" y="117872"/>
                </a:cubicBezTo>
                <a:cubicBezTo>
                  <a:pt x="151894" y="117872"/>
                  <a:pt x="148646" y="116398"/>
                  <a:pt x="146034" y="113854"/>
                </a:cubicBezTo>
                <a:cubicBezTo>
                  <a:pt x="143723" y="111643"/>
                  <a:pt x="140910" y="109835"/>
                  <a:pt x="137696" y="109835"/>
                </a:cubicBezTo>
                <a:cubicBezTo>
                  <a:pt x="132673" y="109835"/>
                  <a:pt x="128588" y="113920"/>
                  <a:pt x="128588" y="118943"/>
                </a:cubicBezTo>
                <a:lnTo>
                  <a:pt x="128588" y="155377"/>
                </a:lnTo>
                <a:cubicBezTo>
                  <a:pt x="128588" y="164250"/>
                  <a:pt x="121388" y="171450"/>
                  <a:pt x="112514" y="171450"/>
                </a:cubicBezTo>
                <a:lnTo>
                  <a:pt x="93494" y="171450"/>
                </a:lnTo>
                <a:cubicBezTo>
                  <a:pt x="89208" y="171450"/>
                  <a:pt x="85725" y="167967"/>
                  <a:pt x="85725" y="163681"/>
                </a:cubicBezTo>
                <a:cubicBezTo>
                  <a:pt x="85725" y="160600"/>
                  <a:pt x="87667" y="157888"/>
                  <a:pt x="90145" y="156046"/>
                </a:cubicBezTo>
                <a:cubicBezTo>
                  <a:pt x="94030" y="153133"/>
                  <a:pt x="96441" y="149115"/>
                  <a:pt x="96441" y="144661"/>
                </a:cubicBezTo>
                <a:cubicBezTo>
                  <a:pt x="96441" y="135787"/>
                  <a:pt x="86830" y="128588"/>
                  <a:pt x="75009" y="128588"/>
                </a:cubicBezTo>
                <a:cubicBezTo>
                  <a:pt x="63189" y="128588"/>
                  <a:pt x="53578" y="135787"/>
                  <a:pt x="53578" y="144661"/>
                </a:cubicBezTo>
                <a:cubicBezTo>
                  <a:pt x="53578" y="149115"/>
                  <a:pt x="55989" y="153133"/>
                  <a:pt x="59874" y="156046"/>
                </a:cubicBezTo>
                <a:cubicBezTo>
                  <a:pt x="62352" y="157888"/>
                  <a:pt x="64294" y="160567"/>
                  <a:pt x="64294" y="163681"/>
                </a:cubicBezTo>
                <a:cubicBezTo>
                  <a:pt x="64294" y="167967"/>
                  <a:pt x="60811" y="171450"/>
                  <a:pt x="56525" y="171450"/>
                </a:cubicBezTo>
                <a:lnTo>
                  <a:pt x="16073" y="171450"/>
                </a:lnTo>
                <a:cubicBezTo>
                  <a:pt x="7200" y="171450"/>
                  <a:pt x="0" y="164250"/>
                  <a:pt x="0" y="155377"/>
                </a:cubicBezTo>
                <a:lnTo>
                  <a:pt x="0" y="114925"/>
                </a:lnTo>
                <a:cubicBezTo>
                  <a:pt x="0" y="110639"/>
                  <a:pt x="3483" y="107156"/>
                  <a:pt x="7769" y="107156"/>
                </a:cubicBezTo>
                <a:cubicBezTo>
                  <a:pt x="10850" y="107156"/>
                  <a:pt x="13562" y="109098"/>
                  <a:pt x="15404" y="111576"/>
                </a:cubicBezTo>
                <a:cubicBezTo>
                  <a:pt x="18317" y="115461"/>
                  <a:pt x="22335" y="117872"/>
                  <a:pt x="26789" y="117872"/>
                </a:cubicBezTo>
                <a:cubicBezTo>
                  <a:pt x="35663" y="117872"/>
                  <a:pt x="42863" y="108261"/>
                  <a:pt x="42863" y="96441"/>
                </a:cubicBezTo>
                <a:cubicBezTo>
                  <a:pt x="42863" y="84620"/>
                  <a:pt x="35663" y="75009"/>
                  <a:pt x="26789" y="75009"/>
                </a:cubicBezTo>
                <a:cubicBezTo>
                  <a:pt x="22335" y="75009"/>
                  <a:pt x="18317" y="77420"/>
                  <a:pt x="15404" y="81305"/>
                </a:cubicBezTo>
                <a:cubicBezTo>
                  <a:pt x="13562" y="83783"/>
                  <a:pt x="10883" y="85725"/>
                  <a:pt x="7769" y="85725"/>
                </a:cubicBezTo>
                <a:cubicBezTo>
                  <a:pt x="3483" y="85725"/>
                  <a:pt x="0" y="82242"/>
                  <a:pt x="0" y="77956"/>
                </a:cubicBezTo>
                <a:lnTo>
                  <a:pt x="0" y="58936"/>
                </a:lnTo>
                <a:cubicBezTo>
                  <a:pt x="0" y="50062"/>
                  <a:pt x="7200" y="42863"/>
                  <a:pt x="16073" y="42863"/>
                </a:cubicBezTo>
                <a:lnTo>
                  <a:pt x="52507" y="42863"/>
                </a:lnTo>
                <a:cubicBezTo>
                  <a:pt x="57530" y="42863"/>
                  <a:pt x="61615" y="38777"/>
                  <a:pt x="61615" y="33754"/>
                </a:cubicBezTo>
                <a:cubicBezTo>
                  <a:pt x="61615" y="30573"/>
                  <a:pt x="59807" y="27727"/>
                  <a:pt x="57596" y="25416"/>
                </a:cubicBezTo>
                <a:cubicBezTo>
                  <a:pt x="55085" y="22771"/>
                  <a:pt x="53578" y="19556"/>
                  <a:pt x="53578" y="16073"/>
                </a:cubicBezTo>
                <a:cubicBezTo>
                  <a:pt x="53578" y="7200"/>
                  <a:pt x="63189" y="0"/>
                  <a:pt x="75009" y="0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37" name="Text 34"/>
          <p:cNvSpPr/>
          <p:nvPr/>
        </p:nvSpPr>
        <p:spPr>
          <a:xfrm>
            <a:off x="7753058" y="4607830"/>
            <a:ext cx="3952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Popular Skill Combinations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7543508" y="4988607"/>
            <a:ext cx="4076700" cy="457200"/>
          </a:xfrm>
          <a:custGeom>
            <a:avLst/>
            <a:gdLst/>
            <a:ahLst/>
            <a:cxnLst/>
            <a:rect l="l" t="t" r="r" b="b"/>
            <a:pathLst>
              <a:path w="4076700" h="457200">
                <a:moveTo>
                  <a:pt x="38098" y="0"/>
                </a:moveTo>
                <a:lnTo>
                  <a:pt x="4038602" y="0"/>
                </a:lnTo>
                <a:cubicBezTo>
                  <a:pt x="4059643" y="0"/>
                  <a:pt x="4076700" y="17057"/>
                  <a:pt x="4076700" y="38098"/>
                </a:cubicBezTo>
                <a:lnTo>
                  <a:pt x="4076700" y="419102"/>
                </a:lnTo>
                <a:cubicBezTo>
                  <a:pt x="4076700" y="440143"/>
                  <a:pt x="4059643" y="457200"/>
                  <a:pt x="4038602" y="457200"/>
                </a:cubicBezTo>
                <a:lnTo>
                  <a:pt x="38098" y="457200"/>
                </a:lnTo>
                <a:cubicBezTo>
                  <a:pt x="17057" y="457200"/>
                  <a:pt x="0" y="440143"/>
                  <a:pt x="0" y="4191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7657741" y="5102840"/>
            <a:ext cx="361950" cy="228600"/>
          </a:xfrm>
          <a:custGeom>
            <a:avLst/>
            <a:gdLst/>
            <a:ahLst/>
            <a:cxnLst/>
            <a:rect l="l" t="t" r="r" b="b"/>
            <a:pathLst>
              <a:path w="361950" h="228600">
                <a:moveTo>
                  <a:pt x="38101" y="0"/>
                </a:moveTo>
                <a:lnTo>
                  <a:pt x="323849" y="0"/>
                </a:lnTo>
                <a:cubicBezTo>
                  <a:pt x="344892" y="0"/>
                  <a:pt x="361950" y="17058"/>
                  <a:pt x="361950" y="38101"/>
                </a:cubicBezTo>
                <a:lnTo>
                  <a:pt x="361950" y="190499"/>
                </a:lnTo>
                <a:cubicBezTo>
                  <a:pt x="361950" y="211542"/>
                  <a:pt x="344892" y="228600"/>
                  <a:pt x="323849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3A5F7A">
              <a:alpha val="40000"/>
            </a:srgbClr>
          </a:solidFill>
          <a:ln/>
        </p:spPr>
      </p:sp>
      <p:sp>
        <p:nvSpPr>
          <p:cNvPr id="40" name="Text 37"/>
          <p:cNvSpPr/>
          <p:nvPr/>
        </p:nvSpPr>
        <p:spPr>
          <a:xfrm>
            <a:off x="7657741" y="5102840"/>
            <a:ext cx="419100" cy="2286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SQL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8053455" y="5102840"/>
            <a:ext cx="15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</a:t>
            </a:r>
            <a:endParaRPr lang="en-US" sz="1600" dirty="0"/>
          </a:p>
        </p:txBody>
      </p:sp>
      <p:sp>
        <p:nvSpPr>
          <p:cNvPr id="42" name="Shape 39"/>
          <p:cNvSpPr/>
          <p:nvPr/>
        </p:nvSpPr>
        <p:spPr>
          <a:xfrm>
            <a:off x="8167351" y="5102840"/>
            <a:ext cx="419100" cy="228600"/>
          </a:xfrm>
          <a:custGeom>
            <a:avLst/>
            <a:gdLst/>
            <a:ahLst/>
            <a:cxnLst/>
            <a:rect l="l" t="t" r="r" b="b"/>
            <a:pathLst>
              <a:path w="419100" h="228600">
                <a:moveTo>
                  <a:pt x="38101" y="0"/>
                </a:moveTo>
                <a:lnTo>
                  <a:pt x="380999" y="0"/>
                </a:lnTo>
                <a:cubicBezTo>
                  <a:pt x="402042" y="0"/>
                  <a:pt x="419100" y="17058"/>
                  <a:pt x="419100" y="38101"/>
                </a:cubicBezTo>
                <a:lnTo>
                  <a:pt x="419100" y="190499"/>
                </a:lnTo>
                <a:cubicBezTo>
                  <a:pt x="419100" y="211542"/>
                  <a:pt x="402042" y="228600"/>
                  <a:pt x="380999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3A5F7A">
              <a:alpha val="40000"/>
            </a:srgbClr>
          </a:solidFill>
          <a:ln/>
        </p:spPr>
      </p:sp>
      <p:sp>
        <p:nvSpPr>
          <p:cNvPr id="43" name="Text 40"/>
          <p:cNvSpPr/>
          <p:nvPr/>
        </p:nvSpPr>
        <p:spPr>
          <a:xfrm>
            <a:off x="8167351" y="5102840"/>
            <a:ext cx="476250" cy="2286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Excel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11257697" y="5121934"/>
            <a:ext cx="3143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52%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7543508" y="5521805"/>
            <a:ext cx="4076700" cy="457200"/>
          </a:xfrm>
          <a:custGeom>
            <a:avLst/>
            <a:gdLst/>
            <a:ahLst/>
            <a:cxnLst/>
            <a:rect l="l" t="t" r="r" b="b"/>
            <a:pathLst>
              <a:path w="4076700" h="457200">
                <a:moveTo>
                  <a:pt x="38098" y="0"/>
                </a:moveTo>
                <a:lnTo>
                  <a:pt x="4038602" y="0"/>
                </a:lnTo>
                <a:cubicBezTo>
                  <a:pt x="4059643" y="0"/>
                  <a:pt x="4076700" y="17057"/>
                  <a:pt x="4076700" y="38098"/>
                </a:cubicBezTo>
                <a:lnTo>
                  <a:pt x="4076700" y="419102"/>
                </a:lnTo>
                <a:cubicBezTo>
                  <a:pt x="4076700" y="440143"/>
                  <a:pt x="4059643" y="457200"/>
                  <a:pt x="4038602" y="457200"/>
                </a:cubicBezTo>
                <a:lnTo>
                  <a:pt x="38098" y="457200"/>
                </a:lnTo>
                <a:cubicBezTo>
                  <a:pt x="17057" y="457200"/>
                  <a:pt x="0" y="440143"/>
                  <a:pt x="0" y="4191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7657741" y="5636037"/>
            <a:ext cx="361950" cy="228600"/>
          </a:xfrm>
          <a:custGeom>
            <a:avLst/>
            <a:gdLst/>
            <a:ahLst/>
            <a:cxnLst/>
            <a:rect l="l" t="t" r="r" b="b"/>
            <a:pathLst>
              <a:path w="361950" h="228600">
                <a:moveTo>
                  <a:pt x="38101" y="0"/>
                </a:moveTo>
                <a:lnTo>
                  <a:pt x="323849" y="0"/>
                </a:lnTo>
                <a:cubicBezTo>
                  <a:pt x="344892" y="0"/>
                  <a:pt x="361950" y="17058"/>
                  <a:pt x="361950" y="38101"/>
                </a:cubicBezTo>
                <a:lnTo>
                  <a:pt x="361950" y="190499"/>
                </a:lnTo>
                <a:cubicBezTo>
                  <a:pt x="361950" y="211542"/>
                  <a:pt x="344892" y="228600"/>
                  <a:pt x="323849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3A5F7A">
              <a:alpha val="40000"/>
            </a:srgbClr>
          </a:solidFill>
          <a:ln/>
        </p:spPr>
      </p:sp>
      <p:sp>
        <p:nvSpPr>
          <p:cNvPr id="47" name="Text 44"/>
          <p:cNvSpPr/>
          <p:nvPr/>
        </p:nvSpPr>
        <p:spPr>
          <a:xfrm>
            <a:off x="7657741" y="5636037"/>
            <a:ext cx="419100" cy="2286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SQL</a:t>
            </a:r>
            <a:endParaRPr lang="en-US" sz="1600" dirty="0"/>
          </a:p>
        </p:txBody>
      </p:sp>
      <p:sp>
        <p:nvSpPr>
          <p:cNvPr id="48" name="Text 45"/>
          <p:cNvSpPr/>
          <p:nvPr/>
        </p:nvSpPr>
        <p:spPr>
          <a:xfrm>
            <a:off x="8053455" y="5636037"/>
            <a:ext cx="15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8167351" y="5636037"/>
            <a:ext cx="495300" cy="228600"/>
          </a:xfrm>
          <a:custGeom>
            <a:avLst/>
            <a:gdLst/>
            <a:ahLst/>
            <a:cxnLst/>
            <a:rect l="l" t="t" r="r" b="b"/>
            <a:pathLst>
              <a:path w="495300" h="228600">
                <a:moveTo>
                  <a:pt x="38101" y="0"/>
                </a:moveTo>
                <a:lnTo>
                  <a:pt x="457199" y="0"/>
                </a:lnTo>
                <a:cubicBezTo>
                  <a:pt x="478242" y="0"/>
                  <a:pt x="495300" y="17058"/>
                  <a:pt x="495300" y="38101"/>
                </a:cubicBezTo>
                <a:lnTo>
                  <a:pt x="495300" y="190499"/>
                </a:lnTo>
                <a:cubicBezTo>
                  <a:pt x="495300" y="211542"/>
                  <a:pt x="478242" y="228600"/>
                  <a:pt x="457199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3A5F7A">
              <a:alpha val="40000"/>
            </a:srgbClr>
          </a:solidFill>
          <a:ln/>
        </p:spPr>
      </p:sp>
      <p:sp>
        <p:nvSpPr>
          <p:cNvPr id="50" name="Text 47"/>
          <p:cNvSpPr/>
          <p:nvPr/>
        </p:nvSpPr>
        <p:spPr>
          <a:xfrm>
            <a:off x="8167351" y="5636037"/>
            <a:ext cx="552450" cy="2286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Python</a:t>
            </a:r>
            <a:endParaRPr lang="en-US" sz="1600" dirty="0"/>
          </a:p>
        </p:txBody>
      </p:sp>
      <p:sp>
        <p:nvSpPr>
          <p:cNvPr id="51" name="Text 48"/>
          <p:cNvSpPr/>
          <p:nvPr/>
        </p:nvSpPr>
        <p:spPr>
          <a:xfrm>
            <a:off x="11251519" y="5655132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38%</a:t>
            </a:r>
            <a:endParaRPr lang="en-US" sz="1600" dirty="0"/>
          </a:p>
        </p:txBody>
      </p:sp>
      <p:sp>
        <p:nvSpPr>
          <p:cNvPr id="52" name="Shape 49"/>
          <p:cNvSpPr/>
          <p:nvPr/>
        </p:nvSpPr>
        <p:spPr>
          <a:xfrm>
            <a:off x="7543508" y="6055003"/>
            <a:ext cx="4076700" cy="457200"/>
          </a:xfrm>
          <a:custGeom>
            <a:avLst/>
            <a:gdLst/>
            <a:ahLst/>
            <a:cxnLst/>
            <a:rect l="l" t="t" r="r" b="b"/>
            <a:pathLst>
              <a:path w="4076700" h="457200">
                <a:moveTo>
                  <a:pt x="38098" y="0"/>
                </a:moveTo>
                <a:lnTo>
                  <a:pt x="4038602" y="0"/>
                </a:lnTo>
                <a:cubicBezTo>
                  <a:pt x="4059643" y="0"/>
                  <a:pt x="4076700" y="17057"/>
                  <a:pt x="4076700" y="38098"/>
                </a:cubicBezTo>
                <a:lnTo>
                  <a:pt x="4076700" y="419102"/>
                </a:lnTo>
                <a:cubicBezTo>
                  <a:pt x="4076700" y="440143"/>
                  <a:pt x="4059643" y="457200"/>
                  <a:pt x="4038602" y="457200"/>
                </a:cubicBezTo>
                <a:lnTo>
                  <a:pt x="38098" y="457200"/>
                </a:lnTo>
                <a:cubicBezTo>
                  <a:pt x="17057" y="457200"/>
                  <a:pt x="0" y="440143"/>
                  <a:pt x="0" y="4191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7657741" y="6169235"/>
            <a:ext cx="361950" cy="228600"/>
          </a:xfrm>
          <a:custGeom>
            <a:avLst/>
            <a:gdLst/>
            <a:ahLst/>
            <a:cxnLst/>
            <a:rect l="l" t="t" r="r" b="b"/>
            <a:pathLst>
              <a:path w="361950" h="228600">
                <a:moveTo>
                  <a:pt x="38101" y="0"/>
                </a:moveTo>
                <a:lnTo>
                  <a:pt x="323849" y="0"/>
                </a:lnTo>
                <a:cubicBezTo>
                  <a:pt x="344892" y="0"/>
                  <a:pt x="361950" y="17058"/>
                  <a:pt x="361950" y="38101"/>
                </a:cubicBezTo>
                <a:lnTo>
                  <a:pt x="361950" y="190499"/>
                </a:lnTo>
                <a:cubicBezTo>
                  <a:pt x="361950" y="211542"/>
                  <a:pt x="344892" y="228600"/>
                  <a:pt x="323849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3A5F7A">
              <a:alpha val="40000"/>
            </a:srgbClr>
          </a:solidFill>
          <a:ln/>
        </p:spPr>
      </p:sp>
      <p:sp>
        <p:nvSpPr>
          <p:cNvPr id="54" name="Text 51"/>
          <p:cNvSpPr/>
          <p:nvPr/>
        </p:nvSpPr>
        <p:spPr>
          <a:xfrm>
            <a:off x="7657741" y="6169235"/>
            <a:ext cx="419100" cy="2286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SQL</a:t>
            </a:r>
            <a:endParaRPr lang="en-US" sz="1600" dirty="0"/>
          </a:p>
        </p:txBody>
      </p:sp>
      <p:sp>
        <p:nvSpPr>
          <p:cNvPr id="55" name="Text 52"/>
          <p:cNvSpPr/>
          <p:nvPr/>
        </p:nvSpPr>
        <p:spPr>
          <a:xfrm>
            <a:off x="8053455" y="6169235"/>
            <a:ext cx="15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</a:t>
            </a:r>
            <a:endParaRPr lang="en-US" sz="1600" dirty="0"/>
          </a:p>
        </p:txBody>
      </p:sp>
      <p:sp>
        <p:nvSpPr>
          <p:cNvPr id="56" name="Shape 53"/>
          <p:cNvSpPr/>
          <p:nvPr/>
        </p:nvSpPr>
        <p:spPr>
          <a:xfrm>
            <a:off x="8167351" y="6169235"/>
            <a:ext cx="542925" cy="228600"/>
          </a:xfrm>
          <a:custGeom>
            <a:avLst/>
            <a:gdLst/>
            <a:ahLst/>
            <a:cxnLst/>
            <a:rect l="l" t="t" r="r" b="b"/>
            <a:pathLst>
              <a:path w="542925" h="228600">
                <a:moveTo>
                  <a:pt x="38101" y="0"/>
                </a:moveTo>
                <a:lnTo>
                  <a:pt x="504824" y="0"/>
                </a:lnTo>
                <a:cubicBezTo>
                  <a:pt x="525867" y="0"/>
                  <a:pt x="542925" y="17058"/>
                  <a:pt x="542925" y="38101"/>
                </a:cubicBezTo>
                <a:lnTo>
                  <a:pt x="542925" y="190499"/>
                </a:lnTo>
                <a:cubicBezTo>
                  <a:pt x="542925" y="211542"/>
                  <a:pt x="525867" y="228600"/>
                  <a:pt x="504824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3A5F7A">
              <a:alpha val="40000"/>
            </a:srgbClr>
          </a:solidFill>
          <a:ln/>
        </p:spPr>
      </p:sp>
      <p:sp>
        <p:nvSpPr>
          <p:cNvPr id="57" name="Text 54"/>
          <p:cNvSpPr/>
          <p:nvPr/>
        </p:nvSpPr>
        <p:spPr>
          <a:xfrm>
            <a:off x="8167351" y="6169235"/>
            <a:ext cx="600075" cy="2286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Tableau</a:t>
            </a:r>
            <a:endParaRPr lang="en-US" sz="1600" dirty="0"/>
          </a:p>
        </p:txBody>
      </p:sp>
      <p:sp>
        <p:nvSpPr>
          <p:cNvPr id="58" name="Text 55"/>
          <p:cNvSpPr/>
          <p:nvPr/>
        </p:nvSpPr>
        <p:spPr>
          <a:xfrm>
            <a:off x="11283643" y="6188329"/>
            <a:ext cx="285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31%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7169" y="357170"/>
            <a:ext cx="11539974" cy="17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85" b="1" spc="49" kern="0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COMPENSATION ANALYSIS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57169" y="607114"/>
            <a:ext cx="11691815" cy="428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376" b="1" dirty="0">
                <a:solidFill>
                  <a:srgbClr val="E0E2E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Salary Insights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57169" y="1214335"/>
            <a:ext cx="5653873" cy="4787481"/>
          </a:xfrm>
          <a:custGeom>
            <a:avLst/>
            <a:gdLst/>
            <a:ahLst/>
            <a:cxnLst/>
            <a:rect l="l" t="t" r="r" b="b"/>
            <a:pathLst>
              <a:path w="5653873" h="4787481">
                <a:moveTo>
                  <a:pt x="35715" y="0"/>
                </a:moveTo>
                <a:lnTo>
                  <a:pt x="5618158" y="0"/>
                </a:lnTo>
                <a:cubicBezTo>
                  <a:pt x="5637883" y="0"/>
                  <a:pt x="5653873" y="15990"/>
                  <a:pt x="5653873" y="35715"/>
                </a:cubicBezTo>
                <a:lnTo>
                  <a:pt x="5653873" y="4751767"/>
                </a:lnTo>
                <a:cubicBezTo>
                  <a:pt x="5653873" y="4771491"/>
                  <a:pt x="5637883" y="4787481"/>
                  <a:pt x="5618158" y="4787481"/>
                </a:cubicBezTo>
                <a:lnTo>
                  <a:pt x="35715" y="4787481"/>
                </a:lnTo>
                <a:cubicBezTo>
                  <a:pt x="15990" y="4787481"/>
                  <a:pt x="0" y="4771491"/>
                  <a:pt x="0" y="4751767"/>
                </a:cubicBezTo>
                <a:lnTo>
                  <a:pt x="0" y="35715"/>
                </a:lnTo>
                <a:cubicBezTo>
                  <a:pt x="0" y="16003"/>
                  <a:pt x="16003" y="0"/>
                  <a:pt x="35715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80361" y="1428573"/>
            <a:ext cx="133978" cy="178637"/>
          </a:xfrm>
          <a:custGeom>
            <a:avLst/>
            <a:gdLst/>
            <a:ahLst/>
            <a:cxnLst/>
            <a:rect l="l" t="t" r="r" b="b"/>
            <a:pathLst>
              <a:path w="133978" h="178637">
                <a:moveTo>
                  <a:pt x="22330" y="0"/>
                </a:moveTo>
                <a:cubicBezTo>
                  <a:pt x="10013" y="0"/>
                  <a:pt x="0" y="10013"/>
                  <a:pt x="0" y="22330"/>
                </a:cubicBezTo>
                <a:lnTo>
                  <a:pt x="0" y="156308"/>
                </a:lnTo>
                <a:cubicBezTo>
                  <a:pt x="0" y="168624"/>
                  <a:pt x="10013" y="178637"/>
                  <a:pt x="22330" y="178637"/>
                </a:cubicBezTo>
                <a:lnTo>
                  <a:pt x="111648" y="178637"/>
                </a:lnTo>
                <a:cubicBezTo>
                  <a:pt x="123965" y="178637"/>
                  <a:pt x="133978" y="168624"/>
                  <a:pt x="133978" y="156308"/>
                </a:cubicBezTo>
                <a:lnTo>
                  <a:pt x="133978" y="22330"/>
                </a:lnTo>
                <a:cubicBezTo>
                  <a:pt x="133978" y="10013"/>
                  <a:pt x="123965" y="0"/>
                  <a:pt x="111648" y="0"/>
                </a:cubicBezTo>
                <a:lnTo>
                  <a:pt x="22330" y="0"/>
                </a:lnTo>
                <a:close/>
                <a:moveTo>
                  <a:pt x="61407" y="122813"/>
                </a:moveTo>
                <a:lnTo>
                  <a:pt x="72571" y="122813"/>
                </a:lnTo>
                <a:cubicBezTo>
                  <a:pt x="78747" y="122813"/>
                  <a:pt x="83736" y="127802"/>
                  <a:pt x="83736" y="133978"/>
                </a:cubicBezTo>
                <a:lnTo>
                  <a:pt x="83736" y="161890"/>
                </a:lnTo>
                <a:lnTo>
                  <a:pt x="50242" y="161890"/>
                </a:lnTo>
                <a:lnTo>
                  <a:pt x="50242" y="133978"/>
                </a:lnTo>
                <a:cubicBezTo>
                  <a:pt x="50242" y="127802"/>
                  <a:pt x="55231" y="122813"/>
                  <a:pt x="61407" y="122813"/>
                </a:cubicBezTo>
                <a:close/>
                <a:moveTo>
                  <a:pt x="33495" y="39077"/>
                </a:moveTo>
                <a:cubicBezTo>
                  <a:pt x="33495" y="36007"/>
                  <a:pt x="36007" y="33495"/>
                  <a:pt x="39077" y="33495"/>
                </a:cubicBezTo>
                <a:lnTo>
                  <a:pt x="50242" y="33495"/>
                </a:lnTo>
                <a:cubicBezTo>
                  <a:pt x="53312" y="33495"/>
                  <a:pt x="55824" y="36007"/>
                  <a:pt x="55824" y="39077"/>
                </a:cubicBezTo>
                <a:lnTo>
                  <a:pt x="55824" y="50242"/>
                </a:lnTo>
                <a:cubicBezTo>
                  <a:pt x="55824" y="53312"/>
                  <a:pt x="53312" y="55824"/>
                  <a:pt x="50242" y="55824"/>
                </a:cubicBezTo>
                <a:lnTo>
                  <a:pt x="39077" y="55824"/>
                </a:lnTo>
                <a:cubicBezTo>
                  <a:pt x="36007" y="55824"/>
                  <a:pt x="33495" y="53312"/>
                  <a:pt x="33495" y="50242"/>
                </a:cubicBezTo>
                <a:lnTo>
                  <a:pt x="33495" y="39077"/>
                </a:lnTo>
                <a:close/>
                <a:moveTo>
                  <a:pt x="83736" y="33495"/>
                </a:moveTo>
                <a:lnTo>
                  <a:pt x="94901" y="33495"/>
                </a:lnTo>
                <a:cubicBezTo>
                  <a:pt x="97971" y="33495"/>
                  <a:pt x="100484" y="36007"/>
                  <a:pt x="100484" y="39077"/>
                </a:cubicBezTo>
                <a:lnTo>
                  <a:pt x="100484" y="50242"/>
                </a:lnTo>
                <a:cubicBezTo>
                  <a:pt x="100484" y="53312"/>
                  <a:pt x="97971" y="55824"/>
                  <a:pt x="94901" y="55824"/>
                </a:cubicBezTo>
                <a:lnTo>
                  <a:pt x="83736" y="55824"/>
                </a:lnTo>
                <a:cubicBezTo>
                  <a:pt x="80666" y="55824"/>
                  <a:pt x="78154" y="53312"/>
                  <a:pt x="78154" y="50242"/>
                </a:cubicBezTo>
                <a:lnTo>
                  <a:pt x="78154" y="39077"/>
                </a:lnTo>
                <a:cubicBezTo>
                  <a:pt x="78154" y="36007"/>
                  <a:pt x="80666" y="33495"/>
                  <a:pt x="83736" y="33495"/>
                </a:cubicBezTo>
                <a:close/>
                <a:moveTo>
                  <a:pt x="33495" y="83736"/>
                </a:moveTo>
                <a:cubicBezTo>
                  <a:pt x="33495" y="80666"/>
                  <a:pt x="36007" y="78154"/>
                  <a:pt x="39077" y="78154"/>
                </a:cubicBezTo>
                <a:lnTo>
                  <a:pt x="50242" y="78154"/>
                </a:lnTo>
                <a:cubicBezTo>
                  <a:pt x="53312" y="78154"/>
                  <a:pt x="55824" y="80666"/>
                  <a:pt x="55824" y="83736"/>
                </a:cubicBezTo>
                <a:lnTo>
                  <a:pt x="55824" y="94901"/>
                </a:lnTo>
                <a:cubicBezTo>
                  <a:pt x="55824" y="97971"/>
                  <a:pt x="53312" y="100484"/>
                  <a:pt x="50242" y="100484"/>
                </a:cubicBezTo>
                <a:lnTo>
                  <a:pt x="39077" y="100484"/>
                </a:lnTo>
                <a:cubicBezTo>
                  <a:pt x="36007" y="100484"/>
                  <a:pt x="33495" y="97971"/>
                  <a:pt x="33495" y="94901"/>
                </a:cubicBezTo>
                <a:lnTo>
                  <a:pt x="33495" y="83736"/>
                </a:lnTo>
                <a:close/>
                <a:moveTo>
                  <a:pt x="83736" y="78154"/>
                </a:moveTo>
                <a:lnTo>
                  <a:pt x="94901" y="78154"/>
                </a:lnTo>
                <a:cubicBezTo>
                  <a:pt x="97971" y="78154"/>
                  <a:pt x="100484" y="80666"/>
                  <a:pt x="100484" y="83736"/>
                </a:cubicBezTo>
                <a:lnTo>
                  <a:pt x="100484" y="94901"/>
                </a:lnTo>
                <a:cubicBezTo>
                  <a:pt x="100484" y="97971"/>
                  <a:pt x="97971" y="100484"/>
                  <a:pt x="94901" y="100484"/>
                </a:cubicBezTo>
                <a:lnTo>
                  <a:pt x="83736" y="100484"/>
                </a:lnTo>
                <a:cubicBezTo>
                  <a:pt x="80666" y="100484"/>
                  <a:pt x="78154" y="97971"/>
                  <a:pt x="78154" y="94901"/>
                </a:cubicBezTo>
                <a:lnTo>
                  <a:pt x="78154" y="83736"/>
                </a:lnTo>
                <a:cubicBezTo>
                  <a:pt x="78154" y="80666"/>
                  <a:pt x="80666" y="78154"/>
                  <a:pt x="83736" y="78154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6" name="Text 4"/>
          <p:cNvSpPr/>
          <p:nvPr/>
        </p:nvSpPr>
        <p:spPr>
          <a:xfrm>
            <a:off x="758998" y="1392866"/>
            <a:ext cx="5162620" cy="250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7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Average Salary by Industry</a:t>
            </a:r>
            <a:endParaRPr lang="en-US" sz="1600" dirty="0"/>
          </a:p>
        </p:txBody>
      </p:sp>
      <p:pic>
        <p:nvPicPr>
          <p:cNvPr id="7" name="Image 0" descr="https://kimi-img.moonshot.cn/pub/slides/26-03-13-18:33:14-d6pufqjmsqf9pqpid8s0.png">    </p:cNvPr>
          <p:cNvPicPr>
            <a:picLocks noChangeAspect="1"/>
          </p:cNvPicPr>
          <p:nvPr/>
        </p:nvPicPr>
        <p:blipFill>
          <a:blip r:embed="rId1"/>
          <a:srcRect l="83" r="83" t="0" b="0"/>
          <a:stretch/>
        </p:blipFill>
        <p:spPr>
          <a:xfrm>
            <a:off x="535701" y="1785741"/>
            <a:ext cx="4912527" cy="2500923"/>
          </a:xfrm>
          <a:prstGeom prst="roundRect">
            <a:avLst>
              <a:gd name="adj" fmla="val 0"/>
            </a:avLst>
          </a:prstGeom>
        </p:spPr>
      </p:pic>
      <p:sp>
        <p:nvSpPr>
          <p:cNvPr id="8" name="Shape 5"/>
          <p:cNvSpPr/>
          <p:nvPr/>
        </p:nvSpPr>
        <p:spPr>
          <a:xfrm>
            <a:off x="374022" y="6143084"/>
            <a:ext cx="5634998" cy="714549"/>
          </a:xfrm>
          <a:custGeom>
            <a:avLst/>
            <a:gdLst/>
            <a:ahLst/>
            <a:cxnLst/>
            <a:rect l="l" t="t" r="r" b="b"/>
            <a:pathLst>
              <a:path w="5634998" h="714549">
                <a:moveTo>
                  <a:pt x="33705" y="0"/>
                </a:moveTo>
                <a:lnTo>
                  <a:pt x="5599270" y="0"/>
                </a:lnTo>
                <a:cubicBezTo>
                  <a:pt x="5619002" y="0"/>
                  <a:pt x="5634998" y="15996"/>
                  <a:pt x="5634998" y="35727"/>
                </a:cubicBezTo>
                <a:lnTo>
                  <a:pt x="5634998" y="678822"/>
                </a:lnTo>
                <a:cubicBezTo>
                  <a:pt x="5634998" y="698554"/>
                  <a:pt x="5619002" y="714549"/>
                  <a:pt x="5599270" y="714549"/>
                </a:cubicBezTo>
                <a:lnTo>
                  <a:pt x="33705" y="714549"/>
                </a:lnTo>
                <a:cubicBezTo>
                  <a:pt x="15090" y="714549"/>
                  <a:pt x="0" y="699459"/>
                  <a:pt x="0" y="680844"/>
                </a:cubicBezTo>
                <a:lnTo>
                  <a:pt x="0" y="33705"/>
                </a:lnTo>
                <a:cubicBezTo>
                  <a:pt x="0" y="15090"/>
                  <a:pt x="15090" y="0"/>
                  <a:pt x="33705" y="0"/>
                </a:cubicBezTo>
                <a:close/>
              </a:path>
            </a:pathLst>
          </a:custGeom>
          <a:gradFill rotWithShape="1" flip="none">
            <a:gsLst>
              <a:gs pos="0">
                <a:srgbClr val="B89A6A">
                  <a:alpha val="20000"/>
                </a:srgbClr>
              </a:gs>
              <a:gs pos="100000">
                <a:srgbClr val="3A5F7A">
                  <a:alpha val="10000"/>
                </a:srgbClr>
              </a:gs>
            </a:gsLst>
            <a:lin ang="0" scaled="1"/>
          </a:gradFill>
          <a:ln/>
        </p:spPr>
      </p:sp>
      <p:sp>
        <p:nvSpPr>
          <p:cNvPr id="9" name="Shape 6"/>
          <p:cNvSpPr/>
          <p:nvPr/>
        </p:nvSpPr>
        <p:spPr>
          <a:xfrm>
            <a:off x="374022" y="6143084"/>
            <a:ext cx="33705" cy="714549"/>
          </a:xfrm>
          <a:custGeom>
            <a:avLst/>
            <a:gdLst/>
            <a:ahLst/>
            <a:cxnLst/>
            <a:rect l="l" t="t" r="r" b="b"/>
            <a:pathLst>
              <a:path w="33705" h="714549">
                <a:moveTo>
                  <a:pt x="33705" y="0"/>
                </a:moveTo>
                <a:lnTo>
                  <a:pt x="33705" y="0"/>
                </a:lnTo>
                <a:lnTo>
                  <a:pt x="33705" y="714549"/>
                </a:lnTo>
                <a:lnTo>
                  <a:pt x="33705" y="714549"/>
                </a:lnTo>
                <a:cubicBezTo>
                  <a:pt x="15090" y="714549"/>
                  <a:pt x="0" y="699459"/>
                  <a:pt x="0" y="680844"/>
                </a:cubicBezTo>
                <a:lnTo>
                  <a:pt x="0" y="33705"/>
                </a:lnTo>
                <a:cubicBezTo>
                  <a:pt x="0" y="15090"/>
                  <a:pt x="15090" y="0"/>
                  <a:pt x="33705" y="0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0" name="Shape 7"/>
          <p:cNvSpPr/>
          <p:nvPr/>
        </p:nvSpPr>
        <p:spPr>
          <a:xfrm>
            <a:off x="551564" y="6312873"/>
            <a:ext cx="142910" cy="142910"/>
          </a:xfrm>
          <a:custGeom>
            <a:avLst/>
            <a:gdLst/>
            <a:ahLst/>
            <a:cxnLst/>
            <a:rect l="l" t="t" r="r" b="b"/>
            <a:pathLst>
              <a:path w="142910" h="142910">
                <a:moveTo>
                  <a:pt x="40277" y="0"/>
                </a:moveTo>
                <a:lnTo>
                  <a:pt x="102800" y="0"/>
                </a:lnTo>
                <a:cubicBezTo>
                  <a:pt x="110197" y="0"/>
                  <a:pt x="116226" y="6085"/>
                  <a:pt x="115947" y="13454"/>
                </a:cubicBezTo>
                <a:cubicBezTo>
                  <a:pt x="115891" y="14933"/>
                  <a:pt x="115835" y="16412"/>
                  <a:pt x="115751" y="17864"/>
                </a:cubicBezTo>
                <a:lnTo>
                  <a:pt x="129596" y="17864"/>
                </a:lnTo>
                <a:cubicBezTo>
                  <a:pt x="136881" y="17864"/>
                  <a:pt x="143301" y="23893"/>
                  <a:pt x="142742" y="31764"/>
                </a:cubicBezTo>
                <a:cubicBezTo>
                  <a:pt x="140649" y="60709"/>
                  <a:pt x="125856" y="76619"/>
                  <a:pt x="109806" y="84936"/>
                </a:cubicBezTo>
                <a:cubicBezTo>
                  <a:pt x="105396" y="87225"/>
                  <a:pt x="100902" y="88928"/>
                  <a:pt x="96632" y="90184"/>
                </a:cubicBezTo>
                <a:cubicBezTo>
                  <a:pt x="90993" y="98167"/>
                  <a:pt x="85132" y="102382"/>
                  <a:pt x="80471" y="104642"/>
                </a:cubicBezTo>
                <a:lnTo>
                  <a:pt x="80471" y="125046"/>
                </a:lnTo>
                <a:lnTo>
                  <a:pt x="98334" y="125046"/>
                </a:lnTo>
                <a:cubicBezTo>
                  <a:pt x="103275" y="125046"/>
                  <a:pt x="107266" y="129038"/>
                  <a:pt x="107266" y="133978"/>
                </a:cubicBezTo>
                <a:cubicBezTo>
                  <a:pt x="107266" y="138918"/>
                  <a:pt x="103275" y="142910"/>
                  <a:pt x="98334" y="142910"/>
                </a:cubicBezTo>
                <a:lnTo>
                  <a:pt x="44743" y="142910"/>
                </a:lnTo>
                <a:cubicBezTo>
                  <a:pt x="39803" y="142910"/>
                  <a:pt x="35811" y="138918"/>
                  <a:pt x="35811" y="133978"/>
                </a:cubicBezTo>
                <a:cubicBezTo>
                  <a:pt x="35811" y="129038"/>
                  <a:pt x="39803" y="125046"/>
                  <a:pt x="44743" y="125046"/>
                </a:cubicBezTo>
                <a:lnTo>
                  <a:pt x="62607" y="125046"/>
                </a:lnTo>
                <a:lnTo>
                  <a:pt x="62607" y="104642"/>
                </a:lnTo>
                <a:cubicBezTo>
                  <a:pt x="58141" y="102493"/>
                  <a:pt x="52586" y="98502"/>
                  <a:pt x="47171" y="91161"/>
                </a:cubicBezTo>
                <a:cubicBezTo>
                  <a:pt x="42036" y="89821"/>
                  <a:pt x="36453" y="87784"/>
                  <a:pt x="31010" y="84713"/>
                </a:cubicBezTo>
                <a:cubicBezTo>
                  <a:pt x="15910" y="76256"/>
                  <a:pt x="2289" y="60318"/>
                  <a:pt x="335" y="31708"/>
                </a:cubicBezTo>
                <a:cubicBezTo>
                  <a:pt x="-195" y="23865"/>
                  <a:pt x="6196" y="17836"/>
                  <a:pt x="13482" y="17836"/>
                </a:cubicBezTo>
                <a:lnTo>
                  <a:pt x="27326" y="17836"/>
                </a:lnTo>
                <a:cubicBezTo>
                  <a:pt x="27242" y="16384"/>
                  <a:pt x="27186" y="14933"/>
                  <a:pt x="27131" y="13426"/>
                </a:cubicBezTo>
                <a:cubicBezTo>
                  <a:pt x="26851" y="6029"/>
                  <a:pt x="32880" y="-28"/>
                  <a:pt x="40277" y="-28"/>
                </a:cubicBezTo>
                <a:close/>
                <a:moveTo>
                  <a:pt x="28331" y="31262"/>
                </a:moveTo>
                <a:lnTo>
                  <a:pt x="13705" y="31262"/>
                </a:lnTo>
                <a:cubicBezTo>
                  <a:pt x="15435" y="54903"/>
                  <a:pt x="26293" y="66738"/>
                  <a:pt x="37486" y="73018"/>
                </a:cubicBezTo>
                <a:cubicBezTo>
                  <a:pt x="33467" y="62607"/>
                  <a:pt x="30145" y="49014"/>
                  <a:pt x="28331" y="31262"/>
                </a:cubicBezTo>
                <a:close/>
                <a:moveTo>
                  <a:pt x="106066" y="71678"/>
                </a:moveTo>
                <a:cubicBezTo>
                  <a:pt x="117370" y="65035"/>
                  <a:pt x="127586" y="53228"/>
                  <a:pt x="129317" y="31262"/>
                </a:cubicBezTo>
                <a:lnTo>
                  <a:pt x="114719" y="31262"/>
                </a:lnTo>
                <a:cubicBezTo>
                  <a:pt x="112988" y="48260"/>
                  <a:pt x="109862" y="61462"/>
                  <a:pt x="106066" y="71678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1" name="Text 8"/>
          <p:cNvSpPr/>
          <p:nvPr/>
        </p:nvSpPr>
        <p:spPr>
          <a:xfrm>
            <a:off x="762592" y="6285907"/>
            <a:ext cx="5174889" cy="428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25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Finance</a:t>
            </a:r>
            <a:pPr>
              <a:lnSpc>
                <a:spcPct val="120000"/>
              </a:lnSpc>
            </a:pPr>
            <a:r>
              <a:rPr lang="en-US" sz="1125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and </a:t>
            </a:r>
            <a:pPr>
              <a:lnSpc>
                <a:spcPct val="120000"/>
              </a:lnSpc>
            </a:pPr>
            <a:r>
              <a:rPr lang="en-US" sz="1125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Technology</a:t>
            </a:r>
            <a:pPr>
              <a:lnSpc>
                <a:spcPct val="120000"/>
              </a:lnSpc>
            </a:pPr>
            <a:r>
              <a:rPr lang="en-US" sz="1125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industries offer the most competitive compensation, with average salaries exceeding </a:t>
            </a:r>
            <a:pPr>
              <a:lnSpc>
                <a:spcPct val="120000"/>
              </a:lnSpc>
            </a:pPr>
            <a:r>
              <a:rPr lang="en-US" sz="1125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$85K</a:t>
            </a:r>
            <a:pPr>
              <a:lnSpc>
                <a:spcPct val="120000"/>
              </a:lnSpc>
            </a:pPr>
            <a:r>
              <a:rPr lang="en-US" sz="1125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186688" y="1214335"/>
            <a:ext cx="5653873" cy="3251200"/>
          </a:xfrm>
          <a:custGeom>
            <a:avLst/>
            <a:gdLst/>
            <a:ahLst/>
            <a:cxnLst/>
            <a:rect l="l" t="t" r="r" b="b"/>
            <a:pathLst>
              <a:path w="5653873" h="3251200">
                <a:moveTo>
                  <a:pt x="35731" y="0"/>
                </a:moveTo>
                <a:lnTo>
                  <a:pt x="5618142" y="0"/>
                </a:lnTo>
                <a:cubicBezTo>
                  <a:pt x="5637875" y="0"/>
                  <a:pt x="5653873" y="15997"/>
                  <a:pt x="5653873" y="35731"/>
                </a:cubicBezTo>
                <a:lnTo>
                  <a:pt x="5653873" y="3215469"/>
                </a:lnTo>
                <a:cubicBezTo>
                  <a:pt x="5653873" y="3235203"/>
                  <a:pt x="5637875" y="3251200"/>
                  <a:pt x="5618142" y="3251200"/>
                </a:cubicBezTo>
                <a:lnTo>
                  <a:pt x="35731" y="3251200"/>
                </a:lnTo>
                <a:cubicBezTo>
                  <a:pt x="15997" y="3251200"/>
                  <a:pt x="0" y="3235203"/>
                  <a:pt x="0" y="3215469"/>
                </a:cubicBezTo>
                <a:lnTo>
                  <a:pt x="0" y="35731"/>
                </a:lnTo>
                <a:cubicBezTo>
                  <a:pt x="0" y="16010"/>
                  <a:pt x="16010" y="0"/>
                  <a:pt x="35731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6365220" y="1428573"/>
            <a:ext cx="223297" cy="178637"/>
          </a:xfrm>
          <a:custGeom>
            <a:avLst/>
            <a:gdLst/>
            <a:ahLst/>
            <a:cxnLst/>
            <a:rect l="l" t="t" r="r" b="b"/>
            <a:pathLst>
              <a:path w="223297" h="178637">
                <a:moveTo>
                  <a:pt x="200967" y="16747"/>
                </a:moveTo>
                <a:cubicBezTo>
                  <a:pt x="200967" y="12874"/>
                  <a:pt x="198978" y="9281"/>
                  <a:pt x="195664" y="7257"/>
                </a:cubicBezTo>
                <a:cubicBezTo>
                  <a:pt x="192349" y="5234"/>
                  <a:pt x="188267" y="5024"/>
                  <a:pt x="184813" y="6769"/>
                </a:cubicBezTo>
                <a:lnTo>
                  <a:pt x="144271" y="27040"/>
                </a:lnTo>
                <a:lnTo>
                  <a:pt x="81678" y="6141"/>
                </a:lnTo>
                <a:cubicBezTo>
                  <a:pt x="78852" y="5199"/>
                  <a:pt x="75816" y="5408"/>
                  <a:pt x="73165" y="6734"/>
                </a:cubicBezTo>
                <a:lnTo>
                  <a:pt x="28505" y="29063"/>
                </a:lnTo>
                <a:cubicBezTo>
                  <a:pt x="24702" y="30982"/>
                  <a:pt x="22330" y="34855"/>
                  <a:pt x="22330" y="39077"/>
                </a:cubicBezTo>
                <a:lnTo>
                  <a:pt x="22330" y="161890"/>
                </a:lnTo>
                <a:cubicBezTo>
                  <a:pt x="22330" y="165763"/>
                  <a:pt x="24318" y="169357"/>
                  <a:pt x="27633" y="171380"/>
                </a:cubicBezTo>
                <a:cubicBezTo>
                  <a:pt x="30948" y="173404"/>
                  <a:pt x="35030" y="173613"/>
                  <a:pt x="38484" y="171869"/>
                </a:cubicBezTo>
                <a:lnTo>
                  <a:pt x="78991" y="151598"/>
                </a:lnTo>
                <a:lnTo>
                  <a:pt x="139456" y="171764"/>
                </a:lnTo>
                <a:cubicBezTo>
                  <a:pt x="137955" y="169531"/>
                  <a:pt x="136490" y="167193"/>
                  <a:pt x="135060" y="164821"/>
                </a:cubicBezTo>
                <a:cubicBezTo>
                  <a:pt x="131222" y="158436"/>
                  <a:pt x="127419" y="151109"/>
                  <a:pt x="124593" y="143259"/>
                </a:cubicBezTo>
                <a:lnTo>
                  <a:pt x="89284" y="131501"/>
                </a:lnTo>
                <a:lnTo>
                  <a:pt x="89284" y="32238"/>
                </a:lnTo>
                <a:lnTo>
                  <a:pt x="133943" y="47137"/>
                </a:lnTo>
                <a:lnTo>
                  <a:pt x="133943" y="81782"/>
                </a:lnTo>
                <a:cubicBezTo>
                  <a:pt x="144759" y="69292"/>
                  <a:pt x="160809" y="61407"/>
                  <a:pt x="178602" y="61407"/>
                </a:cubicBezTo>
                <a:cubicBezTo>
                  <a:pt x="186488" y="61407"/>
                  <a:pt x="194024" y="62942"/>
                  <a:pt x="200932" y="65768"/>
                </a:cubicBezTo>
                <a:lnTo>
                  <a:pt x="200967" y="16747"/>
                </a:lnTo>
                <a:close/>
                <a:moveTo>
                  <a:pt x="178637" y="78154"/>
                </a:moveTo>
                <a:cubicBezTo>
                  <a:pt x="155505" y="78154"/>
                  <a:pt x="136769" y="96576"/>
                  <a:pt x="136769" y="119289"/>
                </a:cubicBezTo>
                <a:cubicBezTo>
                  <a:pt x="136769" y="143329"/>
                  <a:pt x="159134" y="171764"/>
                  <a:pt x="171171" y="185336"/>
                </a:cubicBezTo>
                <a:cubicBezTo>
                  <a:pt x="175218" y="189872"/>
                  <a:pt x="182091" y="189872"/>
                  <a:pt x="186139" y="185336"/>
                </a:cubicBezTo>
                <a:cubicBezTo>
                  <a:pt x="198176" y="171764"/>
                  <a:pt x="220540" y="143329"/>
                  <a:pt x="220540" y="119289"/>
                </a:cubicBezTo>
                <a:cubicBezTo>
                  <a:pt x="220540" y="96576"/>
                  <a:pt x="201804" y="78154"/>
                  <a:pt x="178672" y="78154"/>
                </a:cubicBezTo>
                <a:close/>
                <a:moveTo>
                  <a:pt x="164681" y="120022"/>
                </a:moveTo>
                <a:cubicBezTo>
                  <a:pt x="164681" y="112319"/>
                  <a:pt x="170935" y="106066"/>
                  <a:pt x="178637" y="106066"/>
                </a:cubicBezTo>
                <a:cubicBezTo>
                  <a:pt x="186340" y="106066"/>
                  <a:pt x="192593" y="112319"/>
                  <a:pt x="192593" y="120022"/>
                </a:cubicBezTo>
                <a:cubicBezTo>
                  <a:pt x="192593" y="127725"/>
                  <a:pt x="186340" y="133978"/>
                  <a:pt x="178637" y="133978"/>
                </a:cubicBezTo>
                <a:cubicBezTo>
                  <a:pt x="170935" y="133978"/>
                  <a:pt x="164681" y="127725"/>
                  <a:pt x="164681" y="120022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4" name="Text 11"/>
          <p:cNvSpPr/>
          <p:nvPr/>
        </p:nvSpPr>
        <p:spPr>
          <a:xfrm>
            <a:off x="6588517" y="1392866"/>
            <a:ext cx="5162620" cy="250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7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by Location</a:t>
            </a:r>
            <a:endParaRPr lang="en-US" sz="1600" dirty="0"/>
          </a:p>
        </p:txBody>
      </p:sp>
      <p:pic>
        <p:nvPicPr>
          <p:cNvPr id="15" name="Image 1" descr="https://kimi-img.moonshot.cn/pub/slides/26-03-13-18:33:15-d6pufqsn90728eh0jmi0.png">    </p:cNvPr>
          <p:cNvPicPr>
            <a:picLocks noChangeAspect="1"/>
          </p:cNvPicPr>
          <p:nvPr/>
        </p:nvPicPr>
        <p:blipFill>
          <a:blip r:embed="rId2"/>
          <a:srcRect l="83" r="83" t="0" b="0"/>
          <a:stretch/>
        </p:blipFill>
        <p:spPr>
          <a:xfrm>
            <a:off x="6365220" y="1785741"/>
            <a:ext cx="4912527" cy="2500923"/>
          </a:xfrm>
          <a:prstGeom prst="roundRect">
            <a:avLst>
              <a:gd name="adj" fmla="val 0"/>
            </a:avLst>
          </a:prstGeom>
        </p:spPr>
      </p:pic>
      <p:sp>
        <p:nvSpPr>
          <p:cNvPr id="16" name="Shape 12"/>
          <p:cNvSpPr/>
          <p:nvPr/>
        </p:nvSpPr>
        <p:spPr>
          <a:xfrm>
            <a:off x="6186688" y="4607919"/>
            <a:ext cx="5653873" cy="2250831"/>
          </a:xfrm>
          <a:custGeom>
            <a:avLst/>
            <a:gdLst/>
            <a:ahLst/>
            <a:cxnLst/>
            <a:rect l="l" t="t" r="r" b="b"/>
            <a:pathLst>
              <a:path w="5653873" h="2250831">
                <a:moveTo>
                  <a:pt x="35721" y="0"/>
                </a:moveTo>
                <a:lnTo>
                  <a:pt x="5618152" y="0"/>
                </a:lnTo>
                <a:cubicBezTo>
                  <a:pt x="5637880" y="0"/>
                  <a:pt x="5653873" y="15993"/>
                  <a:pt x="5653873" y="35721"/>
                </a:cubicBezTo>
                <a:lnTo>
                  <a:pt x="5653873" y="2215110"/>
                </a:lnTo>
                <a:cubicBezTo>
                  <a:pt x="5653873" y="2234838"/>
                  <a:pt x="5637880" y="2250831"/>
                  <a:pt x="5618152" y="2250831"/>
                </a:cubicBezTo>
                <a:lnTo>
                  <a:pt x="35721" y="2250831"/>
                </a:lnTo>
                <a:cubicBezTo>
                  <a:pt x="15993" y="2250831"/>
                  <a:pt x="0" y="2234838"/>
                  <a:pt x="0" y="2215110"/>
                </a:cubicBezTo>
                <a:lnTo>
                  <a:pt x="0" y="35721"/>
                </a:lnTo>
                <a:cubicBezTo>
                  <a:pt x="0" y="15993"/>
                  <a:pt x="15993" y="0"/>
                  <a:pt x="35721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6373036" y="4831002"/>
            <a:ext cx="180870" cy="160774"/>
          </a:xfrm>
          <a:custGeom>
            <a:avLst/>
            <a:gdLst/>
            <a:ahLst/>
            <a:cxnLst/>
            <a:rect l="l" t="t" r="r" b="b"/>
            <a:pathLst>
              <a:path w="180870" h="160774">
                <a:moveTo>
                  <a:pt x="113295" y="377"/>
                </a:moveTo>
                <a:cubicBezTo>
                  <a:pt x="107957" y="-1162"/>
                  <a:pt x="102399" y="1947"/>
                  <a:pt x="100860" y="7285"/>
                </a:cubicBezTo>
                <a:lnTo>
                  <a:pt x="60667" y="147962"/>
                </a:lnTo>
                <a:cubicBezTo>
                  <a:pt x="59128" y="153300"/>
                  <a:pt x="62237" y="158858"/>
                  <a:pt x="67575" y="160397"/>
                </a:cubicBezTo>
                <a:cubicBezTo>
                  <a:pt x="72913" y="161935"/>
                  <a:pt x="78471" y="158827"/>
                  <a:pt x="80010" y="153489"/>
                </a:cubicBezTo>
                <a:lnTo>
                  <a:pt x="120203" y="12812"/>
                </a:lnTo>
                <a:cubicBezTo>
                  <a:pt x="121742" y="7473"/>
                  <a:pt x="118633" y="1915"/>
                  <a:pt x="113295" y="377"/>
                </a:cubicBezTo>
                <a:close/>
                <a:moveTo>
                  <a:pt x="133580" y="43114"/>
                </a:moveTo>
                <a:cubicBezTo>
                  <a:pt x="129655" y="47039"/>
                  <a:pt x="129655" y="53413"/>
                  <a:pt x="133580" y="57338"/>
                </a:cubicBezTo>
                <a:lnTo>
                  <a:pt x="156629" y="80387"/>
                </a:lnTo>
                <a:lnTo>
                  <a:pt x="133580" y="103435"/>
                </a:lnTo>
                <a:cubicBezTo>
                  <a:pt x="129655" y="107360"/>
                  <a:pt x="129655" y="113735"/>
                  <a:pt x="133580" y="117660"/>
                </a:cubicBezTo>
                <a:cubicBezTo>
                  <a:pt x="137505" y="121585"/>
                  <a:pt x="143880" y="121585"/>
                  <a:pt x="147805" y="117660"/>
                </a:cubicBezTo>
                <a:lnTo>
                  <a:pt x="177950" y="87515"/>
                </a:lnTo>
                <a:cubicBezTo>
                  <a:pt x="181875" y="83590"/>
                  <a:pt x="181875" y="77215"/>
                  <a:pt x="177950" y="73290"/>
                </a:cubicBezTo>
                <a:lnTo>
                  <a:pt x="147805" y="43145"/>
                </a:lnTo>
                <a:cubicBezTo>
                  <a:pt x="143880" y="39220"/>
                  <a:pt x="137505" y="39220"/>
                  <a:pt x="133580" y="43145"/>
                </a:cubicBezTo>
                <a:close/>
                <a:moveTo>
                  <a:pt x="47321" y="43114"/>
                </a:moveTo>
                <a:cubicBezTo>
                  <a:pt x="43396" y="39189"/>
                  <a:pt x="37022" y="39189"/>
                  <a:pt x="33097" y="43114"/>
                </a:cubicBezTo>
                <a:lnTo>
                  <a:pt x="2952" y="73259"/>
                </a:lnTo>
                <a:cubicBezTo>
                  <a:pt x="-973" y="77184"/>
                  <a:pt x="-973" y="83558"/>
                  <a:pt x="2952" y="87483"/>
                </a:cubicBezTo>
                <a:lnTo>
                  <a:pt x="33097" y="117629"/>
                </a:lnTo>
                <a:cubicBezTo>
                  <a:pt x="37022" y="121554"/>
                  <a:pt x="43396" y="121554"/>
                  <a:pt x="47321" y="117629"/>
                </a:cubicBezTo>
                <a:cubicBezTo>
                  <a:pt x="51247" y="113703"/>
                  <a:pt x="51247" y="107329"/>
                  <a:pt x="47321" y="103404"/>
                </a:cubicBezTo>
                <a:lnTo>
                  <a:pt x="24273" y="80387"/>
                </a:lnTo>
                <a:lnTo>
                  <a:pt x="47290" y="57338"/>
                </a:lnTo>
                <a:cubicBezTo>
                  <a:pt x="51215" y="53413"/>
                  <a:pt x="51215" y="47039"/>
                  <a:pt x="47290" y="43114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8" name="Text 14"/>
          <p:cNvSpPr/>
          <p:nvPr/>
        </p:nvSpPr>
        <p:spPr>
          <a:xfrm>
            <a:off x="6561721" y="4786448"/>
            <a:ext cx="5180484" cy="250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66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Skills Impact on Salary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365220" y="5143513"/>
            <a:ext cx="5296598" cy="464457"/>
          </a:xfrm>
          <a:custGeom>
            <a:avLst/>
            <a:gdLst/>
            <a:ahLst/>
            <a:cxnLst/>
            <a:rect l="l" t="t" r="r" b="b"/>
            <a:pathLst>
              <a:path w="5296598" h="464457">
                <a:moveTo>
                  <a:pt x="35726" y="0"/>
                </a:moveTo>
                <a:lnTo>
                  <a:pt x="5260872" y="0"/>
                </a:lnTo>
                <a:cubicBezTo>
                  <a:pt x="5280603" y="0"/>
                  <a:pt x="5296598" y="15995"/>
                  <a:pt x="5296598" y="35726"/>
                </a:cubicBezTo>
                <a:lnTo>
                  <a:pt x="5296598" y="428731"/>
                </a:lnTo>
                <a:cubicBezTo>
                  <a:pt x="5296598" y="448462"/>
                  <a:pt x="5280603" y="464457"/>
                  <a:pt x="5260872" y="464457"/>
                </a:cubicBezTo>
                <a:lnTo>
                  <a:pt x="35726" y="464457"/>
                </a:lnTo>
                <a:cubicBezTo>
                  <a:pt x="15995" y="464457"/>
                  <a:pt x="0" y="448462"/>
                  <a:pt x="0" y="428731"/>
                </a:cubicBezTo>
                <a:lnTo>
                  <a:pt x="0" y="35726"/>
                </a:lnTo>
                <a:cubicBezTo>
                  <a:pt x="0" y="16008"/>
                  <a:pt x="16008" y="0"/>
                  <a:pt x="35726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6472339" y="5268433"/>
            <a:ext cx="464457" cy="214365"/>
          </a:xfrm>
          <a:custGeom>
            <a:avLst/>
            <a:gdLst/>
            <a:ahLst/>
            <a:cxnLst/>
            <a:rect l="l" t="t" r="r" b="b"/>
            <a:pathLst>
              <a:path w="464457" h="214365">
                <a:moveTo>
                  <a:pt x="35728" y="0"/>
                </a:moveTo>
                <a:lnTo>
                  <a:pt x="428729" y="0"/>
                </a:lnTo>
                <a:cubicBezTo>
                  <a:pt x="448461" y="0"/>
                  <a:pt x="464457" y="15996"/>
                  <a:pt x="464457" y="35728"/>
                </a:cubicBezTo>
                <a:lnTo>
                  <a:pt x="464457" y="178637"/>
                </a:lnTo>
                <a:cubicBezTo>
                  <a:pt x="464457" y="198369"/>
                  <a:pt x="448461" y="214365"/>
                  <a:pt x="428729" y="214365"/>
                </a:cubicBezTo>
                <a:lnTo>
                  <a:pt x="35728" y="214365"/>
                </a:lnTo>
                <a:cubicBezTo>
                  <a:pt x="16009" y="214365"/>
                  <a:pt x="0" y="198356"/>
                  <a:pt x="0" y="178637"/>
                </a:cubicBezTo>
                <a:lnTo>
                  <a:pt x="0" y="35728"/>
                </a:lnTo>
                <a:cubicBezTo>
                  <a:pt x="0" y="15996"/>
                  <a:pt x="15996" y="0"/>
                  <a:pt x="35728" y="0"/>
                </a:cubicBezTo>
                <a:close/>
              </a:path>
            </a:pathLst>
          </a:custGeom>
          <a:solidFill>
            <a:srgbClr val="B89A6A">
              <a:alpha val="30196"/>
            </a:srgbClr>
          </a:solidFill>
          <a:ln/>
        </p:spPr>
      </p:sp>
      <p:sp>
        <p:nvSpPr>
          <p:cNvPr id="21" name="Text 17"/>
          <p:cNvSpPr/>
          <p:nvPr/>
        </p:nvSpPr>
        <p:spPr>
          <a:xfrm>
            <a:off x="6472339" y="5268433"/>
            <a:ext cx="518048" cy="214365"/>
          </a:xfrm>
          <a:prstGeom prst="rect">
            <a:avLst/>
          </a:prstGeom>
          <a:noFill/>
          <a:ln/>
        </p:spPr>
        <p:txBody>
          <a:bodyPr wrap="square" lIns="71455" tIns="35727" rIns="71455" bIns="35727" rtlCol="0" anchor="ctr"/>
          <a:lstStyle/>
          <a:p>
            <a:pPr>
              <a:lnSpc>
                <a:spcPct val="110000"/>
              </a:lnSpc>
            </a:pPr>
            <a:r>
              <a:rPr lang="en-US" sz="844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Python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7045222" y="5286340"/>
            <a:ext cx="857459" cy="17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85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+15% premium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11192747" y="5250634"/>
            <a:ext cx="437662" cy="250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66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$86K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365220" y="5679111"/>
            <a:ext cx="5296598" cy="464457"/>
          </a:xfrm>
          <a:custGeom>
            <a:avLst/>
            <a:gdLst/>
            <a:ahLst/>
            <a:cxnLst/>
            <a:rect l="l" t="t" r="r" b="b"/>
            <a:pathLst>
              <a:path w="5296598" h="464457">
                <a:moveTo>
                  <a:pt x="35726" y="0"/>
                </a:moveTo>
                <a:lnTo>
                  <a:pt x="5260872" y="0"/>
                </a:lnTo>
                <a:cubicBezTo>
                  <a:pt x="5280603" y="0"/>
                  <a:pt x="5296598" y="15995"/>
                  <a:pt x="5296598" y="35726"/>
                </a:cubicBezTo>
                <a:lnTo>
                  <a:pt x="5296598" y="428731"/>
                </a:lnTo>
                <a:cubicBezTo>
                  <a:pt x="5296598" y="448462"/>
                  <a:pt x="5280603" y="464457"/>
                  <a:pt x="5260872" y="464457"/>
                </a:cubicBezTo>
                <a:lnTo>
                  <a:pt x="35726" y="464457"/>
                </a:lnTo>
                <a:cubicBezTo>
                  <a:pt x="15995" y="464457"/>
                  <a:pt x="0" y="448462"/>
                  <a:pt x="0" y="428731"/>
                </a:cubicBezTo>
                <a:lnTo>
                  <a:pt x="0" y="35726"/>
                </a:lnTo>
                <a:cubicBezTo>
                  <a:pt x="0" y="16008"/>
                  <a:pt x="16008" y="0"/>
                  <a:pt x="35726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5" name="Shape 21"/>
          <p:cNvSpPr/>
          <p:nvPr/>
        </p:nvSpPr>
        <p:spPr>
          <a:xfrm>
            <a:off x="6472339" y="5804031"/>
            <a:ext cx="803868" cy="214365"/>
          </a:xfrm>
          <a:custGeom>
            <a:avLst/>
            <a:gdLst/>
            <a:ahLst/>
            <a:cxnLst/>
            <a:rect l="l" t="t" r="r" b="b"/>
            <a:pathLst>
              <a:path w="803868" h="214365">
                <a:moveTo>
                  <a:pt x="35728" y="0"/>
                </a:moveTo>
                <a:lnTo>
                  <a:pt x="768140" y="0"/>
                </a:lnTo>
                <a:cubicBezTo>
                  <a:pt x="787872" y="0"/>
                  <a:pt x="803868" y="15996"/>
                  <a:pt x="803868" y="35728"/>
                </a:cubicBezTo>
                <a:lnTo>
                  <a:pt x="803868" y="178637"/>
                </a:lnTo>
                <a:cubicBezTo>
                  <a:pt x="803868" y="198369"/>
                  <a:pt x="787872" y="214365"/>
                  <a:pt x="768140" y="214365"/>
                </a:cubicBezTo>
                <a:lnTo>
                  <a:pt x="35728" y="214365"/>
                </a:lnTo>
                <a:cubicBezTo>
                  <a:pt x="16009" y="214365"/>
                  <a:pt x="0" y="198356"/>
                  <a:pt x="0" y="178637"/>
                </a:cubicBezTo>
                <a:lnTo>
                  <a:pt x="0" y="35728"/>
                </a:lnTo>
                <a:cubicBezTo>
                  <a:pt x="0" y="15996"/>
                  <a:pt x="15996" y="0"/>
                  <a:pt x="35728" y="0"/>
                </a:cubicBezTo>
                <a:close/>
              </a:path>
            </a:pathLst>
          </a:custGeom>
          <a:solidFill>
            <a:srgbClr val="3A5F7A">
              <a:alpha val="40000"/>
            </a:srgbClr>
          </a:solidFill>
          <a:ln/>
        </p:spPr>
      </p:sp>
      <p:sp>
        <p:nvSpPr>
          <p:cNvPr id="26" name="Text 22"/>
          <p:cNvSpPr/>
          <p:nvPr/>
        </p:nvSpPr>
        <p:spPr>
          <a:xfrm>
            <a:off x="6472339" y="5804031"/>
            <a:ext cx="857459" cy="214365"/>
          </a:xfrm>
          <a:prstGeom prst="rect">
            <a:avLst/>
          </a:prstGeom>
          <a:noFill/>
          <a:ln/>
        </p:spPr>
        <p:txBody>
          <a:bodyPr wrap="square" lIns="71455" tIns="35727" rIns="71455" bIns="35727" rtlCol="0" anchor="ctr"/>
          <a:lstStyle/>
          <a:p>
            <a:pPr>
              <a:lnSpc>
                <a:spcPct val="110000"/>
              </a:lnSpc>
            </a:pPr>
            <a:r>
              <a:rPr lang="en-US" sz="844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SQL + Tableau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7385328" y="5821934"/>
            <a:ext cx="848527" cy="17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85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+12% premium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11199699" y="5786228"/>
            <a:ext cx="428730" cy="250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66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$84K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6365220" y="6214705"/>
            <a:ext cx="5296598" cy="464457"/>
          </a:xfrm>
          <a:custGeom>
            <a:avLst/>
            <a:gdLst/>
            <a:ahLst/>
            <a:cxnLst/>
            <a:rect l="l" t="t" r="r" b="b"/>
            <a:pathLst>
              <a:path w="5296598" h="464457">
                <a:moveTo>
                  <a:pt x="35726" y="0"/>
                </a:moveTo>
                <a:lnTo>
                  <a:pt x="5260872" y="0"/>
                </a:lnTo>
                <a:cubicBezTo>
                  <a:pt x="5280603" y="0"/>
                  <a:pt x="5296598" y="15995"/>
                  <a:pt x="5296598" y="35726"/>
                </a:cubicBezTo>
                <a:lnTo>
                  <a:pt x="5296598" y="428731"/>
                </a:lnTo>
                <a:cubicBezTo>
                  <a:pt x="5296598" y="448462"/>
                  <a:pt x="5280603" y="464457"/>
                  <a:pt x="5260872" y="464457"/>
                </a:cubicBezTo>
                <a:lnTo>
                  <a:pt x="35726" y="464457"/>
                </a:lnTo>
                <a:cubicBezTo>
                  <a:pt x="15995" y="464457"/>
                  <a:pt x="0" y="448462"/>
                  <a:pt x="0" y="428731"/>
                </a:cubicBezTo>
                <a:lnTo>
                  <a:pt x="0" y="35726"/>
                </a:lnTo>
                <a:cubicBezTo>
                  <a:pt x="0" y="16008"/>
                  <a:pt x="16008" y="0"/>
                  <a:pt x="35726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0" name="Shape 26"/>
          <p:cNvSpPr/>
          <p:nvPr/>
        </p:nvSpPr>
        <p:spPr>
          <a:xfrm>
            <a:off x="6472339" y="6339625"/>
            <a:ext cx="634163" cy="214365"/>
          </a:xfrm>
          <a:custGeom>
            <a:avLst/>
            <a:gdLst/>
            <a:ahLst/>
            <a:cxnLst/>
            <a:rect l="l" t="t" r="r" b="b"/>
            <a:pathLst>
              <a:path w="634163" h="214365">
                <a:moveTo>
                  <a:pt x="35728" y="0"/>
                </a:moveTo>
                <a:lnTo>
                  <a:pt x="598434" y="0"/>
                </a:lnTo>
                <a:cubicBezTo>
                  <a:pt x="618167" y="0"/>
                  <a:pt x="634163" y="15996"/>
                  <a:pt x="634163" y="35728"/>
                </a:cubicBezTo>
                <a:lnTo>
                  <a:pt x="634163" y="178637"/>
                </a:lnTo>
                <a:cubicBezTo>
                  <a:pt x="634163" y="198369"/>
                  <a:pt x="618167" y="214365"/>
                  <a:pt x="598434" y="214365"/>
                </a:cubicBezTo>
                <a:lnTo>
                  <a:pt x="35728" y="214365"/>
                </a:lnTo>
                <a:cubicBezTo>
                  <a:pt x="16009" y="214365"/>
                  <a:pt x="0" y="198356"/>
                  <a:pt x="0" y="178637"/>
                </a:cubicBezTo>
                <a:lnTo>
                  <a:pt x="0" y="35728"/>
                </a:lnTo>
                <a:cubicBezTo>
                  <a:pt x="0" y="15996"/>
                  <a:pt x="15996" y="0"/>
                  <a:pt x="35728" y="0"/>
                </a:cubicBezTo>
                <a:close/>
              </a:path>
            </a:pathLst>
          </a:custGeom>
          <a:solidFill>
            <a:srgbClr val="3A5F7A">
              <a:alpha val="40000"/>
            </a:srgbClr>
          </a:solidFill>
          <a:ln/>
        </p:spPr>
      </p:sp>
      <p:sp>
        <p:nvSpPr>
          <p:cNvPr id="31" name="Text 27"/>
          <p:cNvSpPr/>
          <p:nvPr/>
        </p:nvSpPr>
        <p:spPr>
          <a:xfrm>
            <a:off x="6472339" y="6339625"/>
            <a:ext cx="687754" cy="214365"/>
          </a:xfrm>
          <a:prstGeom prst="rect">
            <a:avLst/>
          </a:prstGeom>
          <a:noFill/>
          <a:ln/>
        </p:spPr>
        <p:txBody>
          <a:bodyPr wrap="square" lIns="71455" tIns="35727" rIns="71455" bIns="35727" rtlCol="0" anchor="ctr"/>
          <a:lstStyle/>
          <a:p>
            <a:pPr>
              <a:lnSpc>
                <a:spcPct val="110000"/>
              </a:lnSpc>
            </a:pPr>
            <a:r>
              <a:rPr lang="en-US" sz="844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Excel Only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7215011" y="6357532"/>
            <a:ext cx="598435" cy="17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85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Base level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11215709" y="6321826"/>
            <a:ext cx="419798" cy="250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66" b="1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$72K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4549" y="344549"/>
            <a:ext cx="11563013" cy="172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b="1" spc="47" kern="0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EMPLOYER LANDSCAPE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44549" y="585661"/>
            <a:ext cx="11709490" cy="413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257" b="1" dirty="0">
                <a:solidFill>
                  <a:srgbClr val="E0E2E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Company Hiring Trends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44549" y="1171428"/>
            <a:ext cx="6832690" cy="4859567"/>
          </a:xfrm>
          <a:custGeom>
            <a:avLst/>
            <a:gdLst/>
            <a:ahLst/>
            <a:cxnLst/>
            <a:rect l="l" t="t" r="r" b="b"/>
            <a:pathLst>
              <a:path w="6832690" h="4859567">
                <a:moveTo>
                  <a:pt x="34454" y="0"/>
                </a:moveTo>
                <a:lnTo>
                  <a:pt x="6798235" y="0"/>
                </a:lnTo>
                <a:cubicBezTo>
                  <a:pt x="6817264" y="0"/>
                  <a:pt x="6832690" y="15426"/>
                  <a:pt x="6832690" y="34454"/>
                </a:cubicBezTo>
                <a:lnTo>
                  <a:pt x="6832690" y="4825113"/>
                </a:lnTo>
                <a:cubicBezTo>
                  <a:pt x="6832690" y="4844142"/>
                  <a:pt x="6817264" y="4859567"/>
                  <a:pt x="6798235" y="4859567"/>
                </a:cubicBezTo>
                <a:lnTo>
                  <a:pt x="34454" y="4859567"/>
                </a:lnTo>
                <a:cubicBezTo>
                  <a:pt x="15426" y="4859567"/>
                  <a:pt x="0" y="4844142"/>
                  <a:pt x="0" y="4825113"/>
                </a:cubicBezTo>
                <a:lnTo>
                  <a:pt x="0" y="34454"/>
                </a:lnTo>
                <a:cubicBezTo>
                  <a:pt x="0" y="15426"/>
                  <a:pt x="15426" y="0"/>
                  <a:pt x="34454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38313" y="1378096"/>
            <a:ext cx="172325" cy="172325"/>
          </a:xfrm>
          <a:custGeom>
            <a:avLst/>
            <a:gdLst/>
            <a:ahLst/>
            <a:cxnLst/>
            <a:rect l="l" t="t" r="r" b="b"/>
            <a:pathLst>
              <a:path w="172325" h="172325">
                <a:moveTo>
                  <a:pt x="10770" y="10770"/>
                </a:moveTo>
                <a:cubicBezTo>
                  <a:pt x="16728" y="10770"/>
                  <a:pt x="21541" y="15583"/>
                  <a:pt x="21541" y="21541"/>
                </a:cubicBezTo>
                <a:lnTo>
                  <a:pt x="21541" y="134629"/>
                </a:lnTo>
                <a:cubicBezTo>
                  <a:pt x="21541" y="137591"/>
                  <a:pt x="23964" y="140014"/>
                  <a:pt x="26926" y="140014"/>
                </a:cubicBezTo>
                <a:lnTo>
                  <a:pt x="161555" y="140014"/>
                </a:lnTo>
                <a:cubicBezTo>
                  <a:pt x="167512" y="140014"/>
                  <a:pt x="172325" y="144827"/>
                  <a:pt x="172325" y="150784"/>
                </a:cubicBezTo>
                <a:cubicBezTo>
                  <a:pt x="172325" y="156742"/>
                  <a:pt x="167512" y="161555"/>
                  <a:pt x="161555" y="161555"/>
                </a:cubicBezTo>
                <a:lnTo>
                  <a:pt x="26926" y="161555"/>
                </a:lnTo>
                <a:cubicBezTo>
                  <a:pt x="12049" y="161555"/>
                  <a:pt x="0" y="149505"/>
                  <a:pt x="0" y="134629"/>
                </a:cubicBezTo>
                <a:lnTo>
                  <a:pt x="0" y="21541"/>
                </a:lnTo>
                <a:cubicBezTo>
                  <a:pt x="0" y="15583"/>
                  <a:pt x="4813" y="10770"/>
                  <a:pt x="10770" y="10770"/>
                </a:cubicBezTo>
                <a:close/>
                <a:moveTo>
                  <a:pt x="80777" y="32311"/>
                </a:moveTo>
                <a:cubicBezTo>
                  <a:pt x="83032" y="32311"/>
                  <a:pt x="85186" y="33253"/>
                  <a:pt x="86735" y="34936"/>
                </a:cubicBezTo>
                <a:lnTo>
                  <a:pt x="110665" y="61021"/>
                </a:lnTo>
                <a:lnTo>
                  <a:pt x="126215" y="45437"/>
                </a:lnTo>
                <a:cubicBezTo>
                  <a:pt x="129378" y="42273"/>
                  <a:pt x="134494" y="42273"/>
                  <a:pt x="137624" y="45437"/>
                </a:cubicBezTo>
                <a:lnTo>
                  <a:pt x="159165" y="66978"/>
                </a:lnTo>
                <a:cubicBezTo>
                  <a:pt x="160680" y="68492"/>
                  <a:pt x="161521" y="70546"/>
                  <a:pt x="161521" y="72700"/>
                </a:cubicBezTo>
                <a:lnTo>
                  <a:pt x="161521" y="110396"/>
                </a:lnTo>
                <a:cubicBezTo>
                  <a:pt x="161521" y="114872"/>
                  <a:pt x="157920" y="118473"/>
                  <a:pt x="153443" y="118473"/>
                </a:cubicBezTo>
                <a:lnTo>
                  <a:pt x="51125" y="118473"/>
                </a:lnTo>
                <a:cubicBezTo>
                  <a:pt x="46649" y="118473"/>
                  <a:pt x="43048" y="114872"/>
                  <a:pt x="43048" y="110396"/>
                </a:cubicBezTo>
                <a:lnTo>
                  <a:pt x="43048" y="72700"/>
                </a:lnTo>
                <a:cubicBezTo>
                  <a:pt x="43048" y="70680"/>
                  <a:pt x="43822" y="68728"/>
                  <a:pt x="45168" y="67247"/>
                </a:cubicBezTo>
                <a:lnTo>
                  <a:pt x="74786" y="34936"/>
                </a:lnTo>
                <a:cubicBezTo>
                  <a:pt x="76301" y="33253"/>
                  <a:pt x="78489" y="32311"/>
                  <a:pt x="80744" y="32311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6" name="Text 4"/>
          <p:cNvSpPr/>
          <p:nvPr/>
        </p:nvSpPr>
        <p:spPr>
          <a:xfrm>
            <a:off x="732178" y="1343648"/>
            <a:ext cx="6358796" cy="241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57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Top Hiring Companies by Industry</a:t>
            </a:r>
            <a:endParaRPr lang="en-US" sz="1600" dirty="0"/>
          </a:p>
        </p:txBody>
      </p:sp>
      <p:pic>
        <p:nvPicPr>
          <p:cNvPr id="7" name="Image 0" descr="https://kimi-img.moonshot.cn/pub/slides/26-03-13-18:33:17-d6pufra7ch94tp5ejf4g.png">    </p:cNvPr>
          <p:cNvPicPr>
            <a:picLocks noChangeAspect="1"/>
          </p:cNvPicPr>
          <p:nvPr/>
        </p:nvPicPr>
        <p:blipFill>
          <a:blip r:embed="rId1"/>
          <a:srcRect l="95" r="96" t="0" b="0"/>
          <a:stretch/>
        </p:blipFill>
        <p:spPr>
          <a:xfrm>
            <a:off x="516772" y="1722641"/>
            <a:ext cx="5790123" cy="2757201"/>
          </a:xfrm>
          <a:prstGeom prst="roundRect">
            <a:avLst>
              <a:gd name="adj" fmla="val 0"/>
            </a:avLst>
          </a:prstGeom>
        </p:spPr>
      </p:pic>
      <p:sp>
        <p:nvSpPr>
          <p:cNvPr id="8" name="Shape 5"/>
          <p:cNvSpPr/>
          <p:nvPr/>
        </p:nvSpPr>
        <p:spPr>
          <a:xfrm>
            <a:off x="360806" y="6166718"/>
            <a:ext cx="6814482" cy="689300"/>
          </a:xfrm>
          <a:custGeom>
            <a:avLst/>
            <a:gdLst/>
            <a:ahLst/>
            <a:cxnLst/>
            <a:rect l="l" t="t" r="r" b="b"/>
            <a:pathLst>
              <a:path w="6814482" h="689300">
                <a:moveTo>
                  <a:pt x="32514" y="0"/>
                </a:moveTo>
                <a:lnTo>
                  <a:pt x="6780017" y="0"/>
                </a:lnTo>
                <a:cubicBezTo>
                  <a:pt x="6799051" y="0"/>
                  <a:pt x="6814482" y="15431"/>
                  <a:pt x="6814482" y="34465"/>
                </a:cubicBezTo>
                <a:lnTo>
                  <a:pt x="6814482" y="654835"/>
                </a:lnTo>
                <a:cubicBezTo>
                  <a:pt x="6814482" y="673870"/>
                  <a:pt x="6799051" y="689300"/>
                  <a:pt x="6780017" y="689300"/>
                </a:cubicBezTo>
                <a:lnTo>
                  <a:pt x="32514" y="689300"/>
                </a:lnTo>
                <a:cubicBezTo>
                  <a:pt x="14557" y="689300"/>
                  <a:pt x="0" y="674743"/>
                  <a:pt x="0" y="656786"/>
                </a:cubicBezTo>
                <a:lnTo>
                  <a:pt x="0" y="32514"/>
                </a:lnTo>
                <a:cubicBezTo>
                  <a:pt x="0" y="14557"/>
                  <a:pt x="14557" y="0"/>
                  <a:pt x="32514" y="0"/>
                </a:cubicBezTo>
                <a:close/>
              </a:path>
            </a:pathLst>
          </a:custGeom>
          <a:gradFill rotWithShape="1" flip="none">
            <a:gsLst>
              <a:gs pos="0">
                <a:srgbClr val="B89A6A">
                  <a:alpha val="20000"/>
                </a:srgbClr>
              </a:gs>
              <a:gs pos="100000">
                <a:srgbClr val="3A5F7A">
                  <a:alpha val="10000"/>
                </a:srgbClr>
              </a:gs>
            </a:gsLst>
            <a:lin ang="0" scaled="1"/>
          </a:gradFill>
          <a:ln/>
        </p:spPr>
      </p:sp>
      <p:sp>
        <p:nvSpPr>
          <p:cNvPr id="9" name="Shape 6"/>
          <p:cNvSpPr/>
          <p:nvPr/>
        </p:nvSpPr>
        <p:spPr>
          <a:xfrm>
            <a:off x="360806" y="6166718"/>
            <a:ext cx="32514" cy="689300"/>
          </a:xfrm>
          <a:custGeom>
            <a:avLst/>
            <a:gdLst/>
            <a:ahLst/>
            <a:cxnLst/>
            <a:rect l="l" t="t" r="r" b="b"/>
            <a:pathLst>
              <a:path w="32514" h="689300">
                <a:moveTo>
                  <a:pt x="32514" y="0"/>
                </a:moveTo>
                <a:lnTo>
                  <a:pt x="32514" y="0"/>
                </a:lnTo>
                <a:lnTo>
                  <a:pt x="32514" y="689300"/>
                </a:lnTo>
                <a:lnTo>
                  <a:pt x="32514" y="689300"/>
                </a:lnTo>
                <a:cubicBezTo>
                  <a:pt x="14557" y="689300"/>
                  <a:pt x="0" y="674743"/>
                  <a:pt x="0" y="656786"/>
                </a:cubicBezTo>
                <a:lnTo>
                  <a:pt x="0" y="32514"/>
                </a:lnTo>
                <a:cubicBezTo>
                  <a:pt x="0" y="14557"/>
                  <a:pt x="14557" y="0"/>
                  <a:pt x="32514" y="0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0" name="Shape 7"/>
          <p:cNvSpPr/>
          <p:nvPr/>
        </p:nvSpPr>
        <p:spPr>
          <a:xfrm>
            <a:off x="523458" y="6330511"/>
            <a:ext cx="155093" cy="137860"/>
          </a:xfrm>
          <a:custGeom>
            <a:avLst/>
            <a:gdLst/>
            <a:ahLst/>
            <a:cxnLst/>
            <a:rect l="l" t="t" r="r" b="b"/>
            <a:pathLst>
              <a:path w="155093" h="137860">
                <a:moveTo>
                  <a:pt x="137968" y="64622"/>
                </a:moveTo>
                <a:lnTo>
                  <a:pt x="90578" y="64622"/>
                </a:lnTo>
                <a:cubicBezTo>
                  <a:pt x="85813" y="64622"/>
                  <a:pt x="81962" y="60772"/>
                  <a:pt x="81962" y="56006"/>
                </a:cubicBezTo>
                <a:lnTo>
                  <a:pt x="81962" y="8616"/>
                </a:lnTo>
                <a:cubicBezTo>
                  <a:pt x="81962" y="3850"/>
                  <a:pt x="85839" y="-54"/>
                  <a:pt x="90551" y="565"/>
                </a:cubicBezTo>
                <a:cubicBezTo>
                  <a:pt x="119362" y="4389"/>
                  <a:pt x="142195" y="27222"/>
                  <a:pt x="146019" y="56033"/>
                </a:cubicBezTo>
                <a:cubicBezTo>
                  <a:pt x="146638" y="60745"/>
                  <a:pt x="142734" y="64622"/>
                  <a:pt x="137968" y="64622"/>
                </a:cubicBezTo>
                <a:close/>
                <a:moveTo>
                  <a:pt x="59937" y="10016"/>
                </a:moveTo>
                <a:cubicBezTo>
                  <a:pt x="64810" y="8993"/>
                  <a:pt x="69038" y="12978"/>
                  <a:pt x="69038" y="17960"/>
                </a:cubicBezTo>
                <a:lnTo>
                  <a:pt x="69038" y="71084"/>
                </a:lnTo>
                <a:cubicBezTo>
                  <a:pt x="69038" y="72592"/>
                  <a:pt x="69576" y="74046"/>
                  <a:pt x="70519" y="75204"/>
                </a:cubicBezTo>
                <a:lnTo>
                  <a:pt x="106088" y="118123"/>
                </a:lnTo>
                <a:cubicBezTo>
                  <a:pt x="109238" y="121920"/>
                  <a:pt x="108565" y="127655"/>
                  <a:pt x="104230" y="129998"/>
                </a:cubicBezTo>
                <a:cubicBezTo>
                  <a:pt x="95048" y="135006"/>
                  <a:pt x="84520" y="137860"/>
                  <a:pt x="73346" y="137860"/>
                </a:cubicBezTo>
                <a:cubicBezTo>
                  <a:pt x="37669" y="137860"/>
                  <a:pt x="8724" y="108915"/>
                  <a:pt x="8724" y="73238"/>
                </a:cubicBezTo>
                <a:cubicBezTo>
                  <a:pt x="8724" y="42139"/>
                  <a:pt x="30668" y="16182"/>
                  <a:pt x="59937" y="10016"/>
                </a:cubicBezTo>
                <a:close/>
                <a:moveTo>
                  <a:pt x="128651" y="77546"/>
                </a:moveTo>
                <a:lnTo>
                  <a:pt x="145884" y="77546"/>
                </a:lnTo>
                <a:cubicBezTo>
                  <a:pt x="150865" y="77546"/>
                  <a:pt x="154850" y="81774"/>
                  <a:pt x="153827" y="86647"/>
                </a:cubicBezTo>
                <a:cubicBezTo>
                  <a:pt x="151081" y="99679"/>
                  <a:pt x="144403" y="111257"/>
                  <a:pt x="135087" y="120089"/>
                </a:cubicBezTo>
                <a:cubicBezTo>
                  <a:pt x="131775" y="123239"/>
                  <a:pt x="126578" y="122566"/>
                  <a:pt x="123670" y="119039"/>
                </a:cubicBezTo>
                <a:lnTo>
                  <a:pt x="100945" y="91655"/>
                </a:lnTo>
                <a:cubicBezTo>
                  <a:pt x="96287" y="86028"/>
                  <a:pt x="100299" y="77546"/>
                  <a:pt x="107569" y="77546"/>
                </a:cubicBezTo>
                <a:lnTo>
                  <a:pt x="128625" y="77546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1" name="Text 8"/>
          <p:cNvSpPr/>
          <p:nvPr/>
        </p:nvSpPr>
        <p:spPr>
          <a:xfrm>
            <a:off x="733932" y="6304498"/>
            <a:ext cx="6372344" cy="413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6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</a:t>
            </a:r>
            <a:pPr>
              <a:lnSpc>
                <a:spcPct val="120000"/>
              </a:lnSpc>
            </a:pPr>
            <a:r>
              <a:rPr lang="en-US" sz="1086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small number of companies</a:t>
            </a:r>
            <a:pPr>
              <a:lnSpc>
                <a:spcPct val="120000"/>
              </a:lnSpc>
            </a:pPr>
            <a:r>
              <a:rPr lang="en-US" sz="1086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account for a </a:t>
            </a:r>
            <a:pPr>
              <a:lnSpc>
                <a:spcPct val="120000"/>
              </a:lnSpc>
            </a:pPr>
            <a:r>
              <a:rPr lang="en-US" sz="1086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significant portion</a:t>
            </a:r>
            <a:pPr>
              <a:lnSpc>
                <a:spcPct val="120000"/>
              </a:lnSpc>
            </a:pPr>
            <a:r>
              <a:rPr lang="en-US" sz="1086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of job postings, indicating concentrated hiring among large organizations.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350133" y="1171428"/>
            <a:ext cx="4497685" cy="4825102"/>
          </a:xfrm>
          <a:custGeom>
            <a:avLst/>
            <a:gdLst/>
            <a:ahLst/>
            <a:cxnLst/>
            <a:rect l="l" t="t" r="r" b="b"/>
            <a:pathLst>
              <a:path w="4497685" h="4825102">
                <a:moveTo>
                  <a:pt x="34452" y="0"/>
                </a:moveTo>
                <a:lnTo>
                  <a:pt x="4463233" y="0"/>
                </a:lnTo>
                <a:cubicBezTo>
                  <a:pt x="4482260" y="0"/>
                  <a:pt x="4497685" y="15425"/>
                  <a:pt x="4497685" y="34452"/>
                </a:cubicBezTo>
                <a:lnTo>
                  <a:pt x="4497685" y="4790650"/>
                </a:lnTo>
                <a:cubicBezTo>
                  <a:pt x="4497685" y="4809678"/>
                  <a:pt x="4482260" y="4825102"/>
                  <a:pt x="4463233" y="4825102"/>
                </a:cubicBezTo>
                <a:lnTo>
                  <a:pt x="34452" y="4825102"/>
                </a:lnTo>
                <a:cubicBezTo>
                  <a:pt x="15425" y="4825102"/>
                  <a:pt x="0" y="4809678"/>
                  <a:pt x="0" y="4790650"/>
                </a:cubicBezTo>
                <a:lnTo>
                  <a:pt x="0" y="34452"/>
                </a:lnTo>
                <a:cubicBezTo>
                  <a:pt x="0" y="15425"/>
                  <a:pt x="15425" y="0"/>
                  <a:pt x="34452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7543897" y="1378096"/>
            <a:ext cx="172325" cy="172325"/>
          </a:xfrm>
          <a:custGeom>
            <a:avLst/>
            <a:gdLst/>
            <a:ahLst/>
            <a:cxnLst/>
            <a:rect l="l" t="t" r="r" b="b"/>
            <a:pathLst>
              <a:path w="172325" h="172325">
                <a:moveTo>
                  <a:pt x="48567" y="0"/>
                </a:moveTo>
                <a:lnTo>
                  <a:pt x="123960" y="0"/>
                </a:lnTo>
                <a:cubicBezTo>
                  <a:pt x="132879" y="0"/>
                  <a:pt x="140149" y="7337"/>
                  <a:pt x="139812" y="16223"/>
                </a:cubicBezTo>
                <a:cubicBezTo>
                  <a:pt x="139745" y="18007"/>
                  <a:pt x="139678" y="19790"/>
                  <a:pt x="139577" y="21541"/>
                </a:cubicBezTo>
                <a:lnTo>
                  <a:pt x="156271" y="21541"/>
                </a:lnTo>
                <a:cubicBezTo>
                  <a:pt x="165055" y="21541"/>
                  <a:pt x="172796" y="28811"/>
                  <a:pt x="172123" y="38302"/>
                </a:cubicBezTo>
                <a:cubicBezTo>
                  <a:pt x="169599" y="73205"/>
                  <a:pt x="151761" y="92389"/>
                  <a:pt x="132408" y="102419"/>
                </a:cubicBezTo>
                <a:cubicBezTo>
                  <a:pt x="127090" y="105179"/>
                  <a:pt x="121671" y="107232"/>
                  <a:pt x="116521" y="108747"/>
                </a:cubicBezTo>
                <a:cubicBezTo>
                  <a:pt x="109723" y="118373"/>
                  <a:pt x="102655" y="123455"/>
                  <a:pt x="97034" y="126181"/>
                </a:cubicBezTo>
                <a:lnTo>
                  <a:pt x="97034" y="150784"/>
                </a:lnTo>
                <a:lnTo>
                  <a:pt x="118574" y="150784"/>
                </a:lnTo>
                <a:cubicBezTo>
                  <a:pt x="124532" y="150784"/>
                  <a:pt x="129345" y="155597"/>
                  <a:pt x="129345" y="161555"/>
                </a:cubicBezTo>
                <a:cubicBezTo>
                  <a:pt x="129345" y="167512"/>
                  <a:pt x="124532" y="172325"/>
                  <a:pt x="118574" y="172325"/>
                </a:cubicBezTo>
                <a:lnTo>
                  <a:pt x="53953" y="172325"/>
                </a:lnTo>
                <a:cubicBezTo>
                  <a:pt x="47995" y="172325"/>
                  <a:pt x="43182" y="167512"/>
                  <a:pt x="43182" y="161555"/>
                </a:cubicBezTo>
                <a:cubicBezTo>
                  <a:pt x="43182" y="155597"/>
                  <a:pt x="47995" y="150784"/>
                  <a:pt x="53953" y="150784"/>
                </a:cubicBezTo>
                <a:lnTo>
                  <a:pt x="75493" y="150784"/>
                </a:lnTo>
                <a:lnTo>
                  <a:pt x="75493" y="126181"/>
                </a:lnTo>
                <a:cubicBezTo>
                  <a:pt x="70108" y="123589"/>
                  <a:pt x="63410" y="118776"/>
                  <a:pt x="56881" y="109925"/>
                </a:cubicBezTo>
                <a:cubicBezTo>
                  <a:pt x="50688" y="108309"/>
                  <a:pt x="43956" y="105852"/>
                  <a:pt x="37393" y="102150"/>
                </a:cubicBezTo>
                <a:cubicBezTo>
                  <a:pt x="19185" y="91952"/>
                  <a:pt x="2760" y="72733"/>
                  <a:pt x="404" y="38235"/>
                </a:cubicBezTo>
                <a:cubicBezTo>
                  <a:pt x="-236" y="28777"/>
                  <a:pt x="7472" y="21507"/>
                  <a:pt x="16256" y="21507"/>
                </a:cubicBezTo>
                <a:lnTo>
                  <a:pt x="32950" y="21507"/>
                </a:lnTo>
                <a:cubicBezTo>
                  <a:pt x="32849" y="19757"/>
                  <a:pt x="32782" y="18007"/>
                  <a:pt x="32715" y="16189"/>
                </a:cubicBezTo>
                <a:cubicBezTo>
                  <a:pt x="32378" y="7270"/>
                  <a:pt x="39648" y="-34"/>
                  <a:pt x="48567" y="-34"/>
                </a:cubicBezTo>
                <a:close/>
                <a:moveTo>
                  <a:pt x="34162" y="37696"/>
                </a:moveTo>
                <a:lnTo>
                  <a:pt x="16526" y="37696"/>
                </a:lnTo>
                <a:cubicBezTo>
                  <a:pt x="18612" y="66204"/>
                  <a:pt x="31705" y="80474"/>
                  <a:pt x="45202" y="88047"/>
                </a:cubicBezTo>
                <a:cubicBezTo>
                  <a:pt x="40355" y="75493"/>
                  <a:pt x="36350" y="59102"/>
                  <a:pt x="34162" y="37696"/>
                </a:cubicBezTo>
                <a:close/>
                <a:moveTo>
                  <a:pt x="127898" y="86432"/>
                </a:moveTo>
                <a:cubicBezTo>
                  <a:pt x="141529" y="78421"/>
                  <a:pt x="153847" y="64184"/>
                  <a:pt x="155934" y="37696"/>
                </a:cubicBezTo>
                <a:lnTo>
                  <a:pt x="138331" y="37696"/>
                </a:lnTo>
                <a:cubicBezTo>
                  <a:pt x="136245" y="58193"/>
                  <a:pt x="132475" y="74113"/>
                  <a:pt x="127898" y="86432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4" name="Text 11"/>
          <p:cNvSpPr/>
          <p:nvPr/>
        </p:nvSpPr>
        <p:spPr>
          <a:xfrm>
            <a:off x="7737762" y="1343648"/>
            <a:ext cx="4023791" cy="241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57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Top 10 Hiring Companies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7522356" y="1722641"/>
            <a:ext cx="4153035" cy="516975"/>
          </a:xfrm>
          <a:custGeom>
            <a:avLst/>
            <a:gdLst/>
            <a:ahLst/>
            <a:cxnLst/>
            <a:rect l="l" t="t" r="r" b="b"/>
            <a:pathLst>
              <a:path w="4153035" h="516975">
                <a:moveTo>
                  <a:pt x="34467" y="0"/>
                </a:moveTo>
                <a:lnTo>
                  <a:pt x="4118568" y="0"/>
                </a:lnTo>
                <a:cubicBezTo>
                  <a:pt x="4137603" y="0"/>
                  <a:pt x="4153035" y="15431"/>
                  <a:pt x="4153035" y="34467"/>
                </a:cubicBezTo>
                <a:lnTo>
                  <a:pt x="4153035" y="482509"/>
                </a:lnTo>
                <a:cubicBezTo>
                  <a:pt x="4153035" y="501544"/>
                  <a:pt x="4137603" y="516975"/>
                  <a:pt x="4118568" y="516975"/>
                </a:cubicBezTo>
                <a:lnTo>
                  <a:pt x="34467" y="516975"/>
                </a:lnTo>
                <a:cubicBezTo>
                  <a:pt x="15431" y="516975"/>
                  <a:pt x="0" y="501544"/>
                  <a:pt x="0" y="482509"/>
                </a:cubicBezTo>
                <a:lnTo>
                  <a:pt x="0" y="34467"/>
                </a:lnTo>
                <a:cubicBezTo>
                  <a:pt x="0" y="15444"/>
                  <a:pt x="15444" y="0"/>
                  <a:pt x="34467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7625690" y="1860421"/>
            <a:ext cx="284336" cy="241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21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935794" y="1825977"/>
            <a:ext cx="3403420" cy="172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Accenture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935794" y="1998201"/>
            <a:ext cx="3394804" cy="137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14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Consulting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1384836" y="1877595"/>
            <a:ext cx="258488" cy="20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6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145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7522356" y="2308302"/>
            <a:ext cx="4153035" cy="516975"/>
          </a:xfrm>
          <a:custGeom>
            <a:avLst/>
            <a:gdLst/>
            <a:ahLst/>
            <a:cxnLst/>
            <a:rect l="l" t="t" r="r" b="b"/>
            <a:pathLst>
              <a:path w="4153035" h="516975">
                <a:moveTo>
                  <a:pt x="34467" y="0"/>
                </a:moveTo>
                <a:lnTo>
                  <a:pt x="4118568" y="0"/>
                </a:lnTo>
                <a:cubicBezTo>
                  <a:pt x="4137603" y="0"/>
                  <a:pt x="4153035" y="15431"/>
                  <a:pt x="4153035" y="34467"/>
                </a:cubicBezTo>
                <a:lnTo>
                  <a:pt x="4153035" y="482509"/>
                </a:lnTo>
                <a:cubicBezTo>
                  <a:pt x="4153035" y="501544"/>
                  <a:pt x="4137603" y="516975"/>
                  <a:pt x="4118568" y="516975"/>
                </a:cubicBezTo>
                <a:lnTo>
                  <a:pt x="34467" y="516975"/>
                </a:lnTo>
                <a:cubicBezTo>
                  <a:pt x="15431" y="516975"/>
                  <a:pt x="0" y="501544"/>
                  <a:pt x="0" y="482509"/>
                </a:cubicBezTo>
                <a:lnTo>
                  <a:pt x="0" y="34467"/>
                </a:lnTo>
                <a:cubicBezTo>
                  <a:pt x="0" y="15444"/>
                  <a:pt x="15444" y="0"/>
                  <a:pt x="34467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7625690" y="2446082"/>
            <a:ext cx="284336" cy="241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21" b="1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935794" y="2411638"/>
            <a:ext cx="3403420" cy="172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Tata Consultancy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935794" y="2583862"/>
            <a:ext cx="3394804" cy="137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14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IT Services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1385141" y="2463256"/>
            <a:ext cx="258488" cy="20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6" b="1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132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7522356" y="2893968"/>
            <a:ext cx="4153035" cy="516975"/>
          </a:xfrm>
          <a:custGeom>
            <a:avLst/>
            <a:gdLst/>
            <a:ahLst/>
            <a:cxnLst/>
            <a:rect l="l" t="t" r="r" b="b"/>
            <a:pathLst>
              <a:path w="4153035" h="516975">
                <a:moveTo>
                  <a:pt x="34467" y="0"/>
                </a:moveTo>
                <a:lnTo>
                  <a:pt x="4118568" y="0"/>
                </a:lnTo>
                <a:cubicBezTo>
                  <a:pt x="4137603" y="0"/>
                  <a:pt x="4153035" y="15431"/>
                  <a:pt x="4153035" y="34467"/>
                </a:cubicBezTo>
                <a:lnTo>
                  <a:pt x="4153035" y="482509"/>
                </a:lnTo>
                <a:cubicBezTo>
                  <a:pt x="4153035" y="501544"/>
                  <a:pt x="4137603" y="516975"/>
                  <a:pt x="4118568" y="516975"/>
                </a:cubicBezTo>
                <a:lnTo>
                  <a:pt x="34467" y="516975"/>
                </a:lnTo>
                <a:cubicBezTo>
                  <a:pt x="15431" y="516975"/>
                  <a:pt x="0" y="501544"/>
                  <a:pt x="0" y="482509"/>
                </a:cubicBezTo>
                <a:lnTo>
                  <a:pt x="0" y="34467"/>
                </a:lnTo>
                <a:cubicBezTo>
                  <a:pt x="0" y="15444"/>
                  <a:pt x="15444" y="0"/>
                  <a:pt x="34467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6" name="Text 23"/>
          <p:cNvSpPr/>
          <p:nvPr/>
        </p:nvSpPr>
        <p:spPr>
          <a:xfrm>
            <a:off x="7625690" y="3031744"/>
            <a:ext cx="284336" cy="241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21" b="1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935794" y="2997300"/>
            <a:ext cx="3429269" cy="172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Amazon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7935794" y="3169524"/>
            <a:ext cx="3420653" cy="137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14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Technology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1408409" y="3048917"/>
            <a:ext cx="232639" cy="20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6" b="1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118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7522356" y="3479629"/>
            <a:ext cx="4153035" cy="516975"/>
          </a:xfrm>
          <a:custGeom>
            <a:avLst/>
            <a:gdLst/>
            <a:ahLst/>
            <a:cxnLst/>
            <a:rect l="l" t="t" r="r" b="b"/>
            <a:pathLst>
              <a:path w="4153035" h="516975">
                <a:moveTo>
                  <a:pt x="34467" y="0"/>
                </a:moveTo>
                <a:lnTo>
                  <a:pt x="4118568" y="0"/>
                </a:lnTo>
                <a:cubicBezTo>
                  <a:pt x="4137603" y="0"/>
                  <a:pt x="4153035" y="15431"/>
                  <a:pt x="4153035" y="34467"/>
                </a:cubicBezTo>
                <a:lnTo>
                  <a:pt x="4153035" y="482509"/>
                </a:lnTo>
                <a:cubicBezTo>
                  <a:pt x="4153035" y="501544"/>
                  <a:pt x="4137603" y="516975"/>
                  <a:pt x="4118568" y="516975"/>
                </a:cubicBezTo>
                <a:lnTo>
                  <a:pt x="34467" y="516975"/>
                </a:lnTo>
                <a:cubicBezTo>
                  <a:pt x="15431" y="516975"/>
                  <a:pt x="0" y="501544"/>
                  <a:pt x="0" y="482509"/>
                </a:cubicBezTo>
                <a:lnTo>
                  <a:pt x="0" y="34467"/>
                </a:lnTo>
                <a:cubicBezTo>
                  <a:pt x="0" y="15444"/>
                  <a:pt x="15444" y="0"/>
                  <a:pt x="34467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7625690" y="3617405"/>
            <a:ext cx="284336" cy="241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21" b="1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7935794" y="3582961"/>
            <a:ext cx="3386188" cy="172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Deloitte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7935794" y="3755185"/>
            <a:ext cx="3377572" cy="137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14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Consulting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11365429" y="3634578"/>
            <a:ext cx="275720" cy="20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6" b="1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105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7522356" y="4065290"/>
            <a:ext cx="4153035" cy="516975"/>
          </a:xfrm>
          <a:custGeom>
            <a:avLst/>
            <a:gdLst/>
            <a:ahLst/>
            <a:cxnLst/>
            <a:rect l="l" t="t" r="r" b="b"/>
            <a:pathLst>
              <a:path w="4153035" h="516975">
                <a:moveTo>
                  <a:pt x="34467" y="0"/>
                </a:moveTo>
                <a:lnTo>
                  <a:pt x="4118568" y="0"/>
                </a:lnTo>
                <a:cubicBezTo>
                  <a:pt x="4137603" y="0"/>
                  <a:pt x="4153035" y="15431"/>
                  <a:pt x="4153035" y="34467"/>
                </a:cubicBezTo>
                <a:lnTo>
                  <a:pt x="4153035" y="482509"/>
                </a:lnTo>
                <a:cubicBezTo>
                  <a:pt x="4153035" y="501544"/>
                  <a:pt x="4137603" y="516975"/>
                  <a:pt x="4118568" y="516975"/>
                </a:cubicBezTo>
                <a:lnTo>
                  <a:pt x="34467" y="516975"/>
                </a:lnTo>
                <a:cubicBezTo>
                  <a:pt x="15431" y="516975"/>
                  <a:pt x="0" y="501544"/>
                  <a:pt x="0" y="482509"/>
                </a:cubicBezTo>
                <a:lnTo>
                  <a:pt x="0" y="34467"/>
                </a:lnTo>
                <a:cubicBezTo>
                  <a:pt x="0" y="15444"/>
                  <a:pt x="15444" y="0"/>
                  <a:pt x="34467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6" name="Text 33"/>
          <p:cNvSpPr/>
          <p:nvPr/>
        </p:nvSpPr>
        <p:spPr>
          <a:xfrm>
            <a:off x="7625690" y="4203066"/>
            <a:ext cx="284336" cy="241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21" b="1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7935794" y="4168622"/>
            <a:ext cx="3437886" cy="172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IBM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7935794" y="4340846"/>
            <a:ext cx="3429269" cy="137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14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Technology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11419687" y="4220240"/>
            <a:ext cx="224023" cy="20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6" b="1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98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7522356" y="4650951"/>
            <a:ext cx="4153035" cy="344650"/>
          </a:xfrm>
          <a:custGeom>
            <a:avLst/>
            <a:gdLst/>
            <a:ahLst/>
            <a:cxnLst/>
            <a:rect l="l" t="t" r="r" b="b"/>
            <a:pathLst>
              <a:path w="4153035" h="344650">
                <a:moveTo>
                  <a:pt x="34465" y="0"/>
                </a:moveTo>
                <a:lnTo>
                  <a:pt x="4118570" y="0"/>
                </a:lnTo>
                <a:cubicBezTo>
                  <a:pt x="4137604" y="0"/>
                  <a:pt x="4153035" y="15431"/>
                  <a:pt x="4153035" y="34465"/>
                </a:cubicBezTo>
                <a:lnTo>
                  <a:pt x="4153035" y="310185"/>
                </a:lnTo>
                <a:cubicBezTo>
                  <a:pt x="4153035" y="329220"/>
                  <a:pt x="4137604" y="344650"/>
                  <a:pt x="4118570" y="344650"/>
                </a:cubicBezTo>
                <a:lnTo>
                  <a:pt x="34465" y="344650"/>
                </a:lnTo>
                <a:cubicBezTo>
                  <a:pt x="15431" y="344650"/>
                  <a:pt x="0" y="329220"/>
                  <a:pt x="0" y="310185"/>
                </a:cubicBezTo>
                <a:lnTo>
                  <a:pt x="0" y="34465"/>
                </a:lnTo>
                <a:cubicBezTo>
                  <a:pt x="0" y="15443"/>
                  <a:pt x="15443" y="0"/>
                  <a:pt x="3446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1" name="Text 38"/>
          <p:cNvSpPr/>
          <p:nvPr/>
        </p:nvSpPr>
        <p:spPr>
          <a:xfrm>
            <a:off x="7591245" y="4719839"/>
            <a:ext cx="275720" cy="20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6" b="1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</a:t>
            </a:r>
            <a:endParaRPr lang="en-US" sz="1600" dirty="0"/>
          </a:p>
        </p:txBody>
      </p:sp>
      <p:sp>
        <p:nvSpPr>
          <p:cNvPr id="42" name="Text 39"/>
          <p:cNvSpPr/>
          <p:nvPr/>
        </p:nvSpPr>
        <p:spPr>
          <a:xfrm>
            <a:off x="7901349" y="4754283"/>
            <a:ext cx="3532664" cy="137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14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Capgemini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11484817" y="4737114"/>
            <a:ext cx="180941" cy="172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b="1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87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7522356" y="5064389"/>
            <a:ext cx="4153035" cy="344650"/>
          </a:xfrm>
          <a:custGeom>
            <a:avLst/>
            <a:gdLst/>
            <a:ahLst/>
            <a:cxnLst/>
            <a:rect l="l" t="t" r="r" b="b"/>
            <a:pathLst>
              <a:path w="4153035" h="344650">
                <a:moveTo>
                  <a:pt x="34465" y="0"/>
                </a:moveTo>
                <a:lnTo>
                  <a:pt x="4118570" y="0"/>
                </a:lnTo>
                <a:cubicBezTo>
                  <a:pt x="4137604" y="0"/>
                  <a:pt x="4153035" y="15431"/>
                  <a:pt x="4153035" y="34465"/>
                </a:cubicBezTo>
                <a:lnTo>
                  <a:pt x="4153035" y="310185"/>
                </a:lnTo>
                <a:cubicBezTo>
                  <a:pt x="4153035" y="329220"/>
                  <a:pt x="4137604" y="344650"/>
                  <a:pt x="4118570" y="344650"/>
                </a:cubicBezTo>
                <a:lnTo>
                  <a:pt x="34465" y="344650"/>
                </a:lnTo>
                <a:cubicBezTo>
                  <a:pt x="15431" y="344650"/>
                  <a:pt x="0" y="329220"/>
                  <a:pt x="0" y="310185"/>
                </a:cubicBezTo>
                <a:lnTo>
                  <a:pt x="0" y="34465"/>
                </a:lnTo>
                <a:cubicBezTo>
                  <a:pt x="0" y="15443"/>
                  <a:pt x="15443" y="0"/>
                  <a:pt x="3446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5" name="Text 42"/>
          <p:cNvSpPr/>
          <p:nvPr/>
        </p:nvSpPr>
        <p:spPr>
          <a:xfrm>
            <a:off x="7591245" y="5133277"/>
            <a:ext cx="275720" cy="20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6" b="1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</a:t>
            </a:r>
            <a:endParaRPr lang="en-US" sz="1600" dirty="0"/>
          </a:p>
        </p:txBody>
      </p:sp>
      <p:sp>
        <p:nvSpPr>
          <p:cNvPr id="46" name="Text 43"/>
          <p:cNvSpPr/>
          <p:nvPr/>
        </p:nvSpPr>
        <p:spPr>
          <a:xfrm>
            <a:off x="7901349" y="5167721"/>
            <a:ext cx="3524048" cy="137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14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Microsoft</a:t>
            </a:r>
            <a:endParaRPr lang="en-US" sz="1600" dirty="0"/>
          </a:p>
        </p:txBody>
      </p:sp>
      <p:sp>
        <p:nvSpPr>
          <p:cNvPr id="47" name="Text 44"/>
          <p:cNvSpPr/>
          <p:nvPr/>
        </p:nvSpPr>
        <p:spPr>
          <a:xfrm>
            <a:off x="11478517" y="5150551"/>
            <a:ext cx="189558" cy="172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b="1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82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7522356" y="5477826"/>
            <a:ext cx="4153035" cy="344650"/>
          </a:xfrm>
          <a:custGeom>
            <a:avLst/>
            <a:gdLst/>
            <a:ahLst/>
            <a:cxnLst/>
            <a:rect l="l" t="t" r="r" b="b"/>
            <a:pathLst>
              <a:path w="4153035" h="344650">
                <a:moveTo>
                  <a:pt x="34465" y="0"/>
                </a:moveTo>
                <a:lnTo>
                  <a:pt x="4118570" y="0"/>
                </a:lnTo>
                <a:cubicBezTo>
                  <a:pt x="4137604" y="0"/>
                  <a:pt x="4153035" y="15431"/>
                  <a:pt x="4153035" y="34465"/>
                </a:cubicBezTo>
                <a:lnTo>
                  <a:pt x="4153035" y="310185"/>
                </a:lnTo>
                <a:cubicBezTo>
                  <a:pt x="4153035" y="329220"/>
                  <a:pt x="4137604" y="344650"/>
                  <a:pt x="4118570" y="344650"/>
                </a:cubicBezTo>
                <a:lnTo>
                  <a:pt x="34465" y="344650"/>
                </a:lnTo>
                <a:cubicBezTo>
                  <a:pt x="15431" y="344650"/>
                  <a:pt x="0" y="329220"/>
                  <a:pt x="0" y="310185"/>
                </a:cubicBezTo>
                <a:lnTo>
                  <a:pt x="0" y="34465"/>
                </a:lnTo>
                <a:cubicBezTo>
                  <a:pt x="0" y="15443"/>
                  <a:pt x="15443" y="0"/>
                  <a:pt x="3446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9" name="Text 46"/>
          <p:cNvSpPr/>
          <p:nvPr/>
        </p:nvSpPr>
        <p:spPr>
          <a:xfrm>
            <a:off x="7591245" y="5546714"/>
            <a:ext cx="275720" cy="20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6" b="1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</a:t>
            </a:r>
            <a:endParaRPr lang="en-US" sz="1600" dirty="0"/>
          </a:p>
        </p:txBody>
      </p:sp>
      <p:sp>
        <p:nvSpPr>
          <p:cNvPr id="50" name="Text 47"/>
          <p:cNvSpPr/>
          <p:nvPr/>
        </p:nvSpPr>
        <p:spPr>
          <a:xfrm>
            <a:off x="7901349" y="5581162"/>
            <a:ext cx="3532664" cy="137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14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Infosys</a:t>
            </a:r>
            <a:endParaRPr lang="en-US" sz="1600" dirty="0"/>
          </a:p>
        </p:txBody>
      </p:sp>
      <p:sp>
        <p:nvSpPr>
          <p:cNvPr id="51" name="Text 48"/>
          <p:cNvSpPr/>
          <p:nvPr/>
        </p:nvSpPr>
        <p:spPr>
          <a:xfrm>
            <a:off x="11485630" y="5563988"/>
            <a:ext cx="180941" cy="172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b="1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76</a:t>
            </a:r>
            <a:endParaRPr lang="en-US" sz="1600" dirty="0"/>
          </a:p>
        </p:txBody>
      </p:sp>
      <p:sp>
        <p:nvSpPr>
          <p:cNvPr id="52" name="Shape 49"/>
          <p:cNvSpPr/>
          <p:nvPr/>
        </p:nvSpPr>
        <p:spPr>
          <a:xfrm>
            <a:off x="7350133" y="6132375"/>
            <a:ext cx="4497685" cy="723765"/>
          </a:xfrm>
          <a:custGeom>
            <a:avLst/>
            <a:gdLst/>
            <a:ahLst/>
            <a:cxnLst/>
            <a:rect l="l" t="t" r="r" b="b"/>
            <a:pathLst>
              <a:path w="4497685" h="723765">
                <a:moveTo>
                  <a:pt x="34466" y="0"/>
                </a:moveTo>
                <a:lnTo>
                  <a:pt x="4463219" y="0"/>
                </a:lnTo>
                <a:cubicBezTo>
                  <a:pt x="4482254" y="0"/>
                  <a:pt x="4497685" y="15431"/>
                  <a:pt x="4497685" y="34466"/>
                </a:cubicBezTo>
                <a:lnTo>
                  <a:pt x="4497685" y="689300"/>
                </a:lnTo>
                <a:cubicBezTo>
                  <a:pt x="4497685" y="708335"/>
                  <a:pt x="4482254" y="723765"/>
                  <a:pt x="4463219" y="723765"/>
                </a:cubicBezTo>
                <a:lnTo>
                  <a:pt x="34466" y="723765"/>
                </a:lnTo>
                <a:cubicBezTo>
                  <a:pt x="15431" y="723765"/>
                  <a:pt x="0" y="708335"/>
                  <a:pt x="0" y="689300"/>
                </a:cubicBezTo>
                <a:lnTo>
                  <a:pt x="0" y="34466"/>
                </a:lnTo>
                <a:cubicBezTo>
                  <a:pt x="0" y="15444"/>
                  <a:pt x="15444" y="0"/>
                  <a:pt x="34466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7522376" y="6304599"/>
            <a:ext cx="103395" cy="137860"/>
          </a:xfrm>
          <a:custGeom>
            <a:avLst/>
            <a:gdLst/>
            <a:ahLst/>
            <a:cxnLst/>
            <a:rect l="l" t="t" r="r" b="b"/>
            <a:pathLst>
              <a:path w="103395" h="137860">
                <a:moveTo>
                  <a:pt x="78866" y="103395"/>
                </a:moveTo>
                <a:cubicBezTo>
                  <a:pt x="80831" y="97391"/>
                  <a:pt x="84762" y="91952"/>
                  <a:pt x="89205" y="87267"/>
                </a:cubicBezTo>
                <a:cubicBezTo>
                  <a:pt x="98010" y="78004"/>
                  <a:pt x="103395" y="65484"/>
                  <a:pt x="103395" y="51698"/>
                </a:cubicBezTo>
                <a:cubicBezTo>
                  <a:pt x="103395" y="23156"/>
                  <a:pt x="80239" y="0"/>
                  <a:pt x="51698" y="0"/>
                </a:cubicBezTo>
                <a:cubicBezTo>
                  <a:pt x="23156" y="0"/>
                  <a:pt x="0" y="23156"/>
                  <a:pt x="0" y="51698"/>
                </a:cubicBezTo>
                <a:cubicBezTo>
                  <a:pt x="0" y="65484"/>
                  <a:pt x="5385" y="78004"/>
                  <a:pt x="14190" y="87267"/>
                </a:cubicBezTo>
                <a:cubicBezTo>
                  <a:pt x="18633" y="91952"/>
                  <a:pt x="22591" y="97391"/>
                  <a:pt x="24529" y="103395"/>
                </a:cubicBezTo>
                <a:lnTo>
                  <a:pt x="78839" y="103395"/>
                </a:lnTo>
                <a:close/>
                <a:moveTo>
                  <a:pt x="77546" y="116319"/>
                </a:moveTo>
                <a:lnTo>
                  <a:pt x="25849" y="116319"/>
                </a:lnTo>
                <a:lnTo>
                  <a:pt x="25849" y="120628"/>
                </a:lnTo>
                <a:cubicBezTo>
                  <a:pt x="25849" y="132529"/>
                  <a:pt x="35488" y="142168"/>
                  <a:pt x="47389" y="142168"/>
                </a:cubicBezTo>
                <a:lnTo>
                  <a:pt x="56006" y="142168"/>
                </a:lnTo>
                <a:cubicBezTo>
                  <a:pt x="67907" y="142168"/>
                  <a:pt x="77546" y="132529"/>
                  <a:pt x="77546" y="120628"/>
                </a:cubicBezTo>
                <a:lnTo>
                  <a:pt x="77546" y="116319"/>
                </a:lnTo>
                <a:close/>
                <a:moveTo>
                  <a:pt x="49543" y="30157"/>
                </a:moveTo>
                <a:cubicBezTo>
                  <a:pt x="38827" y="30157"/>
                  <a:pt x="30157" y="38827"/>
                  <a:pt x="30157" y="49543"/>
                </a:cubicBezTo>
                <a:cubicBezTo>
                  <a:pt x="30157" y="53125"/>
                  <a:pt x="27276" y="56006"/>
                  <a:pt x="23695" y="56006"/>
                </a:cubicBezTo>
                <a:cubicBezTo>
                  <a:pt x="20114" y="56006"/>
                  <a:pt x="17233" y="53125"/>
                  <a:pt x="17233" y="49543"/>
                </a:cubicBezTo>
                <a:cubicBezTo>
                  <a:pt x="17233" y="31692"/>
                  <a:pt x="31692" y="17233"/>
                  <a:pt x="49543" y="17233"/>
                </a:cubicBezTo>
                <a:cubicBezTo>
                  <a:pt x="53125" y="17233"/>
                  <a:pt x="56006" y="20114"/>
                  <a:pt x="56006" y="23695"/>
                </a:cubicBezTo>
                <a:cubicBezTo>
                  <a:pt x="56006" y="27276"/>
                  <a:pt x="53125" y="30157"/>
                  <a:pt x="49543" y="30157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54" name="Text 51"/>
          <p:cNvSpPr/>
          <p:nvPr/>
        </p:nvSpPr>
        <p:spPr>
          <a:xfrm>
            <a:off x="7660236" y="6270155"/>
            <a:ext cx="4118570" cy="20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6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Hiring Concentration</a:t>
            </a:r>
            <a:endParaRPr lang="en-US" sz="1600" dirty="0"/>
          </a:p>
        </p:txBody>
      </p:sp>
      <p:sp>
        <p:nvSpPr>
          <p:cNvPr id="55" name="Text 52"/>
          <p:cNvSpPr/>
          <p:nvPr/>
        </p:nvSpPr>
        <p:spPr>
          <a:xfrm>
            <a:off x="7487911" y="6545816"/>
            <a:ext cx="4282278" cy="172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Top 10 companies represent </a:t>
            </a:r>
            <a:pPr>
              <a:lnSpc>
                <a:spcPct val="120000"/>
              </a:lnSpc>
            </a:pPr>
            <a:r>
              <a:rPr lang="en-US" sz="95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28%</a:t>
            </a:r>
            <a:pPr>
              <a:lnSpc>
                <a:spcPct val="120000"/>
              </a:lnSpc>
            </a:pPr>
            <a:r>
              <a:rPr lang="en-US" sz="9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of all job postings in the dataset.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0888" y="380888"/>
            <a:ext cx="11496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spc="53" kern="0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STRATEGIC FINDINGS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0888" y="64743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0E2E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Key Market Insights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4482" y="1298566"/>
            <a:ext cx="5617414" cy="2674189"/>
          </a:xfrm>
          <a:custGeom>
            <a:avLst/>
            <a:gdLst/>
            <a:ahLst/>
            <a:cxnLst/>
            <a:rect l="l" t="t" r="r" b="b"/>
            <a:pathLst>
              <a:path w="5617414" h="2674189">
                <a:moveTo>
                  <a:pt x="76188" y="0"/>
                </a:moveTo>
                <a:lnTo>
                  <a:pt x="5541226" y="0"/>
                </a:lnTo>
                <a:cubicBezTo>
                  <a:pt x="5583303" y="0"/>
                  <a:pt x="5617414" y="34110"/>
                  <a:pt x="5617414" y="76188"/>
                </a:cubicBezTo>
                <a:lnTo>
                  <a:pt x="5617414" y="2598001"/>
                </a:lnTo>
                <a:cubicBezTo>
                  <a:pt x="5617414" y="2640078"/>
                  <a:pt x="5583303" y="2674189"/>
                  <a:pt x="5541226" y="2674189"/>
                </a:cubicBezTo>
                <a:lnTo>
                  <a:pt x="76188" y="2674189"/>
                </a:lnTo>
                <a:cubicBezTo>
                  <a:pt x="34110" y="2674189"/>
                  <a:pt x="0" y="2640078"/>
                  <a:pt x="0" y="2598001"/>
                </a:cubicBezTo>
                <a:lnTo>
                  <a:pt x="0" y="76188"/>
                </a:lnTo>
                <a:cubicBezTo>
                  <a:pt x="0" y="34139"/>
                  <a:pt x="34139" y="0"/>
                  <a:pt x="76188" y="0"/>
                </a:cubicBezTo>
                <a:close/>
              </a:path>
            </a:pathLst>
          </a:custGeom>
          <a:gradFill rotWithShape="1" flip="none">
            <a:gsLst>
              <a:gs pos="0">
                <a:srgbClr val="3A5F7A">
                  <a:alpha val="30000"/>
                </a:srgbClr>
              </a:gs>
              <a:gs pos="100000">
                <a:srgbClr val="3A5F7A">
                  <a:alpha val="10000"/>
                </a:srgbClr>
              </a:gs>
            </a:gsLst>
            <a:lin ang="2700000" scaled="1"/>
          </a:gradFill>
          <a:ln w="9585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8464" y="1492551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B89A6A">
              <a:alpha val="2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16532" y="1644858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61092" y="536"/>
                </a:moveTo>
                <a:cubicBezTo>
                  <a:pt x="153501" y="-1652"/>
                  <a:pt x="145599" y="2768"/>
                  <a:pt x="143411" y="10358"/>
                </a:cubicBezTo>
                <a:lnTo>
                  <a:pt x="86261" y="210383"/>
                </a:lnTo>
                <a:cubicBezTo>
                  <a:pt x="84073" y="217974"/>
                  <a:pt x="88493" y="225876"/>
                  <a:pt x="96083" y="228064"/>
                </a:cubicBezTo>
                <a:cubicBezTo>
                  <a:pt x="103674" y="230252"/>
                  <a:pt x="111576" y="225832"/>
                  <a:pt x="113764" y="218242"/>
                </a:cubicBezTo>
                <a:lnTo>
                  <a:pt x="170914" y="18217"/>
                </a:lnTo>
                <a:cubicBezTo>
                  <a:pt x="173102" y="10626"/>
                  <a:pt x="168682" y="2724"/>
                  <a:pt x="161092" y="536"/>
                </a:cubicBezTo>
                <a:close/>
                <a:moveTo>
                  <a:pt x="189934" y="61302"/>
                </a:moveTo>
                <a:cubicBezTo>
                  <a:pt x="184353" y="66883"/>
                  <a:pt x="184353" y="75947"/>
                  <a:pt x="189934" y="81528"/>
                </a:cubicBezTo>
                <a:lnTo>
                  <a:pt x="222706" y="114300"/>
                </a:lnTo>
                <a:lnTo>
                  <a:pt x="189934" y="147072"/>
                </a:lnTo>
                <a:cubicBezTo>
                  <a:pt x="184353" y="152653"/>
                  <a:pt x="184353" y="161717"/>
                  <a:pt x="189934" y="167298"/>
                </a:cubicBezTo>
                <a:cubicBezTo>
                  <a:pt x="195516" y="172879"/>
                  <a:pt x="204579" y="172879"/>
                  <a:pt x="210160" y="167298"/>
                </a:cubicBezTo>
                <a:lnTo>
                  <a:pt x="253023" y="124435"/>
                </a:lnTo>
                <a:cubicBezTo>
                  <a:pt x="258604" y="118854"/>
                  <a:pt x="258604" y="109791"/>
                  <a:pt x="253023" y="104209"/>
                </a:cubicBezTo>
                <a:lnTo>
                  <a:pt x="210160" y="61347"/>
                </a:lnTo>
                <a:cubicBezTo>
                  <a:pt x="204579" y="55766"/>
                  <a:pt x="195516" y="55766"/>
                  <a:pt x="189934" y="61347"/>
                </a:cubicBezTo>
                <a:close/>
                <a:moveTo>
                  <a:pt x="67285" y="61302"/>
                </a:moveTo>
                <a:cubicBezTo>
                  <a:pt x="61704" y="55721"/>
                  <a:pt x="52641" y="55721"/>
                  <a:pt x="47059" y="61302"/>
                </a:cubicBezTo>
                <a:lnTo>
                  <a:pt x="4197" y="104165"/>
                </a:lnTo>
                <a:cubicBezTo>
                  <a:pt x="-1384" y="109746"/>
                  <a:pt x="-1384" y="118809"/>
                  <a:pt x="4197" y="124391"/>
                </a:cubicBezTo>
                <a:lnTo>
                  <a:pt x="47059" y="167253"/>
                </a:lnTo>
                <a:cubicBezTo>
                  <a:pt x="52641" y="172834"/>
                  <a:pt x="61704" y="172834"/>
                  <a:pt x="67285" y="167253"/>
                </a:cubicBezTo>
                <a:cubicBezTo>
                  <a:pt x="72866" y="161672"/>
                  <a:pt x="72866" y="152608"/>
                  <a:pt x="67285" y="147027"/>
                </a:cubicBezTo>
                <a:lnTo>
                  <a:pt x="34513" y="114300"/>
                </a:lnTo>
                <a:lnTo>
                  <a:pt x="67241" y="81528"/>
                </a:lnTo>
                <a:cubicBezTo>
                  <a:pt x="72822" y="75947"/>
                  <a:pt x="72822" y="66883"/>
                  <a:pt x="67241" y="61302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7" name="Text 5"/>
          <p:cNvSpPr/>
          <p:nvPr/>
        </p:nvSpPr>
        <p:spPr>
          <a:xfrm>
            <a:off x="1264084" y="1606781"/>
            <a:ext cx="1428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Skill Demand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4177" y="221624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9" name="Text 7"/>
          <p:cNvSpPr/>
          <p:nvPr/>
        </p:nvSpPr>
        <p:spPr>
          <a:xfrm>
            <a:off x="817825" y="2178169"/>
            <a:ext cx="5057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SQL remains the most demanded skill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appearing in 68% of job postings as the foundational data querying language.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73702" y="278763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1" name="Text 9"/>
          <p:cNvSpPr/>
          <p:nvPr/>
        </p:nvSpPr>
        <p:spPr>
          <a:xfrm>
            <a:off x="836470" y="2749558"/>
            <a:ext cx="50387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Excel continues widespread use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across industries with 62% demand, proving its enduring relevance.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87989" y="335902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3" name="Text 11"/>
          <p:cNvSpPr/>
          <p:nvPr/>
        </p:nvSpPr>
        <p:spPr>
          <a:xfrm>
            <a:off x="860395" y="3320946"/>
            <a:ext cx="5019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Python shows strong demand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at 45%, particularly for analytical and automation tasks.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84482" y="4131580"/>
            <a:ext cx="5617414" cy="2674189"/>
          </a:xfrm>
          <a:custGeom>
            <a:avLst/>
            <a:gdLst/>
            <a:ahLst/>
            <a:cxnLst/>
            <a:rect l="l" t="t" r="r" b="b"/>
            <a:pathLst>
              <a:path w="5617414" h="2674189">
                <a:moveTo>
                  <a:pt x="76188" y="0"/>
                </a:moveTo>
                <a:lnTo>
                  <a:pt x="5541226" y="0"/>
                </a:lnTo>
                <a:cubicBezTo>
                  <a:pt x="5583303" y="0"/>
                  <a:pt x="5617414" y="34110"/>
                  <a:pt x="5617414" y="76188"/>
                </a:cubicBezTo>
                <a:lnTo>
                  <a:pt x="5617414" y="2598001"/>
                </a:lnTo>
                <a:cubicBezTo>
                  <a:pt x="5617414" y="2640078"/>
                  <a:pt x="5583303" y="2674189"/>
                  <a:pt x="5541226" y="2674189"/>
                </a:cubicBezTo>
                <a:lnTo>
                  <a:pt x="76188" y="2674189"/>
                </a:lnTo>
                <a:cubicBezTo>
                  <a:pt x="34110" y="2674189"/>
                  <a:pt x="0" y="2640078"/>
                  <a:pt x="0" y="2598001"/>
                </a:cubicBezTo>
                <a:lnTo>
                  <a:pt x="0" y="76188"/>
                </a:lnTo>
                <a:cubicBezTo>
                  <a:pt x="0" y="34139"/>
                  <a:pt x="34139" y="0"/>
                  <a:pt x="76188" y="0"/>
                </a:cubicBezTo>
                <a:close/>
              </a:path>
            </a:pathLst>
          </a:custGeom>
          <a:gradFill rotWithShape="1" flip="none">
            <a:gsLst>
              <a:gs pos="0">
                <a:srgbClr val="3A5F7A">
                  <a:alpha val="30000"/>
                </a:srgbClr>
              </a:gs>
              <a:gs pos="100000">
                <a:srgbClr val="3A5F7A">
                  <a:alpha val="10000"/>
                </a:srgbClr>
              </a:gs>
            </a:gsLst>
            <a:lin ang="2700000" scaled="1"/>
          </a:gradFill>
          <a:ln w="9585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8464" y="4325564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B89A6A">
              <a:alpha val="2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30819" y="447787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6385" y="14288"/>
                  <a:pt x="0" y="20672"/>
                  <a:pt x="0" y="28575"/>
                </a:cubicBezTo>
                <a:lnTo>
                  <a:pt x="0" y="192881"/>
                </a:lnTo>
                <a:cubicBezTo>
                  <a:pt x="0" y="204713"/>
                  <a:pt x="9599" y="214313"/>
                  <a:pt x="21431" y="214313"/>
                </a:cubicBezTo>
                <a:lnTo>
                  <a:pt x="207169" y="214313"/>
                </a:lnTo>
                <a:cubicBezTo>
                  <a:pt x="219001" y="214313"/>
                  <a:pt x="228600" y="204713"/>
                  <a:pt x="228600" y="192881"/>
                </a:cubicBezTo>
                <a:lnTo>
                  <a:pt x="228600" y="67955"/>
                </a:lnTo>
                <a:cubicBezTo>
                  <a:pt x="228600" y="59829"/>
                  <a:pt x="219938" y="54694"/>
                  <a:pt x="212794" y="58534"/>
                </a:cubicBezTo>
                <a:lnTo>
                  <a:pt x="142875" y="96173"/>
                </a:lnTo>
                <a:lnTo>
                  <a:pt x="142875" y="67955"/>
                </a:lnTo>
                <a:cubicBezTo>
                  <a:pt x="142875" y="59829"/>
                  <a:pt x="134213" y="54694"/>
                  <a:pt x="127069" y="58534"/>
                </a:cubicBezTo>
                <a:lnTo>
                  <a:pt x="57150" y="96173"/>
                </a:lnTo>
                <a:lnTo>
                  <a:pt x="57150" y="28575"/>
                </a:lnTo>
                <a:cubicBezTo>
                  <a:pt x="57150" y="20672"/>
                  <a:pt x="50765" y="14288"/>
                  <a:pt x="42863" y="14288"/>
                </a:cubicBezTo>
                <a:lnTo>
                  <a:pt x="14288" y="14288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7" name="Text 15"/>
          <p:cNvSpPr/>
          <p:nvPr/>
        </p:nvSpPr>
        <p:spPr>
          <a:xfrm>
            <a:off x="1264084" y="4439794"/>
            <a:ext cx="18383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Industry Patterns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83227" y="504925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9" name="Text 17"/>
          <p:cNvSpPr/>
          <p:nvPr/>
        </p:nvSpPr>
        <p:spPr>
          <a:xfrm>
            <a:off x="857699" y="5011182"/>
            <a:ext cx="5019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IT Services companies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contribute the largest portion (35%) of data analyst job postings.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83227" y="5620648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21" name="Text 19"/>
          <p:cNvSpPr/>
          <p:nvPr/>
        </p:nvSpPr>
        <p:spPr>
          <a:xfrm>
            <a:off x="858823" y="5582571"/>
            <a:ext cx="5019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Staffing and consulting firms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frequently hire analysts to support diverse client projects.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87989" y="619203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23" name="Text 21"/>
          <p:cNvSpPr/>
          <p:nvPr/>
        </p:nvSpPr>
        <p:spPr>
          <a:xfrm>
            <a:off x="862305" y="6153959"/>
            <a:ext cx="5019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Finance and Technology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sectors offer the most competitive compensation packages.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194732" y="1298566"/>
            <a:ext cx="5617414" cy="2674189"/>
          </a:xfrm>
          <a:custGeom>
            <a:avLst/>
            <a:gdLst/>
            <a:ahLst/>
            <a:cxnLst/>
            <a:rect l="l" t="t" r="r" b="b"/>
            <a:pathLst>
              <a:path w="5617414" h="2674189">
                <a:moveTo>
                  <a:pt x="76188" y="0"/>
                </a:moveTo>
                <a:lnTo>
                  <a:pt x="5541226" y="0"/>
                </a:lnTo>
                <a:cubicBezTo>
                  <a:pt x="5583303" y="0"/>
                  <a:pt x="5617414" y="34110"/>
                  <a:pt x="5617414" y="76188"/>
                </a:cubicBezTo>
                <a:lnTo>
                  <a:pt x="5617414" y="2598001"/>
                </a:lnTo>
                <a:cubicBezTo>
                  <a:pt x="5617414" y="2640078"/>
                  <a:pt x="5583303" y="2674189"/>
                  <a:pt x="5541226" y="2674189"/>
                </a:cubicBezTo>
                <a:lnTo>
                  <a:pt x="76188" y="2674189"/>
                </a:lnTo>
                <a:cubicBezTo>
                  <a:pt x="34110" y="2674189"/>
                  <a:pt x="0" y="2640078"/>
                  <a:pt x="0" y="2598001"/>
                </a:cubicBezTo>
                <a:lnTo>
                  <a:pt x="0" y="76188"/>
                </a:lnTo>
                <a:cubicBezTo>
                  <a:pt x="0" y="34139"/>
                  <a:pt x="34139" y="0"/>
                  <a:pt x="76188" y="0"/>
                </a:cubicBezTo>
                <a:close/>
              </a:path>
            </a:pathLst>
          </a:custGeom>
          <a:gradFill rotWithShape="1" flip="none">
            <a:gsLst>
              <a:gs pos="0">
                <a:srgbClr val="3A5F7A">
                  <a:alpha val="30000"/>
                </a:srgbClr>
              </a:gs>
              <a:gs pos="100000">
                <a:srgbClr val="3A5F7A">
                  <a:alpha val="10000"/>
                </a:srgbClr>
              </a:gs>
            </a:gsLst>
            <a:lin ang="2700000" scaled="1"/>
          </a:gradFill>
          <a:ln w="9585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88714" y="1492551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B89A6A">
              <a:alpha val="2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569644" y="1644858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84207"/>
                </a:moveTo>
                <a:cubicBezTo>
                  <a:pt x="0" y="37683"/>
                  <a:pt x="38398" y="0"/>
                  <a:pt x="85725" y="0"/>
                </a:cubicBezTo>
                <a:cubicBezTo>
                  <a:pt x="133052" y="0"/>
                  <a:pt x="171450" y="37683"/>
                  <a:pt x="171450" y="84207"/>
                </a:cubicBezTo>
                <a:cubicBezTo>
                  <a:pt x="171450" y="137473"/>
                  <a:pt x="117783" y="201320"/>
                  <a:pt x="95369" y="225653"/>
                </a:cubicBezTo>
                <a:cubicBezTo>
                  <a:pt x="90101" y="231368"/>
                  <a:pt x="81305" y="231368"/>
                  <a:pt x="76036" y="225653"/>
                </a:cubicBezTo>
                <a:cubicBezTo>
                  <a:pt x="53623" y="201320"/>
                  <a:pt x="-45" y="137473"/>
                  <a:pt x="-45" y="84207"/>
                </a:cubicBezTo>
                <a:close/>
                <a:moveTo>
                  <a:pt x="85725" y="114300"/>
                </a:moveTo>
                <a:cubicBezTo>
                  <a:pt x="101496" y="114300"/>
                  <a:pt x="114300" y="101496"/>
                  <a:pt x="114300" y="85725"/>
                </a:cubicBezTo>
                <a:cubicBezTo>
                  <a:pt x="114300" y="69954"/>
                  <a:pt x="101496" y="57150"/>
                  <a:pt x="85725" y="57150"/>
                </a:cubicBezTo>
                <a:cubicBezTo>
                  <a:pt x="69954" y="57150"/>
                  <a:pt x="57150" y="69954"/>
                  <a:pt x="57150" y="85725"/>
                </a:cubicBezTo>
                <a:cubicBezTo>
                  <a:pt x="57150" y="101496"/>
                  <a:pt x="69954" y="114300"/>
                  <a:pt x="85725" y="114300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27" name="Text 25"/>
          <p:cNvSpPr/>
          <p:nvPr/>
        </p:nvSpPr>
        <p:spPr>
          <a:xfrm>
            <a:off x="7074334" y="1606781"/>
            <a:ext cx="21240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Geographic Insights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93477" y="221624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29" name="Text 27"/>
          <p:cNvSpPr/>
          <p:nvPr/>
        </p:nvSpPr>
        <p:spPr>
          <a:xfrm>
            <a:off x="6668287" y="2178169"/>
            <a:ext cx="5019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Major metropolitan cities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show higher concentrations of data analyst job opportunities.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407764" y="278763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31" name="Text 29"/>
          <p:cNvSpPr/>
          <p:nvPr/>
        </p:nvSpPr>
        <p:spPr>
          <a:xfrm>
            <a:off x="6692997" y="2749558"/>
            <a:ext cx="50006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San Francisco leads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 both job volume and average salary ($98K annually).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07764" y="335902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33" name="Text 31"/>
          <p:cNvSpPr/>
          <p:nvPr/>
        </p:nvSpPr>
        <p:spPr>
          <a:xfrm>
            <a:off x="6693334" y="3320946"/>
            <a:ext cx="4867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New York and Seattle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follow closely, offering strong markets for analysts.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194732" y="4131580"/>
            <a:ext cx="5617414" cy="2674189"/>
          </a:xfrm>
          <a:custGeom>
            <a:avLst/>
            <a:gdLst/>
            <a:ahLst/>
            <a:cxnLst/>
            <a:rect l="l" t="t" r="r" b="b"/>
            <a:pathLst>
              <a:path w="5617414" h="2674189">
                <a:moveTo>
                  <a:pt x="76188" y="0"/>
                </a:moveTo>
                <a:lnTo>
                  <a:pt x="5541226" y="0"/>
                </a:lnTo>
                <a:cubicBezTo>
                  <a:pt x="5583303" y="0"/>
                  <a:pt x="5617414" y="34110"/>
                  <a:pt x="5617414" y="76188"/>
                </a:cubicBezTo>
                <a:lnTo>
                  <a:pt x="5617414" y="2598001"/>
                </a:lnTo>
                <a:cubicBezTo>
                  <a:pt x="5617414" y="2640078"/>
                  <a:pt x="5583303" y="2674189"/>
                  <a:pt x="5541226" y="2674189"/>
                </a:cubicBezTo>
                <a:lnTo>
                  <a:pt x="76188" y="2674189"/>
                </a:lnTo>
                <a:cubicBezTo>
                  <a:pt x="34110" y="2674189"/>
                  <a:pt x="0" y="2640078"/>
                  <a:pt x="0" y="2598001"/>
                </a:cubicBezTo>
                <a:lnTo>
                  <a:pt x="0" y="76188"/>
                </a:lnTo>
                <a:cubicBezTo>
                  <a:pt x="0" y="34139"/>
                  <a:pt x="34139" y="0"/>
                  <a:pt x="76188" y="0"/>
                </a:cubicBezTo>
                <a:close/>
              </a:path>
            </a:pathLst>
          </a:custGeom>
          <a:gradFill rotWithShape="1" flip="none">
            <a:gsLst>
              <a:gs pos="0">
                <a:srgbClr val="3A5F7A">
                  <a:alpha val="30000"/>
                </a:srgbClr>
              </a:gs>
              <a:gs pos="100000">
                <a:srgbClr val="3A5F7A">
                  <a:alpha val="10000"/>
                </a:srgbClr>
              </a:gs>
            </a:gsLst>
            <a:lin ang="2700000" scaled="1"/>
          </a:gradFill>
          <a:ln w="9585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88714" y="4325564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B89A6A">
              <a:alpha val="2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569644" y="4477871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28575" y="0"/>
                </a:moveTo>
                <a:cubicBezTo>
                  <a:pt x="12814" y="0"/>
                  <a:pt x="0" y="12814"/>
                  <a:pt x="0" y="28575"/>
                </a:cubicBezTo>
                <a:lnTo>
                  <a:pt x="0" y="200025"/>
                </a:lnTo>
                <a:cubicBezTo>
                  <a:pt x="0" y="215786"/>
                  <a:pt x="12814" y="228600"/>
                  <a:pt x="28575" y="228600"/>
                </a:cubicBezTo>
                <a:lnTo>
                  <a:pt x="142875" y="228600"/>
                </a:lnTo>
                <a:cubicBezTo>
                  <a:pt x="158636" y="228600"/>
                  <a:pt x="171450" y="215786"/>
                  <a:pt x="171450" y="200025"/>
                </a:cubicBezTo>
                <a:lnTo>
                  <a:pt x="171450" y="28575"/>
                </a:lnTo>
                <a:cubicBezTo>
                  <a:pt x="171450" y="12814"/>
                  <a:pt x="158636" y="0"/>
                  <a:pt x="142875" y="0"/>
                </a:cubicBezTo>
                <a:lnTo>
                  <a:pt x="28575" y="0"/>
                </a:lnTo>
                <a:close/>
                <a:moveTo>
                  <a:pt x="78581" y="157163"/>
                </a:moveTo>
                <a:lnTo>
                  <a:pt x="92869" y="157163"/>
                </a:lnTo>
                <a:cubicBezTo>
                  <a:pt x="100772" y="157163"/>
                  <a:pt x="107156" y="163547"/>
                  <a:pt x="107156" y="171450"/>
                </a:cubicBezTo>
                <a:lnTo>
                  <a:pt x="107156" y="207169"/>
                </a:lnTo>
                <a:lnTo>
                  <a:pt x="64294" y="207169"/>
                </a:lnTo>
                <a:lnTo>
                  <a:pt x="64294" y="171450"/>
                </a:lnTo>
                <a:cubicBezTo>
                  <a:pt x="64294" y="163547"/>
                  <a:pt x="70678" y="157163"/>
                  <a:pt x="78581" y="157163"/>
                </a:cubicBezTo>
                <a:close/>
                <a:moveTo>
                  <a:pt x="42863" y="50006"/>
                </a:moveTo>
                <a:cubicBezTo>
                  <a:pt x="42863" y="46077"/>
                  <a:pt x="46077" y="42863"/>
                  <a:pt x="50006" y="42863"/>
                </a:cubicBezTo>
                <a:lnTo>
                  <a:pt x="64294" y="42863"/>
                </a:lnTo>
                <a:cubicBezTo>
                  <a:pt x="68223" y="42863"/>
                  <a:pt x="71438" y="46077"/>
                  <a:pt x="71438" y="50006"/>
                </a:cubicBezTo>
                <a:lnTo>
                  <a:pt x="71438" y="64294"/>
                </a:lnTo>
                <a:cubicBezTo>
                  <a:pt x="71438" y="68223"/>
                  <a:pt x="68223" y="71438"/>
                  <a:pt x="64294" y="71438"/>
                </a:cubicBezTo>
                <a:lnTo>
                  <a:pt x="50006" y="71438"/>
                </a:lnTo>
                <a:cubicBezTo>
                  <a:pt x="46077" y="71438"/>
                  <a:pt x="42863" y="68223"/>
                  <a:pt x="42863" y="64294"/>
                </a:cubicBezTo>
                <a:lnTo>
                  <a:pt x="42863" y="50006"/>
                </a:lnTo>
                <a:close/>
                <a:moveTo>
                  <a:pt x="107156" y="42863"/>
                </a:moveTo>
                <a:lnTo>
                  <a:pt x="121444" y="42863"/>
                </a:lnTo>
                <a:cubicBezTo>
                  <a:pt x="125373" y="42863"/>
                  <a:pt x="128588" y="46077"/>
                  <a:pt x="128588" y="50006"/>
                </a:cubicBezTo>
                <a:lnTo>
                  <a:pt x="128588" y="64294"/>
                </a:lnTo>
                <a:cubicBezTo>
                  <a:pt x="128588" y="68223"/>
                  <a:pt x="125373" y="71438"/>
                  <a:pt x="121444" y="71438"/>
                </a:cubicBezTo>
                <a:lnTo>
                  <a:pt x="107156" y="71438"/>
                </a:lnTo>
                <a:cubicBezTo>
                  <a:pt x="103227" y="71438"/>
                  <a:pt x="100013" y="68223"/>
                  <a:pt x="100013" y="64294"/>
                </a:cubicBezTo>
                <a:lnTo>
                  <a:pt x="100013" y="50006"/>
                </a:lnTo>
                <a:cubicBezTo>
                  <a:pt x="100013" y="46077"/>
                  <a:pt x="103227" y="42863"/>
                  <a:pt x="107156" y="42863"/>
                </a:cubicBezTo>
                <a:close/>
                <a:moveTo>
                  <a:pt x="42863" y="107156"/>
                </a:moveTo>
                <a:cubicBezTo>
                  <a:pt x="42863" y="103227"/>
                  <a:pt x="46077" y="100013"/>
                  <a:pt x="50006" y="100013"/>
                </a:cubicBezTo>
                <a:lnTo>
                  <a:pt x="64294" y="100013"/>
                </a:lnTo>
                <a:cubicBezTo>
                  <a:pt x="68223" y="100013"/>
                  <a:pt x="71438" y="103227"/>
                  <a:pt x="71438" y="107156"/>
                </a:cubicBezTo>
                <a:lnTo>
                  <a:pt x="71438" y="121444"/>
                </a:lnTo>
                <a:cubicBezTo>
                  <a:pt x="71438" y="125373"/>
                  <a:pt x="68223" y="128588"/>
                  <a:pt x="64294" y="128588"/>
                </a:cubicBezTo>
                <a:lnTo>
                  <a:pt x="50006" y="128588"/>
                </a:lnTo>
                <a:cubicBezTo>
                  <a:pt x="46077" y="128588"/>
                  <a:pt x="42863" y="125373"/>
                  <a:pt x="42863" y="121444"/>
                </a:cubicBezTo>
                <a:lnTo>
                  <a:pt x="42863" y="107156"/>
                </a:lnTo>
                <a:close/>
                <a:moveTo>
                  <a:pt x="107156" y="100013"/>
                </a:moveTo>
                <a:lnTo>
                  <a:pt x="121444" y="100013"/>
                </a:lnTo>
                <a:cubicBezTo>
                  <a:pt x="125373" y="100013"/>
                  <a:pt x="128588" y="103227"/>
                  <a:pt x="128588" y="107156"/>
                </a:cubicBezTo>
                <a:lnTo>
                  <a:pt x="128588" y="121444"/>
                </a:lnTo>
                <a:cubicBezTo>
                  <a:pt x="128588" y="125373"/>
                  <a:pt x="125373" y="128588"/>
                  <a:pt x="121444" y="128588"/>
                </a:cubicBezTo>
                <a:lnTo>
                  <a:pt x="107156" y="128588"/>
                </a:lnTo>
                <a:cubicBezTo>
                  <a:pt x="103227" y="128588"/>
                  <a:pt x="100013" y="125373"/>
                  <a:pt x="100013" y="121444"/>
                </a:cubicBezTo>
                <a:lnTo>
                  <a:pt x="100013" y="107156"/>
                </a:lnTo>
                <a:cubicBezTo>
                  <a:pt x="100013" y="103227"/>
                  <a:pt x="103227" y="100013"/>
                  <a:pt x="107156" y="100013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37" name="Text 35"/>
          <p:cNvSpPr/>
          <p:nvPr/>
        </p:nvSpPr>
        <p:spPr>
          <a:xfrm>
            <a:off x="7074334" y="4439794"/>
            <a:ext cx="2209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Hiring Concentration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93477" y="504925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39" name="Text 37"/>
          <p:cNvSpPr/>
          <p:nvPr/>
        </p:nvSpPr>
        <p:spPr>
          <a:xfrm>
            <a:off x="6669522" y="5011182"/>
            <a:ext cx="5019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Relatively small number of companies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account for a significant portion of job postings.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98239" y="5620648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41" name="Text 39"/>
          <p:cNvSpPr/>
          <p:nvPr/>
        </p:nvSpPr>
        <p:spPr>
          <a:xfrm>
            <a:off x="6673341" y="5582571"/>
            <a:ext cx="5019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Top 10 companies represent 28%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of all opportunities, indicating concentrated hiring.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7764" y="619203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43" name="Text 41"/>
          <p:cNvSpPr/>
          <p:nvPr/>
        </p:nvSpPr>
        <p:spPr>
          <a:xfrm>
            <a:off x="6693334" y="6153959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Large organizations and consulting firms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drive most recruitment activity.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5028" y="375024"/>
            <a:ext cx="11507372" cy="187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4" b="1" spc="52" kern="0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ACTIONABLE GUIDANCE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75028" y="637470"/>
            <a:ext cx="11666806" cy="4501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545" b="1" dirty="0">
                <a:solidFill>
                  <a:srgbClr val="E0E2E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Recommendations &amp; Conclusion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75028" y="1275049"/>
            <a:ext cx="5627077" cy="5336345"/>
          </a:xfrm>
          <a:custGeom>
            <a:avLst/>
            <a:gdLst/>
            <a:ahLst/>
            <a:cxnLst/>
            <a:rect l="l" t="t" r="r" b="b"/>
            <a:pathLst>
              <a:path w="5627077" h="5336345">
                <a:moveTo>
                  <a:pt x="37515" y="0"/>
                </a:moveTo>
                <a:lnTo>
                  <a:pt x="5589562" y="0"/>
                </a:lnTo>
                <a:cubicBezTo>
                  <a:pt x="5610281" y="0"/>
                  <a:pt x="5627077" y="16796"/>
                  <a:pt x="5627077" y="37515"/>
                </a:cubicBezTo>
                <a:lnTo>
                  <a:pt x="5627077" y="5298830"/>
                </a:lnTo>
                <a:cubicBezTo>
                  <a:pt x="5627077" y="5319549"/>
                  <a:pt x="5610281" y="5336345"/>
                  <a:pt x="5589562" y="5336345"/>
                </a:cubicBezTo>
                <a:lnTo>
                  <a:pt x="37515" y="5336345"/>
                </a:lnTo>
                <a:cubicBezTo>
                  <a:pt x="16796" y="5336345"/>
                  <a:pt x="0" y="5319549"/>
                  <a:pt x="0" y="5298830"/>
                </a:cubicBezTo>
                <a:lnTo>
                  <a:pt x="0" y="37515"/>
                </a:lnTo>
                <a:cubicBezTo>
                  <a:pt x="0" y="16810"/>
                  <a:pt x="16810" y="0"/>
                  <a:pt x="37515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74210" y="1500000"/>
            <a:ext cx="211015" cy="187569"/>
          </a:xfrm>
          <a:custGeom>
            <a:avLst/>
            <a:gdLst/>
            <a:ahLst/>
            <a:cxnLst/>
            <a:rect l="l" t="t" r="r" b="b"/>
            <a:pathLst>
              <a:path w="211015" h="187569">
                <a:moveTo>
                  <a:pt x="17585" y="71731"/>
                </a:moveTo>
                <a:lnTo>
                  <a:pt x="94224" y="103273"/>
                </a:lnTo>
                <a:cubicBezTo>
                  <a:pt x="97814" y="104738"/>
                  <a:pt x="101624" y="105508"/>
                  <a:pt x="105508" y="105508"/>
                </a:cubicBezTo>
                <a:cubicBezTo>
                  <a:pt x="109391" y="105508"/>
                  <a:pt x="113201" y="104738"/>
                  <a:pt x="116791" y="103273"/>
                </a:cubicBezTo>
                <a:lnTo>
                  <a:pt x="205593" y="66712"/>
                </a:lnTo>
                <a:cubicBezTo>
                  <a:pt x="208891" y="65356"/>
                  <a:pt x="211015" y="62169"/>
                  <a:pt x="211015" y="58615"/>
                </a:cubicBezTo>
                <a:cubicBezTo>
                  <a:pt x="211015" y="55062"/>
                  <a:pt x="208891" y="51875"/>
                  <a:pt x="205593" y="50519"/>
                </a:cubicBezTo>
                <a:lnTo>
                  <a:pt x="116791" y="13958"/>
                </a:lnTo>
                <a:cubicBezTo>
                  <a:pt x="113201" y="12492"/>
                  <a:pt x="109391" y="11723"/>
                  <a:pt x="105508" y="11723"/>
                </a:cubicBezTo>
                <a:cubicBezTo>
                  <a:pt x="101624" y="11723"/>
                  <a:pt x="97814" y="12492"/>
                  <a:pt x="94224" y="13958"/>
                </a:cubicBezTo>
                <a:lnTo>
                  <a:pt x="5422" y="50519"/>
                </a:lnTo>
                <a:cubicBezTo>
                  <a:pt x="2125" y="51875"/>
                  <a:pt x="0" y="55062"/>
                  <a:pt x="0" y="58615"/>
                </a:cubicBezTo>
                <a:lnTo>
                  <a:pt x="0" y="167054"/>
                </a:lnTo>
                <a:cubicBezTo>
                  <a:pt x="0" y="171926"/>
                  <a:pt x="3920" y="175846"/>
                  <a:pt x="8792" y="175846"/>
                </a:cubicBezTo>
                <a:cubicBezTo>
                  <a:pt x="13665" y="175846"/>
                  <a:pt x="17585" y="171926"/>
                  <a:pt x="17585" y="167054"/>
                </a:cubicBezTo>
                <a:lnTo>
                  <a:pt x="17585" y="71731"/>
                </a:lnTo>
                <a:close/>
                <a:moveTo>
                  <a:pt x="35169" y="97998"/>
                </a:moveTo>
                <a:lnTo>
                  <a:pt x="35169" y="140677"/>
                </a:lnTo>
                <a:cubicBezTo>
                  <a:pt x="35169" y="160093"/>
                  <a:pt x="66675" y="175846"/>
                  <a:pt x="105508" y="175846"/>
                </a:cubicBezTo>
                <a:cubicBezTo>
                  <a:pt x="144340" y="175846"/>
                  <a:pt x="175846" y="160093"/>
                  <a:pt x="175846" y="140677"/>
                </a:cubicBezTo>
                <a:lnTo>
                  <a:pt x="175846" y="97961"/>
                </a:lnTo>
                <a:lnTo>
                  <a:pt x="123495" y="119539"/>
                </a:lnTo>
                <a:cubicBezTo>
                  <a:pt x="117780" y="121883"/>
                  <a:pt x="111699" y="123092"/>
                  <a:pt x="105508" y="123092"/>
                </a:cubicBezTo>
                <a:cubicBezTo>
                  <a:pt x="99316" y="123092"/>
                  <a:pt x="93235" y="121883"/>
                  <a:pt x="87520" y="119539"/>
                </a:cubicBezTo>
                <a:lnTo>
                  <a:pt x="35169" y="97961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6" name="Text 4"/>
          <p:cNvSpPr/>
          <p:nvPr/>
        </p:nvSpPr>
        <p:spPr>
          <a:xfrm>
            <a:off x="796948" y="1462509"/>
            <a:ext cx="5111262" cy="262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77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Skill Development Priorities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80182" y="1875028"/>
            <a:ext cx="5232120" cy="1012874"/>
          </a:xfrm>
          <a:custGeom>
            <a:avLst/>
            <a:gdLst/>
            <a:ahLst/>
            <a:cxnLst/>
            <a:rect l="l" t="t" r="r" b="b"/>
            <a:pathLst>
              <a:path w="5232120" h="1012874">
                <a:moveTo>
                  <a:pt x="35390" y="0"/>
                </a:moveTo>
                <a:lnTo>
                  <a:pt x="5194603" y="0"/>
                </a:lnTo>
                <a:cubicBezTo>
                  <a:pt x="5215323" y="0"/>
                  <a:pt x="5232120" y="16797"/>
                  <a:pt x="5232120" y="37517"/>
                </a:cubicBezTo>
                <a:lnTo>
                  <a:pt x="5232120" y="975357"/>
                </a:lnTo>
                <a:cubicBezTo>
                  <a:pt x="5232120" y="996077"/>
                  <a:pt x="5215323" y="1012874"/>
                  <a:pt x="5194603" y="1012874"/>
                </a:cubicBezTo>
                <a:lnTo>
                  <a:pt x="35390" y="1012874"/>
                </a:lnTo>
                <a:cubicBezTo>
                  <a:pt x="15845" y="1012874"/>
                  <a:pt x="0" y="997029"/>
                  <a:pt x="0" y="977483"/>
                </a:cubicBezTo>
                <a:lnTo>
                  <a:pt x="0" y="35390"/>
                </a:lnTo>
                <a:cubicBezTo>
                  <a:pt x="0" y="15858"/>
                  <a:pt x="15858" y="0"/>
                  <a:pt x="3539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80182" y="1875028"/>
            <a:ext cx="35390" cy="1012874"/>
          </a:xfrm>
          <a:custGeom>
            <a:avLst/>
            <a:gdLst/>
            <a:ahLst/>
            <a:cxnLst/>
            <a:rect l="l" t="t" r="r" b="b"/>
            <a:pathLst>
              <a:path w="35390" h="1012874">
                <a:moveTo>
                  <a:pt x="35390" y="0"/>
                </a:moveTo>
                <a:lnTo>
                  <a:pt x="35390" y="0"/>
                </a:lnTo>
                <a:lnTo>
                  <a:pt x="35390" y="1012874"/>
                </a:lnTo>
                <a:lnTo>
                  <a:pt x="35390" y="1012874"/>
                </a:lnTo>
                <a:cubicBezTo>
                  <a:pt x="15845" y="1012874"/>
                  <a:pt x="0" y="997029"/>
                  <a:pt x="0" y="977483"/>
                </a:cubicBezTo>
                <a:lnTo>
                  <a:pt x="0" y="35390"/>
                </a:lnTo>
                <a:cubicBezTo>
                  <a:pt x="0" y="15845"/>
                  <a:pt x="15845" y="0"/>
                  <a:pt x="35390" y="0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9" name="Shape 7"/>
          <p:cNvSpPr/>
          <p:nvPr/>
        </p:nvSpPr>
        <p:spPr>
          <a:xfrm>
            <a:off x="747844" y="2024992"/>
            <a:ext cx="262597" cy="262597"/>
          </a:xfrm>
          <a:custGeom>
            <a:avLst/>
            <a:gdLst/>
            <a:ahLst/>
            <a:cxnLst/>
            <a:rect l="l" t="t" r="r" b="b"/>
            <a:pathLst>
              <a:path w="262597" h="262597">
                <a:moveTo>
                  <a:pt x="131298" y="0"/>
                </a:moveTo>
                <a:lnTo>
                  <a:pt x="131298" y="0"/>
                </a:lnTo>
                <a:cubicBezTo>
                  <a:pt x="203813" y="0"/>
                  <a:pt x="262597" y="58784"/>
                  <a:pt x="262597" y="131298"/>
                </a:cubicBezTo>
                <a:lnTo>
                  <a:pt x="262597" y="131298"/>
                </a:lnTo>
                <a:cubicBezTo>
                  <a:pt x="262597" y="203813"/>
                  <a:pt x="203813" y="262597"/>
                  <a:pt x="131298" y="262597"/>
                </a:cubicBezTo>
                <a:lnTo>
                  <a:pt x="131298" y="262597"/>
                </a:lnTo>
                <a:cubicBezTo>
                  <a:pt x="58784" y="262597"/>
                  <a:pt x="0" y="203813"/>
                  <a:pt x="0" y="131298"/>
                </a:cubicBezTo>
                <a:lnTo>
                  <a:pt x="0" y="131298"/>
                </a:lnTo>
                <a:cubicBezTo>
                  <a:pt x="0" y="58784"/>
                  <a:pt x="58784" y="0"/>
                  <a:pt x="131298" y="0"/>
                </a:cubicBezTo>
                <a:close/>
              </a:path>
            </a:pathLst>
          </a:custGeom>
          <a:solidFill>
            <a:srgbClr val="B89A6A">
              <a:alpha val="30196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747844" y="2024992"/>
            <a:ext cx="328246" cy="262597"/>
          </a:xfrm>
          <a:prstGeom prst="rect">
            <a:avLst/>
          </a:prstGeom>
          <a:noFill/>
          <a:ln/>
        </p:spPr>
        <p:txBody>
          <a:bodyPr wrap="square" lIns="112542" tIns="37514" rIns="112542" bIns="37514" rtlCol="0" anchor="ctr"/>
          <a:lstStyle/>
          <a:p>
            <a:pPr>
              <a:lnSpc>
                <a:spcPct val="120000"/>
              </a:lnSpc>
            </a:pPr>
            <a:r>
              <a:rPr lang="en-US" sz="1034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26964" y="2024992"/>
            <a:ext cx="928468" cy="262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29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Master SQL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7844" y="2362420"/>
            <a:ext cx="4979963" cy="37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4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Foundational skill required in 68% of postings. Essential for data extraction and manipulation.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80182" y="2999780"/>
            <a:ext cx="5232120" cy="1012874"/>
          </a:xfrm>
          <a:custGeom>
            <a:avLst/>
            <a:gdLst/>
            <a:ahLst/>
            <a:cxnLst/>
            <a:rect l="l" t="t" r="r" b="b"/>
            <a:pathLst>
              <a:path w="5232120" h="1012874">
                <a:moveTo>
                  <a:pt x="35390" y="0"/>
                </a:moveTo>
                <a:lnTo>
                  <a:pt x="5194603" y="0"/>
                </a:lnTo>
                <a:cubicBezTo>
                  <a:pt x="5215323" y="0"/>
                  <a:pt x="5232120" y="16797"/>
                  <a:pt x="5232120" y="37517"/>
                </a:cubicBezTo>
                <a:lnTo>
                  <a:pt x="5232120" y="975357"/>
                </a:lnTo>
                <a:cubicBezTo>
                  <a:pt x="5232120" y="996077"/>
                  <a:pt x="5215323" y="1012874"/>
                  <a:pt x="5194603" y="1012874"/>
                </a:cubicBezTo>
                <a:lnTo>
                  <a:pt x="35390" y="1012874"/>
                </a:lnTo>
                <a:cubicBezTo>
                  <a:pt x="15845" y="1012874"/>
                  <a:pt x="0" y="997029"/>
                  <a:pt x="0" y="977483"/>
                </a:cubicBezTo>
                <a:lnTo>
                  <a:pt x="0" y="35390"/>
                </a:lnTo>
                <a:cubicBezTo>
                  <a:pt x="0" y="15858"/>
                  <a:pt x="15858" y="0"/>
                  <a:pt x="3539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580182" y="2999780"/>
            <a:ext cx="35390" cy="1012874"/>
          </a:xfrm>
          <a:custGeom>
            <a:avLst/>
            <a:gdLst/>
            <a:ahLst/>
            <a:cxnLst/>
            <a:rect l="l" t="t" r="r" b="b"/>
            <a:pathLst>
              <a:path w="35390" h="1012874">
                <a:moveTo>
                  <a:pt x="35390" y="0"/>
                </a:moveTo>
                <a:lnTo>
                  <a:pt x="35390" y="0"/>
                </a:lnTo>
                <a:lnTo>
                  <a:pt x="35390" y="1012874"/>
                </a:lnTo>
                <a:lnTo>
                  <a:pt x="35390" y="1012874"/>
                </a:lnTo>
                <a:cubicBezTo>
                  <a:pt x="15845" y="1012874"/>
                  <a:pt x="0" y="997029"/>
                  <a:pt x="0" y="977483"/>
                </a:cubicBezTo>
                <a:lnTo>
                  <a:pt x="0" y="35390"/>
                </a:lnTo>
                <a:cubicBezTo>
                  <a:pt x="0" y="15845"/>
                  <a:pt x="15845" y="0"/>
                  <a:pt x="3539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15" name="Shape 13"/>
          <p:cNvSpPr/>
          <p:nvPr/>
        </p:nvSpPr>
        <p:spPr>
          <a:xfrm>
            <a:off x="747844" y="3149743"/>
            <a:ext cx="290732" cy="262597"/>
          </a:xfrm>
          <a:custGeom>
            <a:avLst/>
            <a:gdLst/>
            <a:ahLst/>
            <a:cxnLst/>
            <a:rect l="l" t="t" r="r" b="b"/>
            <a:pathLst>
              <a:path w="290732" h="262597">
                <a:moveTo>
                  <a:pt x="131298" y="0"/>
                </a:moveTo>
                <a:lnTo>
                  <a:pt x="159434" y="0"/>
                </a:lnTo>
                <a:cubicBezTo>
                  <a:pt x="231948" y="0"/>
                  <a:pt x="290732" y="58784"/>
                  <a:pt x="290732" y="131298"/>
                </a:cubicBezTo>
                <a:lnTo>
                  <a:pt x="290732" y="131298"/>
                </a:lnTo>
                <a:cubicBezTo>
                  <a:pt x="290732" y="203813"/>
                  <a:pt x="231948" y="262597"/>
                  <a:pt x="159434" y="262597"/>
                </a:cubicBezTo>
                <a:lnTo>
                  <a:pt x="131298" y="262597"/>
                </a:lnTo>
                <a:cubicBezTo>
                  <a:pt x="58784" y="262597"/>
                  <a:pt x="0" y="203813"/>
                  <a:pt x="0" y="131298"/>
                </a:cubicBezTo>
                <a:lnTo>
                  <a:pt x="0" y="131298"/>
                </a:lnTo>
                <a:cubicBezTo>
                  <a:pt x="0" y="58784"/>
                  <a:pt x="58784" y="0"/>
                  <a:pt x="131298" y="0"/>
                </a:cubicBezTo>
                <a:close/>
              </a:path>
            </a:pathLst>
          </a:custGeom>
          <a:solidFill>
            <a:srgbClr val="3A5F7A">
              <a:alpha val="4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747844" y="3149743"/>
            <a:ext cx="356382" cy="262597"/>
          </a:xfrm>
          <a:prstGeom prst="rect">
            <a:avLst/>
          </a:prstGeom>
          <a:noFill/>
          <a:ln/>
        </p:spPr>
        <p:txBody>
          <a:bodyPr wrap="square" lIns="112542" tIns="37514" rIns="112542" bIns="37514" rtlCol="0" anchor="ctr"/>
          <a:lstStyle/>
          <a:p>
            <a:pPr>
              <a:lnSpc>
                <a:spcPct val="120000"/>
              </a:lnSpc>
            </a:pPr>
            <a:r>
              <a:rPr lang="en-US" sz="1034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52069" y="3149743"/>
            <a:ext cx="1322363" cy="262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29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Excel Proficiency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7844" y="3487171"/>
            <a:ext cx="4979963" cy="37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4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Widely used across industries (62%). Master pivot tables, formulas, and data analysis features.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80182" y="4124531"/>
            <a:ext cx="5232120" cy="1012874"/>
          </a:xfrm>
          <a:custGeom>
            <a:avLst/>
            <a:gdLst/>
            <a:ahLst/>
            <a:cxnLst/>
            <a:rect l="l" t="t" r="r" b="b"/>
            <a:pathLst>
              <a:path w="5232120" h="1012874">
                <a:moveTo>
                  <a:pt x="35390" y="0"/>
                </a:moveTo>
                <a:lnTo>
                  <a:pt x="5194603" y="0"/>
                </a:lnTo>
                <a:cubicBezTo>
                  <a:pt x="5215323" y="0"/>
                  <a:pt x="5232120" y="16797"/>
                  <a:pt x="5232120" y="37517"/>
                </a:cubicBezTo>
                <a:lnTo>
                  <a:pt x="5232120" y="975357"/>
                </a:lnTo>
                <a:cubicBezTo>
                  <a:pt x="5232120" y="996077"/>
                  <a:pt x="5215323" y="1012874"/>
                  <a:pt x="5194603" y="1012874"/>
                </a:cubicBezTo>
                <a:lnTo>
                  <a:pt x="35390" y="1012874"/>
                </a:lnTo>
                <a:cubicBezTo>
                  <a:pt x="15845" y="1012874"/>
                  <a:pt x="0" y="997029"/>
                  <a:pt x="0" y="977483"/>
                </a:cubicBezTo>
                <a:lnTo>
                  <a:pt x="0" y="35390"/>
                </a:lnTo>
                <a:cubicBezTo>
                  <a:pt x="0" y="15858"/>
                  <a:pt x="15858" y="0"/>
                  <a:pt x="3539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80182" y="4124531"/>
            <a:ext cx="35390" cy="1012874"/>
          </a:xfrm>
          <a:custGeom>
            <a:avLst/>
            <a:gdLst/>
            <a:ahLst/>
            <a:cxnLst/>
            <a:rect l="l" t="t" r="r" b="b"/>
            <a:pathLst>
              <a:path w="35390" h="1012874">
                <a:moveTo>
                  <a:pt x="35390" y="0"/>
                </a:moveTo>
                <a:lnTo>
                  <a:pt x="35390" y="0"/>
                </a:lnTo>
                <a:lnTo>
                  <a:pt x="35390" y="1012874"/>
                </a:lnTo>
                <a:lnTo>
                  <a:pt x="35390" y="1012874"/>
                </a:lnTo>
                <a:cubicBezTo>
                  <a:pt x="15845" y="1012874"/>
                  <a:pt x="0" y="997029"/>
                  <a:pt x="0" y="977483"/>
                </a:cubicBezTo>
                <a:lnTo>
                  <a:pt x="0" y="35390"/>
                </a:lnTo>
                <a:cubicBezTo>
                  <a:pt x="0" y="15845"/>
                  <a:pt x="15845" y="0"/>
                  <a:pt x="3539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747844" y="4274499"/>
            <a:ext cx="290732" cy="262597"/>
          </a:xfrm>
          <a:custGeom>
            <a:avLst/>
            <a:gdLst/>
            <a:ahLst/>
            <a:cxnLst/>
            <a:rect l="l" t="t" r="r" b="b"/>
            <a:pathLst>
              <a:path w="290732" h="262597">
                <a:moveTo>
                  <a:pt x="131298" y="0"/>
                </a:moveTo>
                <a:lnTo>
                  <a:pt x="159434" y="0"/>
                </a:lnTo>
                <a:cubicBezTo>
                  <a:pt x="231948" y="0"/>
                  <a:pt x="290732" y="58784"/>
                  <a:pt x="290732" y="131298"/>
                </a:cubicBezTo>
                <a:lnTo>
                  <a:pt x="290732" y="131298"/>
                </a:lnTo>
                <a:cubicBezTo>
                  <a:pt x="290732" y="203813"/>
                  <a:pt x="231948" y="262597"/>
                  <a:pt x="159434" y="262597"/>
                </a:cubicBezTo>
                <a:lnTo>
                  <a:pt x="131298" y="262597"/>
                </a:lnTo>
                <a:cubicBezTo>
                  <a:pt x="58784" y="262597"/>
                  <a:pt x="0" y="203813"/>
                  <a:pt x="0" y="131298"/>
                </a:cubicBezTo>
                <a:lnTo>
                  <a:pt x="0" y="131298"/>
                </a:lnTo>
                <a:cubicBezTo>
                  <a:pt x="0" y="58784"/>
                  <a:pt x="58784" y="0"/>
                  <a:pt x="131298" y="0"/>
                </a:cubicBezTo>
                <a:close/>
              </a:path>
            </a:pathLst>
          </a:custGeom>
          <a:solidFill>
            <a:srgbClr val="3A5F7A">
              <a:alpha val="4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747844" y="4274499"/>
            <a:ext cx="356382" cy="262597"/>
          </a:xfrm>
          <a:prstGeom prst="rect">
            <a:avLst/>
          </a:prstGeom>
          <a:noFill/>
          <a:ln/>
        </p:spPr>
        <p:txBody>
          <a:bodyPr wrap="square" lIns="112542" tIns="37514" rIns="112542" bIns="37514" rtlCol="0" anchor="ctr"/>
          <a:lstStyle/>
          <a:p>
            <a:pPr>
              <a:lnSpc>
                <a:spcPct val="120000"/>
              </a:lnSpc>
            </a:pPr>
            <a:r>
              <a:rPr lang="en-US" sz="1034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55497" y="4274499"/>
            <a:ext cx="1041009" cy="262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29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Learn Python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7844" y="4611923"/>
            <a:ext cx="4979963" cy="37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4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High-growth skill (45% demand) associated with +15% salary premium. Focus on pandas, numpy.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80182" y="5249282"/>
            <a:ext cx="5232120" cy="1012874"/>
          </a:xfrm>
          <a:custGeom>
            <a:avLst/>
            <a:gdLst/>
            <a:ahLst/>
            <a:cxnLst/>
            <a:rect l="l" t="t" r="r" b="b"/>
            <a:pathLst>
              <a:path w="5232120" h="1012874">
                <a:moveTo>
                  <a:pt x="35390" y="0"/>
                </a:moveTo>
                <a:lnTo>
                  <a:pt x="5194603" y="0"/>
                </a:lnTo>
                <a:cubicBezTo>
                  <a:pt x="5215323" y="0"/>
                  <a:pt x="5232120" y="16797"/>
                  <a:pt x="5232120" y="37517"/>
                </a:cubicBezTo>
                <a:lnTo>
                  <a:pt x="5232120" y="975357"/>
                </a:lnTo>
                <a:cubicBezTo>
                  <a:pt x="5232120" y="996077"/>
                  <a:pt x="5215323" y="1012874"/>
                  <a:pt x="5194603" y="1012874"/>
                </a:cubicBezTo>
                <a:lnTo>
                  <a:pt x="35390" y="1012874"/>
                </a:lnTo>
                <a:cubicBezTo>
                  <a:pt x="15845" y="1012874"/>
                  <a:pt x="0" y="997029"/>
                  <a:pt x="0" y="977483"/>
                </a:cubicBezTo>
                <a:lnTo>
                  <a:pt x="0" y="35390"/>
                </a:lnTo>
                <a:cubicBezTo>
                  <a:pt x="0" y="15858"/>
                  <a:pt x="15858" y="0"/>
                  <a:pt x="3539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80182" y="5249282"/>
            <a:ext cx="35390" cy="1012874"/>
          </a:xfrm>
          <a:custGeom>
            <a:avLst/>
            <a:gdLst/>
            <a:ahLst/>
            <a:cxnLst/>
            <a:rect l="l" t="t" r="r" b="b"/>
            <a:pathLst>
              <a:path w="35390" h="1012874">
                <a:moveTo>
                  <a:pt x="35390" y="0"/>
                </a:moveTo>
                <a:lnTo>
                  <a:pt x="35390" y="0"/>
                </a:lnTo>
                <a:lnTo>
                  <a:pt x="35390" y="1012874"/>
                </a:lnTo>
                <a:lnTo>
                  <a:pt x="35390" y="1012874"/>
                </a:lnTo>
                <a:cubicBezTo>
                  <a:pt x="15845" y="1012874"/>
                  <a:pt x="0" y="997029"/>
                  <a:pt x="0" y="977483"/>
                </a:cubicBezTo>
                <a:lnTo>
                  <a:pt x="0" y="35390"/>
                </a:lnTo>
                <a:cubicBezTo>
                  <a:pt x="0" y="15845"/>
                  <a:pt x="15845" y="0"/>
                  <a:pt x="3539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27" name="Shape 25"/>
          <p:cNvSpPr/>
          <p:nvPr/>
        </p:nvSpPr>
        <p:spPr>
          <a:xfrm>
            <a:off x="747844" y="5399251"/>
            <a:ext cx="290732" cy="262597"/>
          </a:xfrm>
          <a:custGeom>
            <a:avLst/>
            <a:gdLst/>
            <a:ahLst/>
            <a:cxnLst/>
            <a:rect l="l" t="t" r="r" b="b"/>
            <a:pathLst>
              <a:path w="290732" h="262597">
                <a:moveTo>
                  <a:pt x="131298" y="0"/>
                </a:moveTo>
                <a:lnTo>
                  <a:pt x="159434" y="0"/>
                </a:lnTo>
                <a:cubicBezTo>
                  <a:pt x="231948" y="0"/>
                  <a:pt x="290732" y="58784"/>
                  <a:pt x="290732" y="131298"/>
                </a:cubicBezTo>
                <a:lnTo>
                  <a:pt x="290732" y="131298"/>
                </a:lnTo>
                <a:cubicBezTo>
                  <a:pt x="290732" y="203813"/>
                  <a:pt x="231948" y="262597"/>
                  <a:pt x="159434" y="262597"/>
                </a:cubicBezTo>
                <a:lnTo>
                  <a:pt x="131298" y="262597"/>
                </a:lnTo>
                <a:cubicBezTo>
                  <a:pt x="58784" y="262597"/>
                  <a:pt x="0" y="203813"/>
                  <a:pt x="0" y="131298"/>
                </a:cubicBezTo>
                <a:lnTo>
                  <a:pt x="0" y="131298"/>
                </a:lnTo>
                <a:cubicBezTo>
                  <a:pt x="0" y="58784"/>
                  <a:pt x="58784" y="0"/>
                  <a:pt x="131298" y="0"/>
                </a:cubicBezTo>
                <a:close/>
              </a:path>
            </a:pathLst>
          </a:custGeom>
          <a:solidFill>
            <a:srgbClr val="3A5F7A">
              <a:alpha val="4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747844" y="5399251"/>
            <a:ext cx="356382" cy="262597"/>
          </a:xfrm>
          <a:prstGeom prst="rect">
            <a:avLst/>
          </a:prstGeom>
          <a:noFill/>
          <a:ln/>
        </p:spPr>
        <p:txBody>
          <a:bodyPr wrap="square" lIns="112542" tIns="37514" rIns="112542" bIns="37514" rtlCol="0" anchor="ctr"/>
          <a:lstStyle/>
          <a:p>
            <a:pPr>
              <a:lnSpc>
                <a:spcPct val="120000"/>
              </a:lnSpc>
            </a:pPr>
            <a:r>
              <a:rPr lang="en-US" sz="1034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51958" y="5399251"/>
            <a:ext cx="1425526" cy="262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29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Visualization Tools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47844" y="5736674"/>
            <a:ext cx="4979963" cy="37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4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Tableau (38%) or Power BI (35%). Choose one and build expertise in dashboard creation.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187573" y="1275049"/>
            <a:ext cx="5627077" cy="2813538"/>
          </a:xfrm>
          <a:custGeom>
            <a:avLst/>
            <a:gdLst/>
            <a:ahLst/>
            <a:cxnLst/>
            <a:rect l="l" t="t" r="r" b="b"/>
            <a:pathLst>
              <a:path w="5627077" h="2813538">
                <a:moveTo>
                  <a:pt x="37504" y="0"/>
                </a:moveTo>
                <a:lnTo>
                  <a:pt x="5589572" y="0"/>
                </a:lnTo>
                <a:cubicBezTo>
                  <a:pt x="5610286" y="0"/>
                  <a:pt x="5627077" y="16791"/>
                  <a:pt x="5627077" y="37504"/>
                </a:cubicBezTo>
                <a:lnTo>
                  <a:pt x="5627077" y="2776034"/>
                </a:lnTo>
                <a:cubicBezTo>
                  <a:pt x="5627077" y="2796747"/>
                  <a:pt x="5610286" y="2813538"/>
                  <a:pt x="5589572" y="2813538"/>
                </a:cubicBezTo>
                <a:lnTo>
                  <a:pt x="37504" y="2813538"/>
                </a:lnTo>
                <a:cubicBezTo>
                  <a:pt x="16791" y="2813538"/>
                  <a:pt x="0" y="2796747"/>
                  <a:pt x="0" y="2776034"/>
                </a:cubicBezTo>
                <a:lnTo>
                  <a:pt x="0" y="37504"/>
                </a:lnTo>
                <a:cubicBezTo>
                  <a:pt x="0" y="16805"/>
                  <a:pt x="16805" y="0"/>
                  <a:pt x="37504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398478" y="1500000"/>
            <a:ext cx="187569" cy="187569"/>
          </a:xfrm>
          <a:custGeom>
            <a:avLst/>
            <a:gdLst/>
            <a:ahLst/>
            <a:cxnLst/>
            <a:rect l="l" t="t" r="r" b="b"/>
            <a:pathLst>
              <a:path w="187569" h="187569">
                <a:moveTo>
                  <a:pt x="187569" y="35169"/>
                </a:moveTo>
                <a:cubicBezTo>
                  <a:pt x="187569" y="53560"/>
                  <a:pt x="165918" y="80999"/>
                  <a:pt x="156576" y="91953"/>
                </a:cubicBezTo>
                <a:cubicBezTo>
                  <a:pt x="155184" y="93565"/>
                  <a:pt x="153133" y="94188"/>
                  <a:pt x="151264" y="93785"/>
                </a:cubicBezTo>
                <a:lnTo>
                  <a:pt x="117231" y="93785"/>
                </a:lnTo>
                <a:cubicBezTo>
                  <a:pt x="110746" y="93785"/>
                  <a:pt x="105508" y="99023"/>
                  <a:pt x="105508" y="105508"/>
                </a:cubicBezTo>
                <a:cubicBezTo>
                  <a:pt x="105508" y="111992"/>
                  <a:pt x="110746" y="117231"/>
                  <a:pt x="117231" y="117231"/>
                </a:cubicBezTo>
                <a:lnTo>
                  <a:pt x="152400" y="117231"/>
                </a:lnTo>
                <a:cubicBezTo>
                  <a:pt x="171816" y="117231"/>
                  <a:pt x="187569" y="132984"/>
                  <a:pt x="187569" y="152400"/>
                </a:cubicBezTo>
                <a:cubicBezTo>
                  <a:pt x="187569" y="171816"/>
                  <a:pt x="171816" y="187569"/>
                  <a:pt x="152400" y="187569"/>
                </a:cubicBezTo>
                <a:lnTo>
                  <a:pt x="51142" y="187569"/>
                </a:lnTo>
                <a:cubicBezTo>
                  <a:pt x="54329" y="183942"/>
                  <a:pt x="58212" y="179290"/>
                  <a:pt x="62132" y="174088"/>
                </a:cubicBezTo>
                <a:cubicBezTo>
                  <a:pt x="64440" y="171010"/>
                  <a:pt x="66822" y="167640"/>
                  <a:pt x="69093" y="164123"/>
                </a:cubicBezTo>
                <a:lnTo>
                  <a:pt x="152400" y="164123"/>
                </a:lnTo>
                <a:cubicBezTo>
                  <a:pt x="158884" y="164123"/>
                  <a:pt x="164123" y="158884"/>
                  <a:pt x="164123" y="152400"/>
                </a:cubicBezTo>
                <a:cubicBezTo>
                  <a:pt x="164123" y="145916"/>
                  <a:pt x="158884" y="140677"/>
                  <a:pt x="152400" y="140677"/>
                </a:cubicBezTo>
                <a:lnTo>
                  <a:pt x="117231" y="140677"/>
                </a:lnTo>
                <a:cubicBezTo>
                  <a:pt x="97814" y="140677"/>
                  <a:pt x="82062" y="124924"/>
                  <a:pt x="82062" y="105508"/>
                </a:cubicBezTo>
                <a:cubicBezTo>
                  <a:pt x="82062" y="86091"/>
                  <a:pt x="97814" y="70338"/>
                  <a:pt x="117231" y="70338"/>
                </a:cubicBezTo>
                <a:lnTo>
                  <a:pt x="131811" y="70338"/>
                </a:lnTo>
                <a:cubicBezTo>
                  <a:pt x="124118" y="58799"/>
                  <a:pt x="117231" y="45537"/>
                  <a:pt x="117231" y="35169"/>
                </a:cubicBezTo>
                <a:cubicBezTo>
                  <a:pt x="117231" y="15753"/>
                  <a:pt x="132984" y="0"/>
                  <a:pt x="152400" y="0"/>
                </a:cubicBezTo>
                <a:cubicBezTo>
                  <a:pt x="171816" y="0"/>
                  <a:pt x="187569" y="15753"/>
                  <a:pt x="187569" y="35169"/>
                </a:cubicBezTo>
                <a:close/>
                <a:moveTo>
                  <a:pt x="42899" y="179180"/>
                </a:moveTo>
                <a:cubicBezTo>
                  <a:pt x="41507" y="180755"/>
                  <a:pt x="40261" y="182147"/>
                  <a:pt x="39199" y="183320"/>
                </a:cubicBezTo>
                <a:lnTo>
                  <a:pt x="38540" y="184052"/>
                </a:lnTo>
                <a:lnTo>
                  <a:pt x="38466" y="183979"/>
                </a:lnTo>
                <a:cubicBezTo>
                  <a:pt x="36268" y="185664"/>
                  <a:pt x="33118" y="185444"/>
                  <a:pt x="31139" y="183320"/>
                </a:cubicBezTo>
                <a:cubicBezTo>
                  <a:pt x="21908" y="173282"/>
                  <a:pt x="0" y="147454"/>
                  <a:pt x="0" y="128954"/>
                </a:cubicBezTo>
                <a:cubicBezTo>
                  <a:pt x="0" y="109538"/>
                  <a:pt x="15753" y="93785"/>
                  <a:pt x="35169" y="93785"/>
                </a:cubicBezTo>
                <a:cubicBezTo>
                  <a:pt x="54586" y="93785"/>
                  <a:pt x="70338" y="109538"/>
                  <a:pt x="70338" y="128954"/>
                </a:cubicBezTo>
                <a:cubicBezTo>
                  <a:pt x="70338" y="139944"/>
                  <a:pt x="62609" y="153499"/>
                  <a:pt x="54402" y="164819"/>
                </a:cubicBezTo>
                <a:cubicBezTo>
                  <a:pt x="50483" y="170204"/>
                  <a:pt x="46453" y="175077"/>
                  <a:pt x="43119" y="178923"/>
                </a:cubicBezTo>
                <a:lnTo>
                  <a:pt x="42899" y="179180"/>
                </a:lnTo>
                <a:close/>
                <a:moveTo>
                  <a:pt x="46892" y="128954"/>
                </a:moveTo>
                <a:cubicBezTo>
                  <a:pt x="46892" y="122484"/>
                  <a:pt x="41639" y="117231"/>
                  <a:pt x="35169" y="117231"/>
                </a:cubicBezTo>
                <a:cubicBezTo>
                  <a:pt x="28699" y="117231"/>
                  <a:pt x="23446" y="122484"/>
                  <a:pt x="23446" y="128954"/>
                </a:cubicBezTo>
                <a:cubicBezTo>
                  <a:pt x="23446" y="135424"/>
                  <a:pt x="28699" y="140677"/>
                  <a:pt x="35169" y="140677"/>
                </a:cubicBezTo>
                <a:cubicBezTo>
                  <a:pt x="41639" y="140677"/>
                  <a:pt x="46892" y="135424"/>
                  <a:pt x="46892" y="128954"/>
                </a:cubicBezTo>
                <a:close/>
                <a:moveTo>
                  <a:pt x="152400" y="46892"/>
                </a:moveTo>
                <a:cubicBezTo>
                  <a:pt x="158870" y="46892"/>
                  <a:pt x="164123" y="41639"/>
                  <a:pt x="164123" y="35169"/>
                </a:cubicBezTo>
                <a:cubicBezTo>
                  <a:pt x="164123" y="28699"/>
                  <a:pt x="158870" y="23446"/>
                  <a:pt x="152400" y="23446"/>
                </a:cubicBezTo>
                <a:cubicBezTo>
                  <a:pt x="145930" y="23446"/>
                  <a:pt x="140677" y="28699"/>
                  <a:pt x="140677" y="35169"/>
                </a:cubicBezTo>
                <a:cubicBezTo>
                  <a:pt x="140677" y="41639"/>
                  <a:pt x="145930" y="46892"/>
                  <a:pt x="152400" y="46892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33" name="Text 31"/>
          <p:cNvSpPr/>
          <p:nvPr/>
        </p:nvSpPr>
        <p:spPr>
          <a:xfrm>
            <a:off x="6609493" y="1462509"/>
            <a:ext cx="5111262" cy="262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77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Strategic Recommendations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375032" y="1875028"/>
            <a:ext cx="375138" cy="375138"/>
          </a:xfrm>
          <a:custGeom>
            <a:avLst/>
            <a:gdLst/>
            <a:ahLst/>
            <a:cxnLst/>
            <a:rect l="l" t="t" r="r" b="b"/>
            <a:pathLst>
              <a:path w="375138" h="375138">
                <a:moveTo>
                  <a:pt x="75028" y="0"/>
                </a:moveTo>
                <a:lnTo>
                  <a:pt x="300111" y="0"/>
                </a:lnTo>
                <a:cubicBezTo>
                  <a:pt x="341547" y="0"/>
                  <a:pt x="375138" y="33591"/>
                  <a:pt x="375138" y="75028"/>
                </a:cubicBezTo>
                <a:lnTo>
                  <a:pt x="375138" y="300111"/>
                </a:lnTo>
                <a:cubicBezTo>
                  <a:pt x="375138" y="341547"/>
                  <a:pt x="341547" y="375138"/>
                  <a:pt x="300111" y="375138"/>
                </a:cubicBezTo>
                <a:lnTo>
                  <a:pt x="75028" y="375138"/>
                </a:lnTo>
                <a:cubicBezTo>
                  <a:pt x="33591" y="375138"/>
                  <a:pt x="0" y="341547"/>
                  <a:pt x="0" y="300111"/>
                </a:cubicBezTo>
                <a:lnTo>
                  <a:pt x="0" y="75028"/>
                </a:lnTo>
                <a:cubicBezTo>
                  <a:pt x="0" y="33619"/>
                  <a:pt x="33619" y="0"/>
                  <a:pt x="75028" y="0"/>
                </a:cubicBezTo>
                <a:close/>
              </a:path>
            </a:pathLst>
          </a:custGeom>
          <a:solidFill>
            <a:srgbClr val="B89A6A">
              <a:alpha val="2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487573" y="1987501"/>
            <a:ext cx="150055" cy="150055"/>
          </a:xfrm>
          <a:custGeom>
            <a:avLst/>
            <a:gdLst/>
            <a:ahLst/>
            <a:cxnLst/>
            <a:rect l="l" t="t" r="r" b="b"/>
            <a:pathLst>
              <a:path w="150055" h="150055">
                <a:moveTo>
                  <a:pt x="65649" y="0"/>
                </a:moveTo>
                <a:cubicBezTo>
                  <a:pt x="75995" y="0"/>
                  <a:pt x="84406" y="6301"/>
                  <a:pt x="84406" y="14068"/>
                </a:cubicBezTo>
                <a:cubicBezTo>
                  <a:pt x="84406" y="17116"/>
                  <a:pt x="83117" y="19929"/>
                  <a:pt x="80889" y="22245"/>
                </a:cubicBezTo>
                <a:cubicBezTo>
                  <a:pt x="78955" y="24267"/>
                  <a:pt x="77372" y="26729"/>
                  <a:pt x="77372" y="29542"/>
                </a:cubicBezTo>
                <a:cubicBezTo>
                  <a:pt x="77372" y="33938"/>
                  <a:pt x="80948" y="37514"/>
                  <a:pt x="85344" y="37514"/>
                </a:cubicBezTo>
                <a:lnTo>
                  <a:pt x="98474" y="37514"/>
                </a:lnTo>
                <a:cubicBezTo>
                  <a:pt x="106240" y="37514"/>
                  <a:pt x="112542" y="43815"/>
                  <a:pt x="112542" y="51582"/>
                </a:cubicBezTo>
                <a:lnTo>
                  <a:pt x="112542" y="64711"/>
                </a:lnTo>
                <a:cubicBezTo>
                  <a:pt x="112542" y="69108"/>
                  <a:pt x="116117" y="72683"/>
                  <a:pt x="120513" y="72683"/>
                </a:cubicBezTo>
                <a:cubicBezTo>
                  <a:pt x="123297" y="72683"/>
                  <a:pt x="125789" y="71100"/>
                  <a:pt x="127811" y="69166"/>
                </a:cubicBezTo>
                <a:cubicBezTo>
                  <a:pt x="130126" y="66968"/>
                  <a:pt x="132940" y="65649"/>
                  <a:pt x="135988" y="65649"/>
                </a:cubicBezTo>
                <a:cubicBezTo>
                  <a:pt x="143754" y="65649"/>
                  <a:pt x="150055" y="74061"/>
                  <a:pt x="150055" y="84406"/>
                </a:cubicBezTo>
                <a:cubicBezTo>
                  <a:pt x="150055" y="94752"/>
                  <a:pt x="143754" y="103163"/>
                  <a:pt x="135988" y="103163"/>
                </a:cubicBezTo>
                <a:cubicBezTo>
                  <a:pt x="132940" y="103163"/>
                  <a:pt x="130097" y="101874"/>
                  <a:pt x="127811" y="99646"/>
                </a:cubicBezTo>
                <a:cubicBezTo>
                  <a:pt x="125789" y="97712"/>
                  <a:pt x="123327" y="96129"/>
                  <a:pt x="120513" y="96129"/>
                </a:cubicBezTo>
                <a:cubicBezTo>
                  <a:pt x="116117" y="96129"/>
                  <a:pt x="112542" y="99705"/>
                  <a:pt x="112542" y="104101"/>
                </a:cubicBezTo>
                <a:lnTo>
                  <a:pt x="112542" y="135988"/>
                </a:lnTo>
                <a:cubicBezTo>
                  <a:pt x="112542" y="143754"/>
                  <a:pt x="106240" y="150055"/>
                  <a:pt x="98474" y="150055"/>
                </a:cubicBezTo>
                <a:lnTo>
                  <a:pt x="81827" y="150055"/>
                </a:lnTo>
                <a:cubicBezTo>
                  <a:pt x="78076" y="150055"/>
                  <a:pt x="75028" y="147007"/>
                  <a:pt x="75028" y="143256"/>
                </a:cubicBezTo>
                <a:cubicBezTo>
                  <a:pt x="75028" y="140560"/>
                  <a:pt x="76728" y="138186"/>
                  <a:pt x="78896" y="136574"/>
                </a:cubicBezTo>
                <a:cubicBezTo>
                  <a:pt x="82296" y="134024"/>
                  <a:pt x="84406" y="130507"/>
                  <a:pt x="84406" y="126609"/>
                </a:cubicBezTo>
                <a:cubicBezTo>
                  <a:pt x="84406" y="118843"/>
                  <a:pt x="75995" y="112542"/>
                  <a:pt x="65649" y="112542"/>
                </a:cubicBezTo>
                <a:cubicBezTo>
                  <a:pt x="55304" y="112542"/>
                  <a:pt x="46892" y="118843"/>
                  <a:pt x="46892" y="126609"/>
                </a:cubicBezTo>
                <a:cubicBezTo>
                  <a:pt x="46892" y="130507"/>
                  <a:pt x="49002" y="134024"/>
                  <a:pt x="52402" y="136574"/>
                </a:cubicBezTo>
                <a:cubicBezTo>
                  <a:pt x="54571" y="138186"/>
                  <a:pt x="56271" y="140530"/>
                  <a:pt x="56271" y="143256"/>
                </a:cubicBezTo>
                <a:cubicBezTo>
                  <a:pt x="56271" y="147007"/>
                  <a:pt x="53223" y="150055"/>
                  <a:pt x="49471" y="150055"/>
                </a:cubicBezTo>
                <a:lnTo>
                  <a:pt x="14068" y="150055"/>
                </a:lnTo>
                <a:cubicBezTo>
                  <a:pt x="6301" y="150055"/>
                  <a:pt x="0" y="143754"/>
                  <a:pt x="0" y="135988"/>
                </a:cubicBezTo>
                <a:lnTo>
                  <a:pt x="0" y="100584"/>
                </a:lnTo>
                <a:cubicBezTo>
                  <a:pt x="0" y="96833"/>
                  <a:pt x="3048" y="93785"/>
                  <a:pt x="6799" y="93785"/>
                </a:cubicBezTo>
                <a:cubicBezTo>
                  <a:pt x="9496" y="93785"/>
                  <a:pt x="11870" y="95484"/>
                  <a:pt x="13482" y="97653"/>
                </a:cubicBezTo>
                <a:cubicBezTo>
                  <a:pt x="16031" y="101053"/>
                  <a:pt x="19548" y="103163"/>
                  <a:pt x="23446" y="103163"/>
                </a:cubicBezTo>
                <a:cubicBezTo>
                  <a:pt x="31213" y="103163"/>
                  <a:pt x="37514" y="94752"/>
                  <a:pt x="37514" y="84406"/>
                </a:cubicBezTo>
                <a:cubicBezTo>
                  <a:pt x="37514" y="74061"/>
                  <a:pt x="31213" y="65649"/>
                  <a:pt x="23446" y="65649"/>
                </a:cubicBezTo>
                <a:cubicBezTo>
                  <a:pt x="19548" y="65649"/>
                  <a:pt x="16031" y="67759"/>
                  <a:pt x="13482" y="71159"/>
                </a:cubicBezTo>
                <a:cubicBezTo>
                  <a:pt x="11870" y="73328"/>
                  <a:pt x="9525" y="75028"/>
                  <a:pt x="6799" y="75028"/>
                </a:cubicBezTo>
                <a:cubicBezTo>
                  <a:pt x="3048" y="75028"/>
                  <a:pt x="0" y="71980"/>
                  <a:pt x="0" y="68228"/>
                </a:cubicBezTo>
                <a:lnTo>
                  <a:pt x="0" y="51582"/>
                </a:lnTo>
                <a:cubicBezTo>
                  <a:pt x="0" y="43815"/>
                  <a:pt x="6301" y="37514"/>
                  <a:pt x="14068" y="37514"/>
                </a:cubicBezTo>
                <a:lnTo>
                  <a:pt x="45954" y="37514"/>
                </a:lnTo>
                <a:cubicBezTo>
                  <a:pt x="50351" y="37514"/>
                  <a:pt x="53926" y="33938"/>
                  <a:pt x="53926" y="29542"/>
                </a:cubicBezTo>
                <a:cubicBezTo>
                  <a:pt x="53926" y="26758"/>
                  <a:pt x="52344" y="24267"/>
                  <a:pt x="50409" y="22245"/>
                </a:cubicBezTo>
                <a:cubicBezTo>
                  <a:pt x="48211" y="19929"/>
                  <a:pt x="46892" y="17116"/>
                  <a:pt x="46892" y="14068"/>
                </a:cubicBezTo>
                <a:cubicBezTo>
                  <a:pt x="46892" y="6301"/>
                  <a:pt x="55304" y="0"/>
                  <a:pt x="65649" y="0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36" name="Text 34"/>
          <p:cNvSpPr/>
          <p:nvPr/>
        </p:nvSpPr>
        <p:spPr>
          <a:xfrm>
            <a:off x="6862535" y="1875028"/>
            <a:ext cx="4839286" cy="2250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82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Develop Skill Combinations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862535" y="2100088"/>
            <a:ext cx="4829908" cy="37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4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SQL + Excel (52%), SQL + Python (38%), or SQL + Tableau (31%) increase marketability.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75032" y="2587480"/>
            <a:ext cx="375138" cy="375138"/>
          </a:xfrm>
          <a:custGeom>
            <a:avLst/>
            <a:gdLst/>
            <a:ahLst/>
            <a:cxnLst/>
            <a:rect l="l" t="t" r="r" b="b"/>
            <a:pathLst>
              <a:path w="375138" h="375138">
                <a:moveTo>
                  <a:pt x="75028" y="0"/>
                </a:moveTo>
                <a:lnTo>
                  <a:pt x="300111" y="0"/>
                </a:lnTo>
                <a:cubicBezTo>
                  <a:pt x="341547" y="0"/>
                  <a:pt x="375138" y="33591"/>
                  <a:pt x="375138" y="75028"/>
                </a:cubicBezTo>
                <a:lnTo>
                  <a:pt x="375138" y="300111"/>
                </a:lnTo>
                <a:cubicBezTo>
                  <a:pt x="375138" y="341547"/>
                  <a:pt x="341547" y="375138"/>
                  <a:pt x="300111" y="375138"/>
                </a:cubicBezTo>
                <a:lnTo>
                  <a:pt x="75028" y="375138"/>
                </a:lnTo>
                <a:cubicBezTo>
                  <a:pt x="33591" y="375138"/>
                  <a:pt x="0" y="341547"/>
                  <a:pt x="0" y="300111"/>
                </a:cubicBezTo>
                <a:lnTo>
                  <a:pt x="0" y="75028"/>
                </a:lnTo>
                <a:cubicBezTo>
                  <a:pt x="0" y="33619"/>
                  <a:pt x="33619" y="0"/>
                  <a:pt x="75028" y="0"/>
                </a:cubicBezTo>
                <a:close/>
              </a:path>
            </a:pathLst>
          </a:custGeom>
          <a:solidFill>
            <a:srgbClr val="B89A6A">
              <a:alpha val="2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468816" y="2699957"/>
            <a:ext cx="187569" cy="150055"/>
          </a:xfrm>
          <a:custGeom>
            <a:avLst/>
            <a:gdLst/>
            <a:ahLst/>
            <a:cxnLst/>
            <a:rect l="l" t="t" r="r" b="b"/>
            <a:pathLst>
              <a:path w="187569" h="150055">
                <a:moveTo>
                  <a:pt x="168812" y="14068"/>
                </a:moveTo>
                <a:cubicBezTo>
                  <a:pt x="168812" y="10815"/>
                  <a:pt x="167142" y="7796"/>
                  <a:pt x="164358" y="6096"/>
                </a:cubicBezTo>
                <a:cubicBezTo>
                  <a:pt x="161573" y="4396"/>
                  <a:pt x="158144" y="4220"/>
                  <a:pt x="155243" y="5686"/>
                </a:cubicBezTo>
                <a:lnTo>
                  <a:pt x="121187" y="22713"/>
                </a:lnTo>
                <a:lnTo>
                  <a:pt x="68609" y="5158"/>
                </a:lnTo>
                <a:cubicBezTo>
                  <a:pt x="66235" y="4367"/>
                  <a:pt x="63686" y="4543"/>
                  <a:pt x="61458" y="5656"/>
                </a:cubicBezTo>
                <a:lnTo>
                  <a:pt x="23944" y="24413"/>
                </a:lnTo>
                <a:cubicBezTo>
                  <a:pt x="20750" y="26025"/>
                  <a:pt x="18757" y="29278"/>
                  <a:pt x="18757" y="32825"/>
                </a:cubicBezTo>
                <a:lnTo>
                  <a:pt x="18757" y="135988"/>
                </a:lnTo>
                <a:cubicBezTo>
                  <a:pt x="18757" y="139241"/>
                  <a:pt x="20427" y="142260"/>
                  <a:pt x="23212" y="143959"/>
                </a:cubicBezTo>
                <a:cubicBezTo>
                  <a:pt x="25996" y="145659"/>
                  <a:pt x="29425" y="145835"/>
                  <a:pt x="32326" y="144370"/>
                </a:cubicBezTo>
                <a:lnTo>
                  <a:pt x="66353" y="127342"/>
                </a:lnTo>
                <a:lnTo>
                  <a:pt x="117143" y="144282"/>
                </a:lnTo>
                <a:cubicBezTo>
                  <a:pt x="115883" y="142406"/>
                  <a:pt x="114652" y="140442"/>
                  <a:pt x="113450" y="138450"/>
                </a:cubicBezTo>
                <a:cubicBezTo>
                  <a:pt x="110226" y="133086"/>
                  <a:pt x="107032" y="126932"/>
                  <a:pt x="104658" y="120337"/>
                </a:cubicBezTo>
                <a:lnTo>
                  <a:pt x="74998" y="110461"/>
                </a:lnTo>
                <a:lnTo>
                  <a:pt x="74998" y="27080"/>
                </a:lnTo>
                <a:lnTo>
                  <a:pt x="112512" y="39595"/>
                </a:lnTo>
                <a:lnTo>
                  <a:pt x="112512" y="68697"/>
                </a:lnTo>
                <a:cubicBezTo>
                  <a:pt x="121598" y="58205"/>
                  <a:pt x="135079" y="51582"/>
                  <a:pt x="150026" y="51582"/>
                </a:cubicBezTo>
                <a:cubicBezTo>
                  <a:pt x="156650" y="51582"/>
                  <a:pt x="162980" y="52871"/>
                  <a:pt x="168783" y="55245"/>
                </a:cubicBezTo>
                <a:lnTo>
                  <a:pt x="168812" y="14068"/>
                </a:lnTo>
                <a:close/>
                <a:moveTo>
                  <a:pt x="150055" y="65649"/>
                </a:moveTo>
                <a:cubicBezTo>
                  <a:pt x="130624" y="65649"/>
                  <a:pt x="114886" y="81124"/>
                  <a:pt x="114886" y="100203"/>
                </a:cubicBezTo>
                <a:cubicBezTo>
                  <a:pt x="114886" y="120396"/>
                  <a:pt x="133672" y="144282"/>
                  <a:pt x="143784" y="155682"/>
                </a:cubicBezTo>
                <a:cubicBezTo>
                  <a:pt x="147183" y="159492"/>
                  <a:pt x="152957" y="159492"/>
                  <a:pt x="156357" y="155682"/>
                </a:cubicBezTo>
                <a:cubicBezTo>
                  <a:pt x="166468" y="144282"/>
                  <a:pt x="185254" y="120396"/>
                  <a:pt x="185254" y="100203"/>
                </a:cubicBezTo>
                <a:cubicBezTo>
                  <a:pt x="185254" y="81124"/>
                  <a:pt x="169516" y="65649"/>
                  <a:pt x="150085" y="65649"/>
                </a:cubicBezTo>
                <a:close/>
                <a:moveTo>
                  <a:pt x="138332" y="100818"/>
                </a:moveTo>
                <a:cubicBezTo>
                  <a:pt x="138332" y="94348"/>
                  <a:pt x="143585" y="89095"/>
                  <a:pt x="150055" y="89095"/>
                </a:cubicBezTo>
                <a:cubicBezTo>
                  <a:pt x="156526" y="89095"/>
                  <a:pt x="161778" y="94348"/>
                  <a:pt x="161778" y="100818"/>
                </a:cubicBezTo>
                <a:cubicBezTo>
                  <a:pt x="161778" y="107289"/>
                  <a:pt x="156526" y="112542"/>
                  <a:pt x="150055" y="112542"/>
                </a:cubicBezTo>
                <a:cubicBezTo>
                  <a:pt x="143585" y="112542"/>
                  <a:pt x="138332" y="107289"/>
                  <a:pt x="138332" y="100818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40" name="Text 38"/>
          <p:cNvSpPr/>
          <p:nvPr/>
        </p:nvSpPr>
        <p:spPr>
          <a:xfrm>
            <a:off x="6862535" y="2587480"/>
            <a:ext cx="4839286" cy="2250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82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Target High-Activity Cities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862535" y="2812540"/>
            <a:ext cx="4829908" cy="37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4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Focus on NYC, SF, Seattle, Chicago, Austin for maximum opportunities and competitive salaries.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375032" y="3299932"/>
            <a:ext cx="375138" cy="375138"/>
          </a:xfrm>
          <a:custGeom>
            <a:avLst/>
            <a:gdLst/>
            <a:ahLst/>
            <a:cxnLst/>
            <a:rect l="l" t="t" r="r" b="b"/>
            <a:pathLst>
              <a:path w="375138" h="375138">
                <a:moveTo>
                  <a:pt x="75028" y="0"/>
                </a:moveTo>
                <a:lnTo>
                  <a:pt x="300111" y="0"/>
                </a:lnTo>
                <a:cubicBezTo>
                  <a:pt x="341547" y="0"/>
                  <a:pt x="375138" y="33591"/>
                  <a:pt x="375138" y="75028"/>
                </a:cubicBezTo>
                <a:lnTo>
                  <a:pt x="375138" y="300111"/>
                </a:lnTo>
                <a:cubicBezTo>
                  <a:pt x="375138" y="341547"/>
                  <a:pt x="341547" y="375138"/>
                  <a:pt x="300111" y="375138"/>
                </a:cubicBezTo>
                <a:lnTo>
                  <a:pt x="75028" y="375138"/>
                </a:lnTo>
                <a:cubicBezTo>
                  <a:pt x="33591" y="375138"/>
                  <a:pt x="0" y="341547"/>
                  <a:pt x="0" y="300111"/>
                </a:cubicBezTo>
                <a:lnTo>
                  <a:pt x="0" y="75028"/>
                </a:lnTo>
                <a:cubicBezTo>
                  <a:pt x="0" y="33619"/>
                  <a:pt x="33619" y="0"/>
                  <a:pt x="75028" y="0"/>
                </a:cubicBezTo>
                <a:close/>
              </a:path>
            </a:pathLst>
          </a:custGeom>
          <a:solidFill>
            <a:srgbClr val="B89A6A">
              <a:alpha val="2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478195" y="3412409"/>
            <a:ext cx="168812" cy="150055"/>
          </a:xfrm>
          <a:custGeom>
            <a:avLst/>
            <a:gdLst/>
            <a:ahLst/>
            <a:cxnLst/>
            <a:rect l="l" t="t" r="r" b="b"/>
            <a:pathLst>
              <a:path w="168812" h="150055">
                <a:moveTo>
                  <a:pt x="16412" y="66118"/>
                </a:moveTo>
                <a:lnTo>
                  <a:pt x="9496" y="86809"/>
                </a:lnTo>
                <a:lnTo>
                  <a:pt x="9496" y="28135"/>
                </a:lnTo>
                <a:cubicBezTo>
                  <a:pt x="9496" y="17790"/>
                  <a:pt x="17907" y="9378"/>
                  <a:pt x="28253" y="9378"/>
                </a:cubicBezTo>
                <a:lnTo>
                  <a:pt x="68902" y="9378"/>
                </a:lnTo>
                <a:cubicBezTo>
                  <a:pt x="72947" y="9378"/>
                  <a:pt x="76903" y="10697"/>
                  <a:pt x="80157" y="13130"/>
                </a:cubicBezTo>
                <a:lnTo>
                  <a:pt x="91411" y="21570"/>
                </a:lnTo>
                <a:cubicBezTo>
                  <a:pt x="93023" y="22801"/>
                  <a:pt x="95016" y="23446"/>
                  <a:pt x="97038" y="23446"/>
                </a:cubicBezTo>
                <a:lnTo>
                  <a:pt x="131416" y="23446"/>
                </a:lnTo>
                <a:cubicBezTo>
                  <a:pt x="141761" y="23446"/>
                  <a:pt x="150173" y="31857"/>
                  <a:pt x="150173" y="42203"/>
                </a:cubicBezTo>
                <a:lnTo>
                  <a:pt x="150173" y="46892"/>
                </a:lnTo>
                <a:lnTo>
                  <a:pt x="43082" y="46892"/>
                </a:lnTo>
                <a:cubicBezTo>
                  <a:pt x="30978" y="46892"/>
                  <a:pt x="20222" y="54630"/>
                  <a:pt x="16383" y="66118"/>
                </a:cubicBezTo>
                <a:close/>
                <a:moveTo>
                  <a:pt x="140032" y="131298"/>
                </a:moveTo>
                <a:lnTo>
                  <a:pt x="29015" y="131298"/>
                </a:lnTo>
                <a:cubicBezTo>
                  <a:pt x="19402" y="131298"/>
                  <a:pt x="12632" y="121891"/>
                  <a:pt x="15680" y="112776"/>
                </a:cubicBezTo>
                <a:lnTo>
                  <a:pt x="29747" y="70573"/>
                </a:lnTo>
                <a:cubicBezTo>
                  <a:pt x="31652" y="64829"/>
                  <a:pt x="37045" y="60960"/>
                  <a:pt x="43082" y="60960"/>
                </a:cubicBezTo>
                <a:lnTo>
                  <a:pt x="154100" y="60960"/>
                </a:lnTo>
                <a:cubicBezTo>
                  <a:pt x="163713" y="60960"/>
                  <a:pt x="170483" y="70368"/>
                  <a:pt x="167435" y="79482"/>
                </a:cubicBezTo>
                <a:lnTo>
                  <a:pt x="153367" y="121686"/>
                </a:lnTo>
                <a:cubicBezTo>
                  <a:pt x="151462" y="127430"/>
                  <a:pt x="146070" y="131298"/>
                  <a:pt x="140032" y="131298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44" name="Text 42"/>
          <p:cNvSpPr/>
          <p:nvPr/>
        </p:nvSpPr>
        <p:spPr>
          <a:xfrm>
            <a:off x="6862535" y="3299932"/>
            <a:ext cx="4839286" cy="2250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82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Build Practical Portfolio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862535" y="3524996"/>
            <a:ext cx="4829908" cy="37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34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Create dashboards and analysis projects demonstrating real-world problem-solving abilities.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191112" y="4240877"/>
            <a:ext cx="5615398" cy="2370450"/>
          </a:xfrm>
          <a:custGeom>
            <a:avLst/>
            <a:gdLst/>
            <a:ahLst/>
            <a:cxnLst/>
            <a:rect l="l" t="t" r="r" b="b"/>
            <a:pathLst>
              <a:path w="5615398" h="2370450">
                <a:moveTo>
                  <a:pt x="37524" y="0"/>
                </a:moveTo>
                <a:lnTo>
                  <a:pt x="5577874" y="0"/>
                </a:lnTo>
                <a:cubicBezTo>
                  <a:pt x="5598598" y="0"/>
                  <a:pt x="5615398" y="16800"/>
                  <a:pt x="5615398" y="37524"/>
                </a:cubicBezTo>
                <a:lnTo>
                  <a:pt x="5615398" y="2332926"/>
                </a:lnTo>
                <a:cubicBezTo>
                  <a:pt x="5615398" y="2353650"/>
                  <a:pt x="5598598" y="2370450"/>
                  <a:pt x="5577874" y="2370450"/>
                </a:cubicBezTo>
                <a:lnTo>
                  <a:pt x="37524" y="2370450"/>
                </a:lnTo>
                <a:cubicBezTo>
                  <a:pt x="16800" y="2370450"/>
                  <a:pt x="0" y="2353650"/>
                  <a:pt x="0" y="2332926"/>
                </a:cubicBezTo>
                <a:lnTo>
                  <a:pt x="0" y="37524"/>
                </a:lnTo>
                <a:cubicBezTo>
                  <a:pt x="0" y="16814"/>
                  <a:pt x="16814" y="0"/>
                  <a:pt x="37524" y="0"/>
                </a:cubicBezTo>
                <a:close/>
              </a:path>
            </a:pathLst>
          </a:custGeom>
          <a:gradFill rotWithShape="1" flip="none">
            <a:gsLst>
              <a:gs pos="0">
                <a:srgbClr val="B89A6A">
                  <a:alpha val="20000"/>
                </a:srgbClr>
              </a:gs>
              <a:gs pos="100000">
                <a:srgbClr val="3A5F7A">
                  <a:alpha val="10000"/>
                </a:srgbClr>
              </a:gs>
            </a:gsLst>
            <a:lin ang="2700000" scaled="1"/>
          </a:gradFill>
          <a:ln w="9585">
            <a:solidFill>
              <a:srgbClr val="B89A6A">
                <a:alpha val="30196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17279" y="4469368"/>
            <a:ext cx="164123" cy="187569"/>
          </a:xfrm>
          <a:custGeom>
            <a:avLst/>
            <a:gdLst/>
            <a:ahLst/>
            <a:cxnLst/>
            <a:rect l="l" t="t" r="r" b="b"/>
            <a:pathLst>
              <a:path w="164123" h="187569">
                <a:moveTo>
                  <a:pt x="11723" y="0"/>
                </a:moveTo>
                <a:cubicBezTo>
                  <a:pt x="18207" y="0"/>
                  <a:pt x="23446" y="5239"/>
                  <a:pt x="23446" y="11723"/>
                </a:cubicBezTo>
                <a:lnTo>
                  <a:pt x="23446" y="17585"/>
                </a:lnTo>
                <a:lnTo>
                  <a:pt x="48724" y="11283"/>
                </a:lnTo>
                <a:cubicBezTo>
                  <a:pt x="62682" y="7803"/>
                  <a:pt x="77409" y="9415"/>
                  <a:pt x="90304" y="15863"/>
                </a:cubicBezTo>
                <a:cubicBezTo>
                  <a:pt x="107266" y="24362"/>
                  <a:pt x="127232" y="24362"/>
                  <a:pt x="144194" y="15863"/>
                </a:cubicBezTo>
                <a:lnTo>
                  <a:pt x="147711" y="14104"/>
                </a:lnTo>
                <a:cubicBezTo>
                  <a:pt x="155258" y="10294"/>
                  <a:pt x="164123" y="15790"/>
                  <a:pt x="164123" y="24215"/>
                </a:cubicBezTo>
                <a:lnTo>
                  <a:pt x="164123" y="126682"/>
                </a:lnTo>
                <a:cubicBezTo>
                  <a:pt x="164123" y="131555"/>
                  <a:pt x="161082" y="135951"/>
                  <a:pt x="156503" y="137673"/>
                </a:cubicBezTo>
                <a:lnTo>
                  <a:pt x="143791" y="142435"/>
                </a:lnTo>
                <a:cubicBezTo>
                  <a:pt x="126866" y="148773"/>
                  <a:pt x="108035" y="147784"/>
                  <a:pt x="91880" y="139724"/>
                </a:cubicBezTo>
                <a:cubicBezTo>
                  <a:pt x="77995" y="132764"/>
                  <a:pt x="62059" y="131042"/>
                  <a:pt x="47002" y="134815"/>
                </a:cubicBezTo>
                <a:lnTo>
                  <a:pt x="23446" y="140677"/>
                </a:lnTo>
                <a:lnTo>
                  <a:pt x="23446" y="175846"/>
                </a:lnTo>
                <a:cubicBezTo>
                  <a:pt x="23446" y="182330"/>
                  <a:pt x="18207" y="187569"/>
                  <a:pt x="11723" y="187569"/>
                </a:cubicBezTo>
                <a:cubicBezTo>
                  <a:pt x="5239" y="187569"/>
                  <a:pt x="0" y="182330"/>
                  <a:pt x="0" y="175846"/>
                </a:cubicBezTo>
                <a:lnTo>
                  <a:pt x="0" y="11723"/>
                </a:lnTo>
                <a:cubicBezTo>
                  <a:pt x="0" y="5239"/>
                  <a:pt x="5239" y="0"/>
                  <a:pt x="11723" y="0"/>
                </a:cubicBezTo>
                <a:close/>
                <a:moveTo>
                  <a:pt x="23446" y="68543"/>
                </a:moveTo>
                <a:lnTo>
                  <a:pt x="46892" y="63451"/>
                </a:lnTo>
                <a:lnTo>
                  <a:pt x="46892" y="87447"/>
                </a:lnTo>
                <a:lnTo>
                  <a:pt x="23446" y="92539"/>
                </a:lnTo>
                <a:lnTo>
                  <a:pt x="23446" y="116535"/>
                </a:lnTo>
                <a:lnTo>
                  <a:pt x="41324" y="112065"/>
                </a:lnTo>
                <a:cubicBezTo>
                  <a:pt x="43192" y="111589"/>
                  <a:pt x="45024" y="111186"/>
                  <a:pt x="46892" y="110856"/>
                </a:cubicBezTo>
                <a:lnTo>
                  <a:pt x="46892" y="87447"/>
                </a:lnTo>
                <a:lnTo>
                  <a:pt x="61143" y="84370"/>
                </a:lnTo>
                <a:cubicBezTo>
                  <a:pt x="64184" y="83710"/>
                  <a:pt x="67261" y="83454"/>
                  <a:pt x="70338" y="83600"/>
                </a:cubicBezTo>
                <a:lnTo>
                  <a:pt x="70338" y="60154"/>
                </a:lnTo>
                <a:cubicBezTo>
                  <a:pt x="75321" y="60301"/>
                  <a:pt x="80303" y="61107"/>
                  <a:pt x="85139" y="62499"/>
                </a:cubicBezTo>
                <a:lnTo>
                  <a:pt x="93785" y="65026"/>
                </a:lnTo>
                <a:lnTo>
                  <a:pt x="93785" y="89462"/>
                </a:lnTo>
                <a:lnTo>
                  <a:pt x="78508" y="84956"/>
                </a:lnTo>
                <a:cubicBezTo>
                  <a:pt x="75834" y="84186"/>
                  <a:pt x="73086" y="83710"/>
                  <a:pt x="70338" y="83564"/>
                </a:cubicBezTo>
                <a:lnTo>
                  <a:pt x="70338" y="109721"/>
                </a:lnTo>
                <a:cubicBezTo>
                  <a:pt x="78325" y="110417"/>
                  <a:pt x="86201" y="112175"/>
                  <a:pt x="93785" y="114996"/>
                </a:cubicBezTo>
                <a:lnTo>
                  <a:pt x="93785" y="89425"/>
                </a:lnTo>
                <a:lnTo>
                  <a:pt x="102101" y="91880"/>
                </a:lnTo>
                <a:cubicBezTo>
                  <a:pt x="107046" y="93345"/>
                  <a:pt x="112102" y="94224"/>
                  <a:pt x="117231" y="94591"/>
                </a:cubicBezTo>
                <a:lnTo>
                  <a:pt x="117231" y="71071"/>
                </a:lnTo>
                <a:cubicBezTo>
                  <a:pt x="114373" y="70778"/>
                  <a:pt x="111516" y="70229"/>
                  <a:pt x="108732" y="69423"/>
                </a:cubicBezTo>
                <a:lnTo>
                  <a:pt x="93785" y="65026"/>
                </a:lnTo>
                <a:lnTo>
                  <a:pt x="93785" y="42313"/>
                </a:lnTo>
                <a:cubicBezTo>
                  <a:pt x="89022" y="40921"/>
                  <a:pt x="84333" y="39089"/>
                  <a:pt x="79790" y="36818"/>
                </a:cubicBezTo>
                <a:cubicBezTo>
                  <a:pt x="76786" y="35316"/>
                  <a:pt x="73599" y="34253"/>
                  <a:pt x="70338" y="33594"/>
                </a:cubicBezTo>
                <a:lnTo>
                  <a:pt x="70338" y="60117"/>
                </a:lnTo>
                <a:cubicBezTo>
                  <a:pt x="65576" y="59971"/>
                  <a:pt x="60813" y="60410"/>
                  <a:pt x="56161" y="61436"/>
                </a:cubicBezTo>
                <a:lnTo>
                  <a:pt x="46892" y="63451"/>
                </a:lnTo>
                <a:lnTo>
                  <a:pt x="46892" y="35902"/>
                </a:lnTo>
                <a:lnTo>
                  <a:pt x="23446" y="41763"/>
                </a:lnTo>
                <a:lnTo>
                  <a:pt x="23446" y="68543"/>
                </a:lnTo>
                <a:close/>
                <a:moveTo>
                  <a:pt x="117231" y="122982"/>
                </a:moveTo>
                <a:cubicBezTo>
                  <a:pt x="123385" y="123532"/>
                  <a:pt x="129650" y="122726"/>
                  <a:pt x="135548" y="120491"/>
                </a:cubicBezTo>
                <a:lnTo>
                  <a:pt x="140677" y="118586"/>
                </a:lnTo>
                <a:lnTo>
                  <a:pt x="140677" y="92319"/>
                </a:lnTo>
                <a:lnTo>
                  <a:pt x="137783" y="92979"/>
                </a:lnTo>
                <a:cubicBezTo>
                  <a:pt x="131042" y="94554"/>
                  <a:pt x="124118" y="95067"/>
                  <a:pt x="117231" y="94627"/>
                </a:cubicBezTo>
                <a:lnTo>
                  <a:pt x="117231" y="122982"/>
                </a:lnTo>
                <a:close/>
                <a:moveTo>
                  <a:pt x="140677" y="68250"/>
                </a:moveTo>
                <a:lnTo>
                  <a:pt x="140677" y="42313"/>
                </a:lnTo>
                <a:cubicBezTo>
                  <a:pt x="133020" y="44548"/>
                  <a:pt x="125144" y="45647"/>
                  <a:pt x="117231" y="45647"/>
                </a:cubicBezTo>
                <a:lnTo>
                  <a:pt x="117231" y="71071"/>
                </a:lnTo>
                <a:cubicBezTo>
                  <a:pt x="122323" y="71584"/>
                  <a:pt x="127488" y="71254"/>
                  <a:pt x="132507" y="70119"/>
                </a:cubicBezTo>
                <a:lnTo>
                  <a:pt x="140677" y="68214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48" name="Text 46"/>
          <p:cNvSpPr/>
          <p:nvPr/>
        </p:nvSpPr>
        <p:spPr>
          <a:xfrm>
            <a:off x="6616571" y="4431873"/>
            <a:ext cx="5092505" cy="262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77" b="1" dirty="0">
                <a:solidFill>
                  <a:srgbClr val="E0E2E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Conclusion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382109" y="4844392"/>
            <a:ext cx="5308209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82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This dashboard demonstrates how </a:t>
            </a:r>
            <a:pPr>
              <a:lnSpc>
                <a:spcPct val="140000"/>
              </a:lnSpc>
            </a:pPr>
            <a:r>
              <a:rPr lang="en-US" sz="1182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business intelligence tools</a:t>
            </a:r>
            <a:pPr>
              <a:lnSpc>
                <a:spcPct val="140000"/>
              </a:lnSpc>
            </a:pPr>
            <a:r>
              <a:rPr lang="en-US" sz="1182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transform raw job market data into </a:t>
            </a:r>
            <a:pPr>
              <a:lnSpc>
                <a:spcPct val="140000"/>
              </a:lnSpc>
            </a:pPr>
            <a:r>
              <a:rPr lang="en-US" sz="1182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actionable insights</a:t>
            </a:r>
            <a:pPr>
              <a:lnSpc>
                <a:spcPct val="140000"/>
              </a:lnSpc>
            </a:pPr>
            <a:r>
              <a:rPr lang="en-US" sz="1182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for career planning and workforce strategies.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382109" y="5444595"/>
            <a:ext cx="5308209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82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Using SQL-based analysis and Power BI visualization, the project reveals critical patterns in hiring demand, skill requirements, and compensation trends—empowering data-driven decision making for aspiring analysts and organizations alike.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429abcb62ba1a2ec879a66f8b82cfb49927c9c60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1444" r="1444" t="0" b="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1A1D21">
                  <a:alpha val="95000"/>
                </a:srgbClr>
              </a:gs>
              <a:gs pos="50000">
                <a:srgbClr val="3A5F7A">
                  <a:alpha val="50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5645921" y="771886"/>
            <a:ext cx="900202" cy="900202"/>
          </a:xfrm>
          <a:custGeom>
            <a:avLst/>
            <a:gdLst/>
            <a:ahLst/>
            <a:cxnLst/>
            <a:rect l="l" t="t" r="r" b="b"/>
            <a:pathLst>
              <a:path w="900202" h="900202">
                <a:moveTo>
                  <a:pt x="450101" y="0"/>
                </a:moveTo>
                <a:lnTo>
                  <a:pt x="450101" y="0"/>
                </a:lnTo>
                <a:cubicBezTo>
                  <a:pt x="698519" y="0"/>
                  <a:pt x="900202" y="201684"/>
                  <a:pt x="900202" y="450101"/>
                </a:cubicBezTo>
                <a:lnTo>
                  <a:pt x="900202" y="450101"/>
                </a:lnTo>
                <a:cubicBezTo>
                  <a:pt x="900202" y="698519"/>
                  <a:pt x="698519" y="900202"/>
                  <a:pt x="450101" y="900202"/>
                </a:cubicBezTo>
                <a:lnTo>
                  <a:pt x="450101" y="900202"/>
                </a:lnTo>
                <a:cubicBezTo>
                  <a:pt x="201684" y="900202"/>
                  <a:pt x="0" y="698519"/>
                  <a:pt x="0" y="450101"/>
                </a:cubicBezTo>
                <a:lnTo>
                  <a:pt x="0" y="450101"/>
                </a:lnTo>
                <a:cubicBezTo>
                  <a:pt x="0" y="201684"/>
                  <a:pt x="201684" y="0"/>
                  <a:pt x="450101" y="0"/>
                </a:cubicBezTo>
                <a:close/>
              </a:path>
            </a:pathLst>
          </a:custGeom>
          <a:solidFill>
            <a:srgbClr val="B89A6A">
              <a:alpha val="20000"/>
            </a:srgbClr>
          </a:solidFill>
          <a:ln w="19170">
            <a:solidFill>
              <a:srgbClr val="B89A6A">
                <a:alpha val="50196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924438" y="1050336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42863" y="42863"/>
                </a:moveTo>
                <a:cubicBezTo>
                  <a:pt x="42863" y="31008"/>
                  <a:pt x="33285" y="21431"/>
                  <a:pt x="21431" y="21431"/>
                </a:cubicBezTo>
                <a:cubicBezTo>
                  <a:pt x="9577" y="21431"/>
                  <a:pt x="0" y="31008"/>
                  <a:pt x="0" y="42863"/>
                </a:cubicBezTo>
                <a:lnTo>
                  <a:pt x="0" y="267891"/>
                </a:lnTo>
                <a:cubicBezTo>
                  <a:pt x="0" y="297493"/>
                  <a:pt x="23976" y="321469"/>
                  <a:pt x="53578" y="321469"/>
                </a:cubicBezTo>
                <a:lnTo>
                  <a:pt x="321469" y="321469"/>
                </a:lnTo>
                <a:cubicBezTo>
                  <a:pt x="333323" y="321469"/>
                  <a:pt x="342900" y="311892"/>
                  <a:pt x="342900" y="300038"/>
                </a:cubicBezTo>
                <a:cubicBezTo>
                  <a:pt x="342900" y="288183"/>
                  <a:pt x="333323" y="278606"/>
                  <a:pt x="321469" y="278606"/>
                </a:cubicBezTo>
                <a:lnTo>
                  <a:pt x="53578" y="278606"/>
                </a:lnTo>
                <a:cubicBezTo>
                  <a:pt x="47685" y="278606"/>
                  <a:pt x="42863" y="273784"/>
                  <a:pt x="42863" y="267891"/>
                </a:cubicBezTo>
                <a:lnTo>
                  <a:pt x="42863" y="42863"/>
                </a:lnTo>
                <a:close/>
                <a:moveTo>
                  <a:pt x="315173" y="100861"/>
                </a:moveTo>
                <a:cubicBezTo>
                  <a:pt x="323545" y="92489"/>
                  <a:pt x="323545" y="78894"/>
                  <a:pt x="315173" y="70522"/>
                </a:cubicBezTo>
                <a:cubicBezTo>
                  <a:pt x="306802" y="62151"/>
                  <a:pt x="293206" y="62151"/>
                  <a:pt x="284835" y="70522"/>
                </a:cubicBezTo>
                <a:lnTo>
                  <a:pt x="214313" y="141111"/>
                </a:lnTo>
                <a:lnTo>
                  <a:pt x="175870" y="102736"/>
                </a:lnTo>
                <a:cubicBezTo>
                  <a:pt x="167499" y="94364"/>
                  <a:pt x="153903" y="94364"/>
                  <a:pt x="145532" y="102736"/>
                </a:cubicBezTo>
                <a:lnTo>
                  <a:pt x="81238" y="167030"/>
                </a:lnTo>
                <a:cubicBezTo>
                  <a:pt x="72866" y="175401"/>
                  <a:pt x="72866" y="188997"/>
                  <a:pt x="81238" y="197368"/>
                </a:cubicBezTo>
                <a:cubicBezTo>
                  <a:pt x="89609" y="205740"/>
                  <a:pt x="103205" y="205740"/>
                  <a:pt x="111576" y="197368"/>
                </a:cubicBezTo>
                <a:lnTo>
                  <a:pt x="160734" y="148210"/>
                </a:lnTo>
                <a:lnTo>
                  <a:pt x="199177" y="186653"/>
                </a:lnTo>
                <a:cubicBezTo>
                  <a:pt x="207548" y="195024"/>
                  <a:pt x="221144" y="195024"/>
                  <a:pt x="229515" y="186653"/>
                </a:cubicBezTo>
                <a:lnTo>
                  <a:pt x="315240" y="100928"/>
                </a:ln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6" name="Text 3"/>
          <p:cNvSpPr/>
          <p:nvPr/>
        </p:nvSpPr>
        <p:spPr>
          <a:xfrm>
            <a:off x="4289687" y="1907586"/>
            <a:ext cx="360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5400" b="1" dirty="0">
                <a:solidFill>
                  <a:srgbClr val="E0E2E5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89700" y="2745739"/>
            <a:ext cx="3409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707224" y="3854034"/>
            <a:ext cx="1388314" cy="1321639"/>
          </a:xfrm>
          <a:custGeom>
            <a:avLst/>
            <a:gdLst/>
            <a:ahLst/>
            <a:cxnLst/>
            <a:rect l="l" t="t" r="r" b="b"/>
            <a:pathLst>
              <a:path w="1388314" h="1321639">
                <a:moveTo>
                  <a:pt x="76206" y="0"/>
                </a:moveTo>
                <a:lnTo>
                  <a:pt x="1312108" y="0"/>
                </a:lnTo>
                <a:cubicBezTo>
                  <a:pt x="1354195" y="0"/>
                  <a:pt x="1388314" y="34118"/>
                  <a:pt x="1388314" y="76206"/>
                </a:cubicBezTo>
                <a:lnTo>
                  <a:pt x="1388314" y="1245433"/>
                </a:lnTo>
                <a:cubicBezTo>
                  <a:pt x="1388314" y="1287520"/>
                  <a:pt x="1354195" y="1321639"/>
                  <a:pt x="1312108" y="1321639"/>
                </a:cubicBezTo>
                <a:lnTo>
                  <a:pt x="76206" y="1321639"/>
                </a:lnTo>
                <a:cubicBezTo>
                  <a:pt x="34118" y="1321639"/>
                  <a:pt x="0" y="1287520"/>
                  <a:pt x="0" y="1245433"/>
                </a:cubicBezTo>
                <a:lnTo>
                  <a:pt x="0" y="76206"/>
                </a:lnTo>
                <a:cubicBezTo>
                  <a:pt x="0" y="34147"/>
                  <a:pt x="34147" y="0"/>
                  <a:pt x="76206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9585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72075" y="4086202"/>
            <a:ext cx="250031" cy="285750"/>
          </a:xfrm>
          <a:custGeom>
            <a:avLst/>
            <a:gdLst/>
            <a:ahLst/>
            <a:cxnLst/>
            <a:rect l="l" t="t" r="r" b="b"/>
            <a:pathLst>
              <a:path w="250031" h="285750">
                <a:moveTo>
                  <a:pt x="250031" y="114858"/>
                </a:moveTo>
                <a:cubicBezTo>
                  <a:pt x="241771" y="120328"/>
                  <a:pt x="232283" y="124737"/>
                  <a:pt x="222405" y="128253"/>
                </a:cubicBezTo>
                <a:cubicBezTo>
                  <a:pt x="196174" y="137629"/>
                  <a:pt x="161739" y="142875"/>
                  <a:pt x="125016" y="142875"/>
                </a:cubicBezTo>
                <a:cubicBezTo>
                  <a:pt x="88292" y="142875"/>
                  <a:pt x="53801" y="137573"/>
                  <a:pt x="27626" y="128253"/>
                </a:cubicBezTo>
                <a:cubicBezTo>
                  <a:pt x="17804" y="124737"/>
                  <a:pt x="8260" y="120328"/>
                  <a:pt x="0" y="114858"/>
                </a:cubicBezTo>
                <a:lnTo>
                  <a:pt x="0" y="160734"/>
                </a:lnTo>
                <a:cubicBezTo>
                  <a:pt x="0" y="185403"/>
                  <a:pt x="55978" y="205383"/>
                  <a:pt x="125016" y="205383"/>
                </a:cubicBezTo>
                <a:cubicBezTo>
                  <a:pt x="194053" y="205383"/>
                  <a:pt x="250031" y="185403"/>
                  <a:pt x="250031" y="160734"/>
                </a:cubicBezTo>
                <a:lnTo>
                  <a:pt x="250031" y="114858"/>
                </a:lnTo>
                <a:close/>
                <a:moveTo>
                  <a:pt x="250031" y="71438"/>
                </a:moveTo>
                <a:lnTo>
                  <a:pt x="250031" y="44648"/>
                </a:lnTo>
                <a:cubicBezTo>
                  <a:pt x="250031" y="19980"/>
                  <a:pt x="194053" y="0"/>
                  <a:pt x="125016" y="0"/>
                </a:cubicBezTo>
                <a:cubicBezTo>
                  <a:pt x="55978" y="0"/>
                  <a:pt x="0" y="19980"/>
                  <a:pt x="0" y="44648"/>
                </a:cubicBezTo>
                <a:lnTo>
                  <a:pt x="0" y="71438"/>
                </a:lnTo>
                <a:cubicBezTo>
                  <a:pt x="0" y="96106"/>
                  <a:pt x="55978" y="116086"/>
                  <a:pt x="125016" y="116086"/>
                </a:cubicBezTo>
                <a:cubicBezTo>
                  <a:pt x="194053" y="116086"/>
                  <a:pt x="250031" y="96106"/>
                  <a:pt x="250031" y="71438"/>
                </a:cubicBezTo>
                <a:close/>
                <a:moveTo>
                  <a:pt x="222405" y="217550"/>
                </a:moveTo>
                <a:cubicBezTo>
                  <a:pt x="196230" y="226870"/>
                  <a:pt x="161795" y="232172"/>
                  <a:pt x="125016" y="232172"/>
                </a:cubicBezTo>
                <a:cubicBezTo>
                  <a:pt x="88236" y="232172"/>
                  <a:pt x="53801" y="226870"/>
                  <a:pt x="27626" y="217550"/>
                </a:cubicBezTo>
                <a:cubicBezTo>
                  <a:pt x="17804" y="214033"/>
                  <a:pt x="8260" y="209624"/>
                  <a:pt x="0" y="204155"/>
                </a:cubicBezTo>
                <a:lnTo>
                  <a:pt x="0" y="241102"/>
                </a:lnTo>
                <a:cubicBezTo>
                  <a:pt x="0" y="265770"/>
                  <a:pt x="55978" y="285750"/>
                  <a:pt x="125016" y="285750"/>
                </a:cubicBezTo>
                <a:cubicBezTo>
                  <a:pt x="194053" y="285750"/>
                  <a:pt x="250031" y="265770"/>
                  <a:pt x="250031" y="241102"/>
                </a:cubicBezTo>
                <a:lnTo>
                  <a:pt x="250031" y="204155"/>
                </a:lnTo>
                <a:cubicBezTo>
                  <a:pt x="241771" y="209624"/>
                  <a:pt x="232283" y="214033"/>
                  <a:pt x="222405" y="217550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0" name="Text 7"/>
          <p:cNvSpPr/>
          <p:nvPr/>
        </p:nvSpPr>
        <p:spPr>
          <a:xfrm>
            <a:off x="3896534" y="4486187"/>
            <a:ext cx="100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2,000+ Jobs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906059" y="4752729"/>
            <a:ext cx="990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Analyzed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03640" y="3854034"/>
            <a:ext cx="1388314" cy="1321639"/>
          </a:xfrm>
          <a:custGeom>
            <a:avLst/>
            <a:gdLst/>
            <a:ahLst/>
            <a:cxnLst/>
            <a:rect l="l" t="t" r="r" b="b"/>
            <a:pathLst>
              <a:path w="1388314" h="1321639">
                <a:moveTo>
                  <a:pt x="76206" y="0"/>
                </a:moveTo>
                <a:lnTo>
                  <a:pt x="1312108" y="0"/>
                </a:lnTo>
                <a:cubicBezTo>
                  <a:pt x="1354195" y="0"/>
                  <a:pt x="1388314" y="34118"/>
                  <a:pt x="1388314" y="76206"/>
                </a:cubicBezTo>
                <a:lnTo>
                  <a:pt x="1388314" y="1245433"/>
                </a:lnTo>
                <a:cubicBezTo>
                  <a:pt x="1388314" y="1287520"/>
                  <a:pt x="1354195" y="1321639"/>
                  <a:pt x="1312108" y="1321639"/>
                </a:cubicBezTo>
                <a:lnTo>
                  <a:pt x="76206" y="1321639"/>
                </a:lnTo>
                <a:cubicBezTo>
                  <a:pt x="34118" y="1321639"/>
                  <a:pt x="0" y="1287520"/>
                  <a:pt x="0" y="1245433"/>
                </a:cubicBezTo>
                <a:lnTo>
                  <a:pt x="0" y="76206"/>
                </a:lnTo>
                <a:cubicBezTo>
                  <a:pt x="0" y="34147"/>
                  <a:pt x="34147" y="0"/>
                  <a:pt x="76206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9585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986350" y="4086202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4" name="Text 11"/>
          <p:cNvSpPr/>
          <p:nvPr/>
        </p:nvSpPr>
        <p:spPr>
          <a:xfrm>
            <a:off x="5592950" y="4486187"/>
            <a:ext cx="100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Actionable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602475" y="4752729"/>
            <a:ext cx="990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Insights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100057" y="3854034"/>
            <a:ext cx="1388314" cy="1321639"/>
          </a:xfrm>
          <a:custGeom>
            <a:avLst/>
            <a:gdLst/>
            <a:ahLst/>
            <a:cxnLst/>
            <a:rect l="l" t="t" r="r" b="b"/>
            <a:pathLst>
              <a:path w="1388314" h="1321639">
                <a:moveTo>
                  <a:pt x="76206" y="0"/>
                </a:moveTo>
                <a:lnTo>
                  <a:pt x="1312108" y="0"/>
                </a:lnTo>
                <a:cubicBezTo>
                  <a:pt x="1354195" y="0"/>
                  <a:pt x="1388314" y="34118"/>
                  <a:pt x="1388314" y="76206"/>
                </a:cubicBezTo>
                <a:lnTo>
                  <a:pt x="1388314" y="1245433"/>
                </a:lnTo>
                <a:cubicBezTo>
                  <a:pt x="1388314" y="1287520"/>
                  <a:pt x="1354195" y="1321639"/>
                  <a:pt x="1312108" y="1321639"/>
                </a:cubicBezTo>
                <a:lnTo>
                  <a:pt x="76206" y="1321639"/>
                </a:lnTo>
                <a:cubicBezTo>
                  <a:pt x="34118" y="1321639"/>
                  <a:pt x="0" y="1287520"/>
                  <a:pt x="0" y="1245433"/>
                </a:cubicBezTo>
                <a:lnTo>
                  <a:pt x="0" y="76206"/>
                </a:lnTo>
                <a:cubicBezTo>
                  <a:pt x="0" y="34147"/>
                  <a:pt x="34147" y="0"/>
                  <a:pt x="76206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9585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47048" y="4086202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71438" y="178594"/>
                </a:moveTo>
                <a:lnTo>
                  <a:pt x="13674" y="178594"/>
                </a:lnTo>
                <a:cubicBezTo>
                  <a:pt x="-223" y="178594"/>
                  <a:pt x="-8762" y="163469"/>
                  <a:pt x="-1619" y="151526"/>
                </a:cubicBezTo>
                <a:lnTo>
                  <a:pt x="27905" y="102301"/>
                </a:lnTo>
                <a:cubicBezTo>
                  <a:pt x="32761" y="94208"/>
                  <a:pt x="41467" y="89297"/>
                  <a:pt x="50899" y="89297"/>
                </a:cubicBezTo>
                <a:lnTo>
                  <a:pt x="103919" y="89297"/>
                </a:lnTo>
                <a:cubicBezTo>
                  <a:pt x="146391" y="17357"/>
                  <a:pt x="209736" y="13729"/>
                  <a:pt x="252096" y="19924"/>
                </a:cubicBezTo>
                <a:cubicBezTo>
                  <a:pt x="259240" y="20985"/>
                  <a:pt x="264821" y="26566"/>
                  <a:pt x="265826" y="33654"/>
                </a:cubicBezTo>
                <a:cubicBezTo>
                  <a:pt x="272021" y="76014"/>
                  <a:pt x="268393" y="139359"/>
                  <a:pt x="196453" y="181831"/>
                </a:cubicBezTo>
                <a:lnTo>
                  <a:pt x="196453" y="234851"/>
                </a:lnTo>
                <a:cubicBezTo>
                  <a:pt x="196453" y="244283"/>
                  <a:pt x="191542" y="252989"/>
                  <a:pt x="183449" y="257845"/>
                </a:cubicBezTo>
                <a:lnTo>
                  <a:pt x="134224" y="287369"/>
                </a:lnTo>
                <a:cubicBezTo>
                  <a:pt x="122337" y="294512"/>
                  <a:pt x="107156" y="285917"/>
                  <a:pt x="107156" y="272076"/>
                </a:cubicBezTo>
                <a:lnTo>
                  <a:pt x="107156" y="214313"/>
                </a:lnTo>
                <a:cubicBezTo>
                  <a:pt x="107156" y="194611"/>
                  <a:pt x="91139" y="178594"/>
                  <a:pt x="71438" y="178594"/>
                </a:cubicBezTo>
                <a:lnTo>
                  <a:pt x="71382" y="178594"/>
                </a:lnTo>
                <a:close/>
                <a:moveTo>
                  <a:pt x="223242" y="89297"/>
                </a:moveTo>
                <a:cubicBezTo>
                  <a:pt x="223242" y="74512"/>
                  <a:pt x="211238" y="62508"/>
                  <a:pt x="196453" y="62508"/>
                </a:cubicBezTo>
                <a:cubicBezTo>
                  <a:pt x="181668" y="62508"/>
                  <a:pt x="169664" y="74512"/>
                  <a:pt x="169664" y="89297"/>
                </a:cubicBezTo>
                <a:cubicBezTo>
                  <a:pt x="169664" y="104082"/>
                  <a:pt x="181668" y="116086"/>
                  <a:pt x="196453" y="116086"/>
                </a:cubicBezTo>
                <a:cubicBezTo>
                  <a:pt x="211238" y="116086"/>
                  <a:pt x="223242" y="104082"/>
                  <a:pt x="223242" y="89297"/>
                </a:cubicBezTo>
                <a:close/>
              </a:path>
            </a:pathLst>
          </a:custGeom>
          <a:solidFill>
            <a:srgbClr val="B89A6A"/>
          </a:solidFill>
          <a:ln/>
        </p:spPr>
      </p:sp>
      <p:sp>
        <p:nvSpPr>
          <p:cNvPr id="18" name="Text 15"/>
          <p:cNvSpPr/>
          <p:nvPr/>
        </p:nvSpPr>
        <p:spPr>
          <a:xfrm>
            <a:off x="7289366" y="4486187"/>
            <a:ext cx="100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E0E2E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Data-Driven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298891" y="4752729"/>
            <a:ext cx="990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Decisions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818527" y="5636037"/>
            <a:ext cx="2552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Prepared by </a:t>
            </a:r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B89A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Meghana M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4823289" y="5902691"/>
            <a:ext cx="2543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5F7A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Bachelor of Engineering, Computer Science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Analyst Job Market Intelligence Dashboard</dc:title>
  <dc:subject>Data Analyst Job Market Intelligence Dashboard</dc:subject>
  <dc:creator>Kimi</dc:creator>
  <cp:lastModifiedBy>Kimi</cp:lastModifiedBy>
  <cp:revision>1</cp:revision>
  <dcterms:created xsi:type="dcterms:W3CDTF">2026-03-13T10:53:57Z</dcterms:created>
  <dcterms:modified xsi:type="dcterms:W3CDTF">2026-03-13T10:53:57Z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{"Label":"Data Analyst Job Market Intelligence Dashboard","ContentProducer":"001191110108MACG2KBH8F10000","ProduceID":"19ce6bec-8d82-899b-8000-00007542ad3d","ReservedCode1":"","ContentPropagator":"001191110108MACG2KBH8F20000","PropagateID":"19ce6bec-8d82-899b-8000-00007542ad3d","ReservedCode2":""}</vt:lpwstr>
  </property>
</Properties>
</file>